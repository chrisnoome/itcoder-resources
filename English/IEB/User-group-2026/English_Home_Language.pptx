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142" r:id="rId2"/>
    <p:sldId id="2183" r:id="rId3"/>
    <p:sldId id="2180" r:id="rId4"/>
    <p:sldId id="1785" r:id="rId5"/>
    <p:sldId id="2177" r:id="rId6"/>
    <p:sldId id="2181" r:id="rId7"/>
    <p:sldId id="2179" r:id="rId8"/>
    <p:sldId id="2182" r:id="rId9"/>
    <p:sldId id="2178" r:id="rId10"/>
    <p:sldId id="2151" r:id="rId11"/>
    <p:sldId id="2152" r:id="rId12"/>
    <p:sldId id="2154" r:id="rId13"/>
    <p:sldId id="2155" r:id="rId14"/>
    <p:sldId id="2156" r:id="rId15"/>
    <p:sldId id="2159" r:id="rId16"/>
    <p:sldId id="2157" r:id="rId17"/>
    <p:sldId id="2161" r:id="rId18"/>
    <p:sldId id="2163" r:id="rId19"/>
    <p:sldId id="2162" r:id="rId20"/>
    <p:sldId id="2150" r:id="rId21"/>
    <p:sldId id="214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8693" autoAdjust="0"/>
  </p:normalViewPr>
  <p:slideViewPr>
    <p:cSldViewPr snapToGrid="0">
      <p:cViewPr varScale="1">
        <p:scale>
          <a:sx n="61" d="100"/>
          <a:sy n="61" d="100"/>
        </p:scale>
        <p:origin x="24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Ruddock" userId="0611cbd3-2b4e-4ae1-9c90-e97549b981d9" providerId="ADAL" clId="{6148BA6B-604E-4868-8BD4-04391152D764}"/>
    <pc:docChg chg="modSld">
      <pc:chgData name="Peter Ruddock" userId="0611cbd3-2b4e-4ae1-9c90-e97549b981d9" providerId="ADAL" clId="{6148BA6B-604E-4868-8BD4-04391152D764}" dt="2026-03-10T12:48:26.665" v="4" actId="20577"/>
      <pc:docMkLst>
        <pc:docMk/>
      </pc:docMkLst>
      <pc:sldChg chg="modNotesTx">
        <pc:chgData name="Peter Ruddock" userId="0611cbd3-2b4e-4ae1-9c90-e97549b981d9" providerId="ADAL" clId="{6148BA6B-604E-4868-8BD4-04391152D764}" dt="2026-03-10T12:48:26.665" v="4" actId="20577"/>
        <pc:sldMkLst>
          <pc:docMk/>
          <pc:sldMk cId="936851443" sldId="2148"/>
        </pc:sldMkLst>
      </pc:sldChg>
      <pc:sldChg chg="modNotesTx">
        <pc:chgData name="Peter Ruddock" userId="0611cbd3-2b4e-4ae1-9c90-e97549b981d9" providerId="ADAL" clId="{6148BA6B-604E-4868-8BD4-04391152D764}" dt="2026-03-10T12:48:22.824" v="3" actId="20577"/>
        <pc:sldMkLst>
          <pc:docMk/>
          <pc:sldMk cId="1110898711" sldId="2150"/>
        </pc:sldMkLst>
      </pc:sldChg>
      <pc:sldChg chg="modNotesTx">
        <pc:chgData name="Peter Ruddock" userId="0611cbd3-2b4e-4ae1-9c90-e97549b981d9" providerId="ADAL" clId="{6148BA6B-604E-4868-8BD4-04391152D764}" dt="2026-03-10T12:48:08.862" v="0" actId="20577"/>
        <pc:sldMkLst>
          <pc:docMk/>
          <pc:sldMk cId="181562415" sldId="2161"/>
        </pc:sldMkLst>
      </pc:sldChg>
      <pc:sldChg chg="modNotesTx">
        <pc:chgData name="Peter Ruddock" userId="0611cbd3-2b4e-4ae1-9c90-e97549b981d9" providerId="ADAL" clId="{6148BA6B-604E-4868-8BD4-04391152D764}" dt="2026-03-10T12:48:19.709" v="2" actId="20577"/>
        <pc:sldMkLst>
          <pc:docMk/>
          <pc:sldMk cId="1861663591" sldId="2162"/>
        </pc:sldMkLst>
      </pc:sldChg>
      <pc:sldChg chg="modNotesTx">
        <pc:chgData name="Peter Ruddock" userId="0611cbd3-2b4e-4ae1-9c90-e97549b981d9" providerId="ADAL" clId="{6148BA6B-604E-4868-8BD4-04391152D764}" dt="2026-03-10T12:48:16.268" v="1" actId="20577"/>
        <pc:sldMkLst>
          <pc:docMk/>
          <pc:sldMk cId="2314592203" sldId="216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ECF8D5-553C-49C3-AE01-30F6030ED93B}" type="doc">
      <dgm:prSet loTypeId="urn:microsoft.com/office/officeart/2005/8/layout/process5" loCatId="process" qsTypeId="urn:microsoft.com/office/officeart/2005/8/quickstyle/simple1" qsCatId="simple" csTypeId="urn:microsoft.com/office/officeart/2005/8/colors/accent0_1" csCatId="mainScheme" phldr="1"/>
      <dgm:spPr/>
      <dgm:t>
        <a:bodyPr/>
        <a:lstStyle/>
        <a:p>
          <a:endParaRPr lang="en-ZA"/>
        </a:p>
      </dgm:t>
    </dgm:pt>
    <dgm:pt modelId="{94FAEC67-25C4-4F6A-8B80-8A536DE0E896}">
      <dgm:prSet phldrT="[Text]" custT="1"/>
      <dgm:spPr>
        <a:ln w="28575">
          <a:solidFill>
            <a:schemeClr val="tx2"/>
          </a:solidFill>
        </a:ln>
      </dgm:spPr>
      <dgm:t>
        <a:bodyPr/>
        <a:lstStyle/>
        <a:p>
          <a:r>
            <a:rPr lang="en-US" sz="1600" dirty="0"/>
            <a:t>IEB Assessment Specialist convenes a National Subject Forum (NSF) Meeting</a:t>
          </a:r>
          <a:endParaRPr lang="en-ZA" sz="1600" dirty="0"/>
        </a:p>
      </dgm:t>
    </dgm:pt>
    <dgm:pt modelId="{49706195-71DE-43C9-9A68-B99CEF5ABBBD}" type="parTrans" cxnId="{325EE4B3-372B-4282-9B09-733E61336A95}">
      <dgm:prSet/>
      <dgm:spPr/>
      <dgm:t>
        <a:bodyPr/>
        <a:lstStyle/>
        <a:p>
          <a:endParaRPr lang="en-ZA" sz="1600"/>
        </a:p>
      </dgm:t>
    </dgm:pt>
    <dgm:pt modelId="{54004DF5-DA76-4C5F-BF89-4A1EAFC4FFAB}" type="sibTrans" cxnId="{325EE4B3-372B-4282-9B09-733E61336A95}">
      <dgm:prSet custT="1"/>
      <dgm:spPr/>
      <dgm:t>
        <a:bodyPr/>
        <a:lstStyle/>
        <a:p>
          <a:endParaRPr lang="en-ZA" sz="1600"/>
        </a:p>
      </dgm:t>
    </dgm:pt>
    <dgm:pt modelId="{26949F21-1465-445C-9E23-DF1D6A559D41}">
      <dgm:prSet phldrT="[Text]" custT="1"/>
      <dgm:spPr>
        <a:ln w="28575">
          <a:solidFill>
            <a:schemeClr val="tx2"/>
          </a:solidFill>
        </a:ln>
      </dgm:spPr>
      <dgm:t>
        <a:bodyPr/>
        <a:lstStyle/>
        <a:p>
          <a:r>
            <a:rPr lang="en-US" sz="1600" dirty="0"/>
            <a:t>IEB Assessment Specialist tables matter at Committee for Curriculum and Assessment (CCA)</a:t>
          </a:r>
          <a:endParaRPr lang="en-ZA" sz="1600" dirty="0"/>
        </a:p>
      </dgm:t>
    </dgm:pt>
    <dgm:pt modelId="{AAAF25A1-7C78-48E0-9E1A-9FB96699C18F}" type="parTrans" cxnId="{24DCA676-4AAF-420B-B650-D7F223834F70}">
      <dgm:prSet/>
      <dgm:spPr/>
      <dgm:t>
        <a:bodyPr/>
        <a:lstStyle/>
        <a:p>
          <a:endParaRPr lang="en-ZA" sz="1600"/>
        </a:p>
      </dgm:t>
    </dgm:pt>
    <dgm:pt modelId="{1800F66D-2FAE-4E1C-BFD6-15CEEE0A2E25}" type="sibTrans" cxnId="{24DCA676-4AAF-420B-B650-D7F223834F70}">
      <dgm:prSet custT="1"/>
      <dgm:spPr/>
      <dgm:t>
        <a:bodyPr/>
        <a:lstStyle/>
        <a:p>
          <a:endParaRPr lang="en-ZA" sz="1600"/>
        </a:p>
      </dgm:t>
    </dgm:pt>
    <dgm:pt modelId="{A80CF0BE-5941-48E3-ADCC-000931218354}">
      <dgm:prSet phldrT="[Text]" custT="1"/>
      <dgm:spPr>
        <a:ln w="28575">
          <a:solidFill>
            <a:schemeClr val="tx2"/>
          </a:solidFill>
        </a:ln>
      </dgm:spPr>
      <dgm:t>
        <a:bodyPr/>
        <a:lstStyle/>
        <a:p>
          <a:r>
            <a:rPr lang="en-US" sz="1600" dirty="0"/>
            <a:t>NSF Meeting held and final draft of amended SAG document shared with all schools in subject community for comment where applicable</a:t>
          </a:r>
          <a:endParaRPr lang="en-ZA" sz="1600" dirty="0"/>
        </a:p>
      </dgm:t>
    </dgm:pt>
    <dgm:pt modelId="{84912FBC-B5CC-4AB1-A73C-94D4F6E74506}" type="parTrans" cxnId="{EB9C79D9-5D42-4674-86CC-0CCE09231AA6}">
      <dgm:prSet/>
      <dgm:spPr/>
      <dgm:t>
        <a:bodyPr/>
        <a:lstStyle/>
        <a:p>
          <a:endParaRPr lang="en-ZA" sz="1600"/>
        </a:p>
      </dgm:t>
    </dgm:pt>
    <dgm:pt modelId="{43548CD4-6655-4FE2-9B97-57DD4FBD6D60}" type="sibTrans" cxnId="{EB9C79D9-5D42-4674-86CC-0CCE09231AA6}">
      <dgm:prSet custT="1"/>
      <dgm:spPr/>
      <dgm:t>
        <a:bodyPr/>
        <a:lstStyle/>
        <a:p>
          <a:endParaRPr lang="en-ZA" sz="1600"/>
        </a:p>
      </dgm:t>
    </dgm:pt>
    <dgm:pt modelId="{ACC050D8-CDD2-4D96-BC6E-2203B835BAE8}">
      <dgm:prSet phldrT="[Text]" custT="1"/>
      <dgm:spPr>
        <a:ln w="28575">
          <a:solidFill>
            <a:schemeClr val="tx2"/>
          </a:solidFill>
        </a:ln>
      </dgm:spPr>
      <dgm:t>
        <a:bodyPr/>
        <a:lstStyle/>
        <a:p>
          <a:r>
            <a:rPr lang="en-US" sz="1600" dirty="0"/>
            <a:t>Teacher/Cluster/NSF </a:t>
          </a:r>
          <a:r>
            <a:rPr lang="en-US" sz="1600"/>
            <a:t>Rep brings matter to IEB Asessment Specialist</a:t>
          </a:r>
          <a:endParaRPr lang="en-ZA" sz="1600" dirty="0"/>
        </a:p>
      </dgm:t>
    </dgm:pt>
    <dgm:pt modelId="{6ECB7110-E1F8-4CE4-B313-BF8EF59C829A}" type="parTrans" cxnId="{49040901-4A42-42C5-B902-F2F492A15BFC}">
      <dgm:prSet/>
      <dgm:spPr/>
      <dgm:t>
        <a:bodyPr/>
        <a:lstStyle/>
        <a:p>
          <a:endParaRPr lang="en-ZA" sz="1600"/>
        </a:p>
      </dgm:t>
    </dgm:pt>
    <dgm:pt modelId="{0DEF9739-C0AE-4F0F-8DA8-F17D8D9B2A04}" type="sibTrans" cxnId="{49040901-4A42-42C5-B902-F2F492A15BFC}">
      <dgm:prSet custT="1"/>
      <dgm:spPr/>
      <dgm:t>
        <a:bodyPr/>
        <a:lstStyle/>
        <a:p>
          <a:endParaRPr lang="en-ZA" sz="1600"/>
        </a:p>
      </dgm:t>
    </dgm:pt>
    <dgm:pt modelId="{98B0C790-2818-40AF-98C2-420C46E96359}">
      <dgm:prSet phldrT="[Text]" custT="1"/>
      <dgm:spPr>
        <a:ln w="28575">
          <a:solidFill>
            <a:schemeClr val="tx2"/>
          </a:solidFill>
        </a:ln>
      </dgm:spPr>
      <dgm:t>
        <a:bodyPr/>
        <a:lstStyle/>
        <a:p>
          <a:r>
            <a:rPr lang="en-ZA" sz="1600" dirty="0"/>
            <a:t>SAGS matter identified by subject community at individual teacher or cluster level.</a:t>
          </a:r>
        </a:p>
      </dgm:t>
    </dgm:pt>
    <dgm:pt modelId="{ADCA927B-9D2A-4306-8DED-4C21CD924BF3}" type="parTrans" cxnId="{9AFE0477-1CBF-4B80-B9E6-A02D1429524C}">
      <dgm:prSet/>
      <dgm:spPr/>
      <dgm:t>
        <a:bodyPr/>
        <a:lstStyle/>
        <a:p>
          <a:endParaRPr lang="en-ZA" sz="1600"/>
        </a:p>
      </dgm:t>
    </dgm:pt>
    <dgm:pt modelId="{0010DB0B-DF2F-4AF7-8AF6-02B33AAA065D}" type="sibTrans" cxnId="{9AFE0477-1CBF-4B80-B9E6-A02D1429524C}">
      <dgm:prSet custT="1"/>
      <dgm:spPr/>
      <dgm:t>
        <a:bodyPr/>
        <a:lstStyle/>
        <a:p>
          <a:endParaRPr lang="en-ZA" sz="1600"/>
        </a:p>
      </dgm:t>
    </dgm:pt>
    <dgm:pt modelId="{411CD9C0-ED99-4896-87CD-A5D3D5B4215B}">
      <dgm:prSet phldrT="[Text]" custT="1"/>
      <dgm:spPr>
        <a:ln w="28575">
          <a:solidFill>
            <a:schemeClr val="tx2"/>
          </a:solidFill>
        </a:ln>
      </dgm:spPr>
      <dgm:t>
        <a:bodyPr/>
        <a:lstStyle/>
        <a:p>
          <a:r>
            <a:rPr lang="en-ZA" sz="1600" dirty="0"/>
            <a:t>Any changes to SAGs communicated to schools via circular</a:t>
          </a:r>
        </a:p>
      </dgm:t>
    </dgm:pt>
    <dgm:pt modelId="{982CE023-3219-470C-95A1-048EFEDC554A}" type="parTrans" cxnId="{C54D53BA-2014-4AB5-BBB0-C8D2759A144E}">
      <dgm:prSet/>
      <dgm:spPr/>
      <dgm:t>
        <a:bodyPr/>
        <a:lstStyle/>
        <a:p>
          <a:endParaRPr lang="en-ZA" sz="1600"/>
        </a:p>
      </dgm:t>
    </dgm:pt>
    <dgm:pt modelId="{CD616172-CCE9-4966-AC1B-9D65A92B914E}" type="sibTrans" cxnId="{C54D53BA-2014-4AB5-BBB0-C8D2759A144E}">
      <dgm:prSet/>
      <dgm:spPr/>
      <dgm:t>
        <a:bodyPr/>
        <a:lstStyle/>
        <a:p>
          <a:endParaRPr lang="en-ZA" sz="1600"/>
        </a:p>
      </dgm:t>
    </dgm:pt>
    <dgm:pt modelId="{5BF88DFD-67F5-4EC3-8B86-15F86EACF9ED}" type="pres">
      <dgm:prSet presAssocID="{50ECF8D5-553C-49C3-AE01-30F6030ED93B}" presName="diagram" presStyleCnt="0">
        <dgm:presLayoutVars>
          <dgm:dir/>
          <dgm:resizeHandles val="exact"/>
        </dgm:presLayoutVars>
      </dgm:prSet>
      <dgm:spPr/>
    </dgm:pt>
    <dgm:pt modelId="{0B798FB5-87F6-449B-8AF4-377FA54FF1E5}" type="pres">
      <dgm:prSet presAssocID="{98B0C790-2818-40AF-98C2-420C46E96359}" presName="node" presStyleLbl="node1" presStyleIdx="0" presStyleCnt="6" custLinFactNeighborX="-3992">
        <dgm:presLayoutVars>
          <dgm:bulletEnabled val="1"/>
        </dgm:presLayoutVars>
      </dgm:prSet>
      <dgm:spPr/>
    </dgm:pt>
    <dgm:pt modelId="{B5BF44A0-BDF1-4C4B-B3A3-4F8508928729}" type="pres">
      <dgm:prSet presAssocID="{0010DB0B-DF2F-4AF7-8AF6-02B33AAA065D}" presName="sibTrans" presStyleLbl="sibTrans2D1" presStyleIdx="0" presStyleCnt="5"/>
      <dgm:spPr/>
    </dgm:pt>
    <dgm:pt modelId="{788933EB-5583-4FE7-8734-6CDC7BF459C2}" type="pres">
      <dgm:prSet presAssocID="{0010DB0B-DF2F-4AF7-8AF6-02B33AAA065D}" presName="connectorText" presStyleLbl="sibTrans2D1" presStyleIdx="0" presStyleCnt="5"/>
      <dgm:spPr/>
    </dgm:pt>
    <dgm:pt modelId="{B42B255F-B299-4874-BE46-C9736440CDAF}" type="pres">
      <dgm:prSet presAssocID="{ACC050D8-CDD2-4D96-BC6E-2203B835BAE8}" presName="node" presStyleLbl="node1" presStyleIdx="1" presStyleCnt="6" custLinFactNeighborX="-3992">
        <dgm:presLayoutVars>
          <dgm:bulletEnabled val="1"/>
        </dgm:presLayoutVars>
      </dgm:prSet>
      <dgm:spPr/>
    </dgm:pt>
    <dgm:pt modelId="{0FE91585-2B65-4142-A6D3-669D5B376200}" type="pres">
      <dgm:prSet presAssocID="{0DEF9739-C0AE-4F0F-8DA8-F17D8D9B2A04}" presName="sibTrans" presStyleLbl="sibTrans2D1" presStyleIdx="1" presStyleCnt="5"/>
      <dgm:spPr/>
    </dgm:pt>
    <dgm:pt modelId="{B4B26E87-B1DF-4EC9-8BB2-5A825B4E71D9}" type="pres">
      <dgm:prSet presAssocID="{0DEF9739-C0AE-4F0F-8DA8-F17D8D9B2A04}" presName="connectorText" presStyleLbl="sibTrans2D1" presStyleIdx="1" presStyleCnt="5"/>
      <dgm:spPr/>
    </dgm:pt>
    <dgm:pt modelId="{936FEDB0-B4EB-49D1-999F-19FFA9045126}" type="pres">
      <dgm:prSet presAssocID="{94FAEC67-25C4-4F6A-8B80-8A536DE0E896}" presName="node" presStyleLbl="node1" presStyleIdx="2" presStyleCnt="6" custLinFactNeighborX="-3992">
        <dgm:presLayoutVars>
          <dgm:bulletEnabled val="1"/>
        </dgm:presLayoutVars>
      </dgm:prSet>
      <dgm:spPr/>
    </dgm:pt>
    <dgm:pt modelId="{F3A5554F-C62E-46FC-AFF1-C02517C76280}" type="pres">
      <dgm:prSet presAssocID="{54004DF5-DA76-4C5F-BF89-4A1EAFC4FFAB}" presName="sibTrans" presStyleLbl="sibTrans2D1" presStyleIdx="2" presStyleCnt="5"/>
      <dgm:spPr/>
    </dgm:pt>
    <dgm:pt modelId="{1128A661-504E-4B32-B434-4D471AFCA8C7}" type="pres">
      <dgm:prSet presAssocID="{54004DF5-DA76-4C5F-BF89-4A1EAFC4FFAB}" presName="connectorText" presStyleLbl="sibTrans2D1" presStyleIdx="2" presStyleCnt="5"/>
      <dgm:spPr/>
    </dgm:pt>
    <dgm:pt modelId="{645A8A04-166A-4A45-9693-D791F1A33F89}" type="pres">
      <dgm:prSet presAssocID="{A80CF0BE-5941-48E3-ADCC-000931218354}" presName="node" presStyleLbl="node1" presStyleIdx="3" presStyleCnt="6" custLinFactNeighborX="-3992">
        <dgm:presLayoutVars>
          <dgm:bulletEnabled val="1"/>
        </dgm:presLayoutVars>
      </dgm:prSet>
      <dgm:spPr/>
    </dgm:pt>
    <dgm:pt modelId="{30130EB0-E547-4B99-87CE-A8EEE04EA4DD}" type="pres">
      <dgm:prSet presAssocID="{43548CD4-6655-4FE2-9B97-57DD4FBD6D60}" presName="sibTrans" presStyleLbl="sibTrans2D1" presStyleIdx="3" presStyleCnt="5"/>
      <dgm:spPr/>
    </dgm:pt>
    <dgm:pt modelId="{6A3C8228-5955-4832-8C57-E34A00095C3A}" type="pres">
      <dgm:prSet presAssocID="{43548CD4-6655-4FE2-9B97-57DD4FBD6D60}" presName="connectorText" presStyleLbl="sibTrans2D1" presStyleIdx="3" presStyleCnt="5"/>
      <dgm:spPr/>
    </dgm:pt>
    <dgm:pt modelId="{95F97F13-6FDB-4FD3-A11A-B86729714E8F}" type="pres">
      <dgm:prSet presAssocID="{26949F21-1465-445C-9E23-DF1D6A559D41}" presName="node" presStyleLbl="node1" presStyleIdx="4" presStyleCnt="6">
        <dgm:presLayoutVars>
          <dgm:bulletEnabled val="1"/>
        </dgm:presLayoutVars>
      </dgm:prSet>
      <dgm:spPr/>
    </dgm:pt>
    <dgm:pt modelId="{C044BDD7-8A47-4116-92D9-F33F8497B65A}" type="pres">
      <dgm:prSet presAssocID="{1800F66D-2FAE-4E1C-BFD6-15CEEE0A2E25}" presName="sibTrans" presStyleLbl="sibTrans2D1" presStyleIdx="4" presStyleCnt="5"/>
      <dgm:spPr/>
    </dgm:pt>
    <dgm:pt modelId="{F21EDF57-D03E-4F4C-AE5F-37AE88D115ED}" type="pres">
      <dgm:prSet presAssocID="{1800F66D-2FAE-4E1C-BFD6-15CEEE0A2E25}" presName="connectorText" presStyleLbl="sibTrans2D1" presStyleIdx="4" presStyleCnt="5"/>
      <dgm:spPr/>
    </dgm:pt>
    <dgm:pt modelId="{11BB1B8F-C4D3-4292-A49B-166372280608}" type="pres">
      <dgm:prSet presAssocID="{411CD9C0-ED99-4896-87CD-A5D3D5B4215B}" presName="node" presStyleLbl="node1" presStyleIdx="5" presStyleCnt="6">
        <dgm:presLayoutVars>
          <dgm:bulletEnabled val="1"/>
        </dgm:presLayoutVars>
      </dgm:prSet>
      <dgm:spPr/>
    </dgm:pt>
  </dgm:ptLst>
  <dgm:cxnLst>
    <dgm:cxn modelId="{49040901-4A42-42C5-B902-F2F492A15BFC}" srcId="{50ECF8D5-553C-49C3-AE01-30F6030ED93B}" destId="{ACC050D8-CDD2-4D96-BC6E-2203B835BAE8}" srcOrd="1" destOrd="0" parTransId="{6ECB7110-E1F8-4CE4-B313-BF8EF59C829A}" sibTransId="{0DEF9739-C0AE-4F0F-8DA8-F17D8D9B2A04}"/>
    <dgm:cxn modelId="{B8010709-8C58-4DF6-843F-CE8160352EB2}" type="presOf" srcId="{43548CD4-6655-4FE2-9B97-57DD4FBD6D60}" destId="{6A3C8228-5955-4832-8C57-E34A00095C3A}" srcOrd="1" destOrd="0" presId="urn:microsoft.com/office/officeart/2005/8/layout/process5"/>
    <dgm:cxn modelId="{A4C7B316-1035-4961-8E79-AF8EED2DBC30}" type="presOf" srcId="{94FAEC67-25C4-4F6A-8B80-8A536DE0E896}" destId="{936FEDB0-B4EB-49D1-999F-19FFA9045126}" srcOrd="0" destOrd="0" presId="urn:microsoft.com/office/officeart/2005/8/layout/process5"/>
    <dgm:cxn modelId="{CD793E1E-0021-4C23-A027-AED7832AE2BC}" type="presOf" srcId="{0010DB0B-DF2F-4AF7-8AF6-02B33AAA065D}" destId="{788933EB-5583-4FE7-8734-6CDC7BF459C2}" srcOrd="1" destOrd="0" presId="urn:microsoft.com/office/officeart/2005/8/layout/process5"/>
    <dgm:cxn modelId="{5C7FF75D-AA3D-4387-8215-FBCD47F569A5}" type="presOf" srcId="{1800F66D-2FAE-4E1C-BFD6-15CEEE0A2E25}" destId="{C044BDD7-8A47-4116-92D9-F33F8497B65A}" srcOrd="0" destOrd="0" presId="urn:microsoft.com/office/officeart/2005/8/layout/process5"/>
    <dgm:cxn modelId="{0EF5E442-FCBA-4C0F-B188-9E7A5DC9544A}" type="presOf" srcId="{54004DF5-DA76-4C5F-BF89-4A1EAFC4FFAB}" destId="{F3A5554F-C62E-46FC-AFF1-C02517C76280}" srcOrd="0" destOrd="0" presId="urn:microsoft.com/office/officeart/2005/8/layout/process5"/>
    <dgm:cxn modelId="{401F3B6A-497A-4C96-B33D-D26AED73C5A2}" type="presOf" srcId="{411CD9C0-ED99-4896-87CD-A5D3D5B4215B}" destId="{11BB1B8F-C4D3-4292-A49B-166372280608}" srcOrd="0" destOrd="0" presId="urn:microsoft.com/office/officeart/2005/8/layout/process5"/>
    <dgm:cxn modelId="{717ADE4E-A3C2-46CD-A9E4-0D595D64C8E8}" type="presOf" srcId="{0DEF9739-C0AE-4F0F-8DA8-F17D8D9B2A04}" destId="{0FE91585-2B65-4142-A6D3-669D5B376200}" srcOrd="0" destOrd="0" presId="urn:microsoft.com/office/officeart/2005/8/layout/process5"/>
    <dgm:cxn modelId="{0C43C870-7FFA-4125-8450-45BBDCCDCBF5}" type="presOf" srcId="{1800F66D-2FAE-4E1C-BFD6-15CEEE0A2E25}" destId="{F21EDF57-D03E-4F4C-AE5F-37AE88D115ED}" srcOrd="1" destOrd="0" presId="urn:microsoft.com/office/officeart/2005/8/layout/process5"/>
    <dgm:cxn modelId="{24DCA676-4AAF-420B-B650-D7F223834F70}" srcId="{50ECF8D5-553C-49C3-AE01-30F6030ED93B}" destId="{26949F21-1465-445C-9E23-DF1D6A559D41}" srcOrd="4" destOrd="0" parTransId="{AAAF25A1-7C78-48E0-9E1A-9FB96699C18F}" sibTransId="{1800F66D-2FAE-4E1C-BFD6-15CEEE0A2E25}"/>
    <dgm:cxn modelId="{9AFE0477-1CBF-4B80-B9E6-A02D1429524C}" srcId="{50ECF8D5-553C-49C3-AE01-30F6030ED93B}" destId="{98B0C790-2818-40AF-98C2-420C46E96359}" srcOrd="0" destOrd="0" parTransId="{ADCA927B-9D2A-4306-8DED-4C21CD924BF3}" sibTransId="{0010DB0B-DF2F-4AF7-8AF6-02B33AAA065D}"/>
    <dgm:cxn modelId="{13C5BC82-8EDD-4B0B-A545-1BACB6B9CDD4}" type="presOf" srcId="{98B0C790-2818-40AF-98C2-420C46E96359}" destId="{0B798FB5-87F6-449B-8AF4-377FA54FF1E5}" srcOrd="0" destOrd="0" presId="urn:microsoft.com/office/officeart/2005/8/layout/process5"/>
    <dgm:cxn modelId="{5CB44196-86FA-43A8-88AF-3DCD05191E25}" type="presOf" srcId="{26949F21-1465-445C-9E23-DF1D6A559D41}" destId="{95F97F13-6FDB-4FD3-A11A-B86729714E8F}" srcOrd="0" destOrd="0" presId="urn:microsoft.com/office/officeart/2005/8/layout/process5"/>
    <dgm:cxn modelId="{8553D3AB-A29A-45D2-BEDF-A693EEBC573D}" type="presOf" srcId="{54004DF5-DA76-4C5F-BF89-4A1EAFC4FFAB}" destId="{1128A661-504E-4B32-B434-4D471AFCA8C7}" srcOrd="1" destOrd="0" presId="urn:microsoft.com/office/officeart/2005/8/layout/process5"/>
    <dgm:cxn modelId="{88CC90AC-4D5E-43B9-B132-7BBCE6833286}" type="presOf" srcId="{A80CF0BE-5941-48E3-ADCC-000931218354}" destId="{645A8A04-166A-4A45-9693-D791F1A33F89}" srcOrd="0" destOrd="0" presId="urn:microsoft.com/office/officeart/2005/8/layout/process5"/>
    <dgm:cxn modelId="{325EE4B3-372B-4282-9B09-733E61336A95}" srcId="{50ECF8D5-553C-49C3-AE01-30F6030ED93B}" destId="{94FAEC67-25C4-4F6A-8B80-8A536DE0E896}" srcOrd="2" destOrd="0" parTransId="{49706195-71DE-43C9-9A68-B99CEF5ABBBD}" sibTransId="{54004DF5-DA76-4C5F-BF89-4A1EAFC4FFAB}"/>
    <dgm:cxn modelId="{C54D53BA-2014-4AB5-BBB0-C8D2759A144E}" srcId="{50ECF8D5-553C-49C3-AE01-30F6030ED93B}" destId="{411CD9C0-ED99-4896-87CD-A5D3D5B4215B}" srcOrd="5" destOrd="0" parTransId="{982CE023-3219-470C-95A1-048EFEDC554A}" sibTransId="{CD616172-CCE9-4966-AC1B-9D65A92B914E}"/>
    <dgm:cxn modelId="{EB9C79D9-5D42-4674-86CC-0CCE09231AA6}" srcId="{50ECF8D5-553C-49C3-AE01-30F6030ED93B}" destId="{A80CF0BE-5941-48E3-ADCC-000931218354}" srcOrd="3" destOrd="0" parTransId="{84912FBC-B5CC-4AB1-A73C-94D4F6E74506}" sibTransId="{43548CD4-6655-4FE2-9B97-57DD4FBD6D60}"/>
    <dgm:cxn modelId="{629999E8-1AFC-40F4-8E02-1444563C87F5}" type="presOf" srcId="{ACC050D8-CDD2-4D96-BC6E-2203B835BAE8}" destId="{B42B255F-B299-4874-BE46-C9736440CDAF}" srcOrd="0" destOrd="0" presId="urn:microsoft.com/office/officeart/2005/8/layout/process5"/>
    <dgm:cxn modelId="{7CC399EE-7D53-43F5-BDB2-F1671584C242}" type="presOf" srcId="{50ECF8D5-553C-49C3-AE01-30F6030ED93B}" destId="{5BF88DFD-67F5-4EC3-8B86-15F86EACF9ED}" srcOrd="0" destOrd="0" presId="urn:microsoft.com/office/officeart/2005/8/layout/process5"/>
    <dgm:cxn modelId="{B80E2FF4-981C-4891-BDD6-E60C254E4BE9}" type="presOf" srcId="{0010DB0B-DF2F-4AF7-8AF6-02B33AAA065D}" destId="{B5BF44A0-BDF1-4C4B-B3A3-4F8508928729}" srcOrd="0" destOrd="0" presId="urn:microsoft.com/office/officeart/2005/8/layout/process5"/>
    <dgm:cxn modelId="{F82123F7-C149-42F6-800F-FFF9D7DA6185}" type="presOf" srcId="{43548CD4-6655-4FE2-9B97-57DD4FBD6D60}" destId="{30130EB0-E547-4B99-87CE-A8EEE04EA4DD}" srcOrd="0" destOrd="0" presId="urn:microsoft.com/office/officeart/2005/8/layout/process5"/>
    <dgm:cxn modelId="{492B55F9-EBB5-433F-ADF2-B1592E70EB85}" type="presOf" srcId="{0DEF9739-C0AE-4F0F-8DA8-F17D8D9B2A04}" destId="{B4B26E87-B1DF-4EC9-8BB2-5A825B4E71D9}" srcOrd="1" destOrd="0" presId="urn:microsoft.com/office/officeart/2005/8/layout/process5"/>
    <dgm:cxn modelId="{44782EAD-3285-471E-A991-83C88FE2A3D0}" type="presParOf" srcId="{5BF88DFD-67F5-4EC3-8B86-15F86EACF9ED}" destId="{0B798FB5-87F6-449B-8AF4-377FA54FF1E5}" srcOrd="0" destOrd="0" presId="urn:microsoft.com/office/officeart/2005/8/layout/process5"/>
    <dgm:cxn modelId="{66C1BEF0-D57A-4CF5-87A1-2A5F8F0E1342}" type="presParOf" srcId="{5BF88DFD-67F5-4EC3-8B86-15F86EACF9ED}" destId="{B5BF44A0-BDF1-4C4B-B3A3-4F8508928729}" srcOrd="1" destOrd="0" presId="urn:microsoft.com/office/officeart/2005/8/layout/process5"/>
    <dgm:cxn modelId="{E8642FA4-3664-4048-A19A-85D72290AE1A}" type="presParOf" srcId="{B5BF44A0-BDF1-4C4B-B3A3-4F8508928729}" destId="{788933EB-5583-4FE7-8734-6CDC7BF459C2}" srcOrd="0" destOrd="0" presId="urn:microsoft.com/office/officeart/2005/8/layout/process5"/>
    <dgm:cxn modelId="{5EE6C145-A1C2-449D-8BC1-867DF1A6BF0D}" type="presParOf" srcId="{5BF88DFD-67F5-4EC3-8B86-15F86EACF9ED}" destId="{B42B255F-B299-4874-BE46-C9736440CDAF}" srcOrd="2" destOrd="0" presId="urn:microsoft.com/office/officeart/2005/8/layout/process5"/>
    <dgm:cxn modelId="{E01C3E33-8D3C-4FFE-B459-C931F394FC52}" type="presParOf" srcId="{5BF88DFD-67F5-4EC3-8B86-15F86EACF9ED}" destId="{0FE91585-2B65-4142-A6D3-669D5B376200}" srcOrd="3" destOrd="0" presId="urn:microsoft.com/office/officeart/2005/8/layout/process5"/>
    <dgm:cxn modelId="{EA13DFB3-F224-429A-B07D-66EF9FD92965}" type="presParOf" srcId="{0FE91585-2B65-4142-A6D3-669D5B376200}" destId="{B4B26E87-B1DF-4EC9-8BB2-5A825B4E71D9}" srcOrd="0" destOrd="0" presId="urn:microsoft.com/office/officeart/2005/8/layout/process5"/>
    <dgm:cxn modelId="{8BB0EBA8-1A63-4751-B50E-F2F409BA01BC}" type="presParOf" srcId="{5BF88DFD-67F5-4EC3-8B86-15F86EACF9ED}" destId="{936FEDB0-B4EB-49D1-999F-19FFA9045126}" srcOrd="4" destOrd="0" presId="urn:microsoft.com/office/officeart/2005/8/layout/process5"/>
    <dgm:cxn modelId="{48D1CE7B-9EC0-43CD-9A2B-659D7DAB47F4}" type="presParOf" srcId="{5BF88DFD-67F5-4EC3-8B86-15F86EACF9ED}" destId="{F3A5554F-C62E-46FC-AFF1-C02517C76280}" srcOrd="5" destOrd="0" presId="urn:microsoft.com/office/officeart/2005/8/layout/process5"/>
    <dgm:cxn modelId="{63B2FB6B-6461-4359-A617-B6061AC18178}" type="presParOf" srcId="{F3A5554F-C62E-46FC-AFF1-C02517C76280}" destId="{1128A661-504E-4B32-B434-4D471AFCA8C7}" srcOrd="0" destOrd="0" presId="urn:microsoft.com/office/officeart/2005/8/layout/process5"/>
    <dgm:cxn modelId="{D28E3FE0-20A0-4182-9793-32C5877ABF53}" type="presParOf" srcId="{5BF88DFD-67F5-4EC3-8B86-15F86EACF9ED}" destId="{645A8A04-166A-4A45-9693-D791F1A33F89}" srcOrd="6" destOrd="0" presId="urn:microsoft.com/office/officeart/2005/8/layout/process5"/>
    <dgm:cxn modelId="{191F7B1A-1CC2-4C0F-8F6A-7A9D71053F69}" type="presParOf" srcId="{5BF88DFD-67F5-4EC3-8B86-15F86EACF9ED}" destId="{30130EB0-E547-4B99-87CE-A8EEE04EA4DD}" srcOrd="7" destOrd="0" presId="urn:microsoft.com/office/officeart/2005/8/layout/process5"/>
    <dgm:cxn modelId="{A9B66512-4646-4078-BACF-EEDBCC4663E7}" type="presParOf" srcId="{30130EB0-E547-4B99-87CE-A8EEE04EA4DD}" destId="{6A3C8228-5955-4832-8C57-E34A00095C3A}" srcOrd="0" destOrd="0" presId="urn:microsoft.com/office/officeart/2005/8/layout/process5"/>
    <dgm:cxn modelId="{0BDE7BDC-C39D-4683-85D9-7BC2C13E0136}" type="presParOf" srcId="{5BF88DFD-67F5-4EC3-8B86-15F86EACF9ED}" destId="{95F97F13-6FDB-4FD3-A11A-B86729714E8F}" srcOrd="8" destOrd="0" presId="urn:microsoft.com/office/officeart/2005/8/layout/process5"/>
    <dgm:cxn modelId="{0FE2F382-2FC9-414E-A9FF-DD6D3D5C3889}" type="presParOf" srcId="{5BF88DFD-67F5-4EC3-8B86-15F86EACF9ED}" destId="{C044BDD7-8A47-4116-92D9-F33F8497B65A}" srcOrd="9" destOrd="0" presId="urn:microsoft.com/office/officeart/2005/8/layout/process5"/>
    <dgm:cxn modelId="{AEEE3E73-98AC-4EA9-87BA-BFD0E16658D1}" type="presParOf" srcId="{C044BDD7-8A47-4116-92D9-F33F8497B65A}" destId="{F21EDF57-D03E-4F4C-AE5F-37AE88D115ED}" srcOrd="0" destOrd="0" presId="urn:microsoft.com/office/officeart/2005/8/layout/process5"/>
    <dgm:cxn modelId="{FF68CB90-92DC-416B-AD06-13DBF329120E}" type="presParOf" srcId="{5BF88DFD-67F5-4EC3-8B86-15F86EACF9ED}" destId="{11BB1B8F-C4D3-4292-A49B-166372280608}" srcOrd="10" destOrd="0" presId="urn:microsoft.com/office/officeart/2005/8/layout/process5"/>
  </dgm:cxnLst>
  <dgm:bg/>
  <dgm:whole>
    <a:ln w="28575"/>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98FB5-87F6-449B-8AF4-377FA54FF1E5}">
      <dsp:nvSpPr>
        <dsp:cNvPr id="0" name=""/>
        <dsp:cNvSpPr/>
      </dsp:nvSpPr>
      <dsp:spPr>
        <a:xfrm>
          <a:off x="342967" y="1740"/>
          <a:ext cx="2752631" cy="1651579"/>
        </a:xfrm>
        <a:prstGeom prst="roundRect">
          <a:avLst>
            <a:gd name="adj" fmla="val 10000"/>
          </a:avLst>
        </a:prstGeom>
        <a:solidFill>
          <a:schemeClr val="lt1">
            <a:hueOff val="0"/>
            <a:satOff val="0"/>
            <a:lumOff val="0"/>
            <a:alphaOff val="0"/>
          </a:schemeClr>
        </a:solidFill>
        <a:ln w="28575"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SAGS matter identified by subject community at individual teacher or cluster level.</a:t>
          </a:r>
        </a:p>
      </dsp:txBody>
      <dsp:txXfrm>
        <a:off x="391340" y="50113"/>
        <a:ext cx="2655885" cy="1554833"/>
      </dsp:txXfrm>
    </dsp:sp>
    <dsp:sp modelId="{B5BF44A0-BDF1-4C4B-B3A3-4F8508928729}">
      <dsp:nvSpPr>
        <dsp:cNvPr id="0" name=""/>
        <dsp:cNvSpPr/>
      </dsp:nvSpPr>
      <dsp:spPr>
        <a:xfrm>
          <a:off x="3337830" y="486203"/>
          <a:ext cx="583557" cy="6826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ZA" sz="1600" kern="1200"/>
        </a:p>
      </dsp:txBody>
      <dsp:txXfrm>
        <a:off x="3337830" y="622733"/>
        <a:ext cx="408490" cy="409592"/>
      </dsp:txXfrm>
    </dsp:sp>
    <dsp:sp modelId="{B42B255F-B299-4874-BE46-C9736440CDAF}">
      <dsp:nvSpPr>
        <dsp:cNvPr id="0" name=""/>
        <dsp:cNvSpPr/>
      </dsp:nvSpPr>
      <dsp:spPr>
        <a:xfrm>
          <a:off x="4196651" y="1740"/>
          <a:ext cx="2752631" cy="1651579"/>
        </a:xfrm>
        <a:prstGeom prst="roundRect">
          <a:avLst>
            <a:gd name="adj" fmla="val 10000"/>
          </a:avLst>
        </a:prstGeom>
        <a:solidFill>
          <a:schemeClr val="lt1">
            <a:hueOff val="0"/>
            <a:satOff val="0"/>
            <a:lumOff val="0"/>
            <a:alphaOff val="0"/>
          </a:schemeClr>
        </a:solidFill>
        <a:ln w="28575"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Teacher/Cluster/NSF </a:t>
          </a:r>
          <a:r>
            <a:rPr lang="en-US" sz="1600" kern="1200"/>
            <a:t>Rep brings matter to IEB Asessment Specialist</a:t>
          </a:r>
          <a:endParaRPr lang="en-ZA" sz="1600" kern="1200" dirty="0"/>
        </a:p>
      </dsp:txBody>
      <dsp:txXfrm>
        <a:off x="4245024" y="50113"/>
        <a:ext cx="2655885" cy="1554833"/>
      </dsp:txXfrm>
    </dsp:sp>
    <dsp:sp modelId="{0FE91585-2B65-4142-A6D3-669D5B376200}">
      <dsp:nvSpPr>
        <dsp:cNvPr id="0" name=""/>
        <dsp:cNvSpPr/>
      </dsp:nvSpPr>
      <dsp:spPr>
        <a:xfrm>
          <a:off x="7191515" y="486203"/>
          <a:ext cx="583557" cy="6826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ZA" sz="1600" kern="1200"/>
        </a:p>
      </dsp:txBody>
      <dsp:txXfrm>
        <a:off x="7191515" y="622733"/>
        <a:ext cx="408490" cy="409592"/>
      </dsp:txXfrm>
    </dsp:sp>
    <dsp:sp modelId="{936FEDB0-B4EB-49D1-999F-19FFA9045126}">
      <dsp:nvSpPr>
        <dsp:cNvPr id="0" name=""/>
        <dsp:cNvSpPr/>
      </dsp:nvSpPr>
      <dsp:spPr>
        <a:xfrm>
          <a:off x="8050336" y="1740"/>
          <a:ext cx="2752631" cy="1651579"/>
        </a:xfrm>
        <a:prstGeom prst="roundRect">
          <a:avLst>
            <a:gd name="adj" fmla="val 10000"/>
          </a:avLst>
        </a:prstGeom>
        <a:solidFill>
          <a:schemeClr val="lt1">
            <a:hueOff val="0"/>
            <a:satOff val="0"/>
            <a:lumOff val="0"/>
            <a:alphaOff val="0"/>
          </a:schemeClr>
        </a:solidFill>
        <a:ln w="28575"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IEB Assessment Specialist convenes a National Subject Forum (NSF) Meeting</a:t>
          </a:r>
          <a:endParaRPr lang="en-ZA" sz="1600" kern="1200" dirty="0"/>
        </a:p>
      </dsp:txBody>
      <dsp:txXfrm>
        <a:off x="8098709" y="50113"/>
        <a:ext cx="2655885" cy="1554833"/>
      </dsp:txXfrm>
    </dsp:sp>
    <dsp:sp modelId="{F3A5554F-C62E-46FC-AFF1-C02517C76280}">
      <dsp:nvSpPr>
        <dsp:cNvPr id="0" name=""/>
        <dsp:cNvSpPr/>
      </dsp:nvSpPr>
      <dsp:spPr>
        <a:xfrm rot="5400000">
          <a:off x="9134873" y="1846003"/>
          <a:ext cx="583557" cy="6826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ZA" sz="1600" kern="1200"/>
        </a:p>
      </dsp:txBody>
      <dsp:txXfrm rot="-5400000">
        <a:off x="9221856" y="1895551"/>
        <a:ext cx="409592" cy="408490"/>
      </dsp:txXfrm>
    </dsp:sp>
    <dsp:sp modelId="{645A8A04-166A-4A45-9693-D791F1A33F89}">
      <dsp:nvSpPr>
        <dsp:cNvPr id="0" name=""/>
        <dsp:cNvSpPr/>
      </dsp:nvSpPr>
      <dsp:spPr>
        <a:xfrm>
          <a:off x="8050336" y="2754372"/>
          <a:ext cx="2752631" cy="1651579"/>
        </a:xfrm>
        <a:prstGeom prst="roundRect">
          <a:avLst>
            <a:gd name="adj" fmla="val 10000"/>
          </a:avLst>
        </a:prstGeom>
        <a:solidFill>
          <a:schemeClr val="lt1">
            <a:hueOff val="0"/>
            <a:satOff val="0"/>
            <a:lumOff val="0"/>
            <a:alphaOff val="0"/>
          </a:schemeClr>
        </a:solidFill>
        <a:ln w="28575"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NSF Meeting held and final draft of amended SAG document shared with all schools in subject community for comment where applicable</a:t>
          </a:r>
          <a:endParaRPr lang="en-ZA" sz="1600" kern="1200" dirty="0"/>
        </a:p>
      </dsp:txBody>
      <dsp:txXfrm>
        <a:off x="8098709" y="2802745"/>
        <a:ext cx="2655885" cy="1554833"/>
      </dsp:txXfrm>
    </dsp:sp>
    <dsp:sp modelId="{30130EB0-E547-4B99-87CE-A8EEE04EA4DD}">
      <dsp:nvSpPr>
        <dsp:cNvPr id="0" name=""/>
        <dsp:cNvSpPr/>
      </dsp:nvSpPr>
      <dsp:spPr>
        <a:xfrm rot="10800000">
          <a:off x="7306960" y="3238835"/>
          <a:ext cx="525318" cy="6826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ZA" sz="1600" kern="1200"/>
        </a:p>
      </dsp:txBody>
      <dsp:txXfrm rot="10800000">
        <a:off x="7464555" y="3375365"/>
        <a:ext cx="367723" cy="409592"/>
      </dsp:txXfrm>
    </dsp:sp>
    <dsp:sp modelId="{95F97F13-6FDB-4FD3-A11A-B86729714E8F}">
      <dsp:nvSpPr>
        <dsp:cNvPr id="0" name=""/>
        <dsp:cNvSpPr/>
      </dsp:nvSpPr>
      <dsp:spPr>
        <a:xfrm>
          <a:off x="4306537" y="2754372"/>
          <a:ext cx="2752631" cy="1651579"/>
        </a:xfrm>
        <a:prstGeom prst="roundRect">
          <a:avLst>
            <a:gd name="adj" fmla="val 10000"/>
          </a:avLst>
        </a:prstGeom>
        <a:solidFill>
          <a:schemeClr val="lt1">
            <a:hueOff val="0"/>
            <a:satOff val="0"/>
            <a:lumOff val="0"/>
            <a:alphaOff val="0"/>
          </a:schemeClr>
        </a:solidFill>
        <a:ln w="28575"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IEB Assessment Specialist tables matter at Committee for Curriculum and Assessment (CCA)</a:t>
          </a:r>
          <a:endParaRPr lang="en-ZA" sz="1600" kern="1200" dirty="0"/>
        </a:p>
      </dsp:txBody>
      <dsp:txXfrm>
        <a:off x="4354910" y="2802745"/>
        <a:ext cx="2655885" cy="1554833"/>
      </dsp:txXfrm>
    </dsp:sp>
    <dsp:sp modelId="{C044BDD7-8A47-4116-92D9-F33F8497B65A}">
      <dsp:nvSpPr>
        <dsp:cNvPr id="0" name=""/>
        <dsp:cNvSpPr/>
      </dsp:nvSpPr>
      <dsp:spPr>
        <a:xfrm rot="10800000">
          <a:off x="3480747" y="3238835"/>
          <a:ext cx="583557" cy="6826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ZA" sz="1600" kern="1200"/>
        </a:p>
      </dsp:txBody>
      <dsp:txXfrm rot="10800000">
        <a:off x="3655814" y="3375365"/>
        <a:ext cx="408490" cy="409592"/>
      </dsp:txXfrm>
    </dsp:sp>
    <dsp:sp modelId="{11BB1B8F-C4D3-4292-A49B-166372280608}">
      <dsp:nvSpPr>
        <dsp:cNvPr id="0" name=""/>
        <dsp:cNvSpPr/>
      </dsp:nvSpPr>
      <dsp:spPr>
        <a:xfrm>
          <a:off x="452852" y="2754372"/>
          <a:ext cx="2752631" cy="1651579"/>
        </a:xfrm>
        <a:prstGeom prst="roundRect">
          <a:avLst>
            <a:gd name="adj" fmla="val 10000"/>
          </a:avLst>
        </a:prstGeom>
        <a:solidFill>
          <a:schemeClr val="lt1">
            <a:hueOff val="0"/>
            <a:satOff val="0"/>
            <a:lumOff val="0"/>
            <a:alphaOff val="0"/>
          </a:schemeClr>
        </a:solidFill>
        <a:ln w="28575" cap="flat" cmpd="sng" algn="ctr">
          <a:solidFill>
            <a:schemeClr val="tx2"/>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ZA" sz="1600" kern="1200" dirty="0"/>
            <a:t>Any changes to SAGs communicated to schools via circular</a:t>
          </a:r>
        </a:p>
      </dsp:txBody>
      <dsp:txXfrm>
        <a:off x="501225" y="2802745"/>
        <a:ext cx="2655885" cy="1554833"/>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6028E-058C-4CE7-9AF3-F26024F08DFA}" type="datetimeFigureOut">
              <a:rPr lang="en-ZA" smtClean="0"/>
              <a:t>2026/03/10</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298C09-CB1E-4637-807D-CD6260249DE6}" type="slidenum">
              <a:rPr lang="en-ZA" smtClean="0"/>
              <a:t>‹#›</a:t>
            </a:fld>
            <a:endParaRPr lang="en-ZA"/>
          </a:p>
        </p:txBody>
      </p:sp>
    </p:spTree>
    <p:extLst>
      <p:ext uri="{BB962C8B-B14F-4D97-AF65-F5344CB8AC3E}">
        <p14:creationId xmlns:p14="http://schemas.microsoft.com/office/powerpoint/2010/main" val="2703018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A07812-B9F7-4A04-B1E1-61130F6176EA}"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28462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endParaRPr lang="en-ZA" dirty="0"/>
          </a:p>
        </p:txBody>
      </p:sp>
      <p:sp>
        <p:nvSpPr>
          <p:cNvPr id="4" name="Slide Number Placeholder 3"/>
          <p:cNvSpPr>
            <a:spLocks noGrp="1"/>
          </p:cNvSpPr>
          <p:nvPr>
            <p:ph type="sldNum" sz="quarter" idx="5"/>
          </p:nvPr>
        </p:nvSpPr>
        <p:spPr/>
        <p:txBody>
          <a:bodyPr/>
          <a:lstStyle/>
          <a:p>
            <a:fld id="{AD298C09-CB1E-4637-807D-CD6260249DE6}" type="slidenum">
              <a:rPr lang="en-ZA" smtClean="0"/>
              <a:t>17</a:t>
            </a:fld>
            <a:endParaRPr lang="en-ZA"/>
          </a:p>
        </p:txBody>
      </p:sp>
    </p:spTree>
    <p:extLst>
      <p:ext uri="{BB962C8B-B14F-4D97-AF65-F5344CB8AC3E}">
        <p14:creationId xmlns:p14="http://schemas.microsoft.com/office/powerpoint/2010/main" val="882783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D298C09-CB1E-4637-807D-CD6260249DE6}" type="slidenum">
              <a:rPr lang="en-ZA" smtClean="0"/>
              <a:t>18</a:t>
            </a:fld>
            <a:endParaRPr lang="en-ZA"/>
          </a:p>
        </p:txBody>
      </p:sp>
    </p:spTree>
    <p:extLst>
      <p:ext uri="{BB962C8B-B14F-4D97-AF65-F5344CB8AC3E}">
        <p14:creationId xmlns:p14="http://schemas.microsoft.com/office/powerpoint/2010/main" val="35886197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D298C09-CB1E-4637-807D-CD6260249DE6}" type="slidenum">
              <a:rPr lang="en-ZA" smtClean="0"/>
              <a:t>19</a:t>
            </a:fld>
            <a:endParaRPr lang="en-ZA"/>
          </a:p>
        </p:txBody>
      </p:sp>
    </p:spTree>
    <p:extLst>
      <p:ext uri="{BB962C8B-B14F-4D97-AF65-F5344CB8AC3E}">
        <p14:creationId xmlns:p14="http://schemas.microsoft.com/office/powerpoint/2010/main" val="1180921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D298C09-CB1E-4637-807D-CD6260249DE6}" type="slidenum">
              <a:rPr lang="en-ZA" smtClean="0"/>
              <a:t>20</a:t>
            </a:fld>
            <a:endParaRPr lang="en-ZA"/>
          </a:p>
        </p:txBody>
      </p:sp>
    </p:spTree>
    <p:extLst>
      <p:ext uri="{BB962C8B-B14F-4D97-AF65-F5344CB8AC3E}">
        <p14:creationId xmlns:p14="http://schemas.microsoft.com/office/powerpoint/2010/main" val="3966023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AD298C09-CB1E-4637-807D-CD6260249DE6}" type="slidenum">
              <a:rPr lang="en-ZA" smtClean="0"/>
              <a:t>21</a:t>
            </a:fld>
            <a:endParaRPr lang="en-ZA"/>
          </a:p>
        </p:txBody>
      </p:sp>
    </p:spTree>
    <p:extLst>
      <p:ext uri="{BB962C8B-B14F-4D97-AF65-F5344CB8AC3E}">
        <p14:creationId xmlns:p14="http://schemas.microsoft.com/office/powerpoint/2010/main" val="2530181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CDF8-73F9-3E93-C1D8-D17C481148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A0513BF4-D3EF-A613-31D9-591CAB00A5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206CE8DC-571F-30F5-BA65-E6C47A9067FD}"/>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5" name="Footer Placeholder 4">
            <a:extLst>
              <a:ext uri="{FF2B5EF4-FFF2-40B4-BE49-F238E27FC236}">
                <a16:creationId xmlns:a16="http://schemas.microsoft.com/office/drawing/2014/main" id="{48A04189-F429-0400-3789-2D210A2172E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1799EA6-82E7-2CAF-121B-E4C1D51AE588}"/>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22866575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00A5-B5B4-9B10-D4AD-C371DD004C3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22A3D2F6-20C4-E469-0BEA-7880596BCA1D}"/>
              </a:ext>
            </a:extLst>
          </p:cNvPr>
          <p:cNvSpPr>
            <a:spLocks noGrp="1"/>
          </p:cNvSpPr>
          <p:nvPr>
            <p:ph idx="1"/>
          </p:nvPr>
        </p:nvSpPr>
        <p:spPr>
          <a:xfrm>
            <a:off x="838200" y="1690688"/>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pic>
        <p:nvPicPr>
          <p:cNvPr id="8" name="Picture 7">
            <a:extLst>
              <a:ext uri="{FF2B5EF4-FFF2-40B4-BE49-F238E27FC236}">
                <a16:creationId xmlns:a16="http://schemas.microsoft.com/office/drawing/2014/main" id="{53724016-D663-C7DA-58B0-EA542A24178D}"/>
              </a:ext>
            </a:extLst>
          </p:cNvPr>
          <p:cNvPicPr>
            <a:picLocks noChangeAspect="1"/>
          </p:cNvPicPr>
          <p:nvPr userDrawn="1"/>
        </p:nvPicPr>
        <p:blipFill>
          <a:blip r:embed="rId2"/>
          <a:stretch>
            <a:fillRect/>
          </a:stretch>
        </p:blipFill>
        <p:spPr>
          <a:xfrm>
            <a:off x="250538" y="6222141"/>
            <a:ext cx="799629" cy="541463"/>
          </a:xfrm>
          <a:prstGeom prst="rect">
            <a:avLst/>
          </a:prstGeom>
        </p:spPr>
      </p:pic>
      <p:pic>
        <p:nvPicPr>
          <p:cNvPr id="9" name="Picture 8">
            <a:extLst>
              <a:ext uri="{FF2B5EF4-FFF2-40B4-BE49-F238E27FC236}">
                <a16:creationId xmlns:a16="http://schemas.microsoft.com/office/drawing/2014/main" id="{0A79B76F-4E40-CB05-F200-EE4F33A910A9}"/>
              </a:ext>
            </a:extLst>
          </p:cNvPr>
          <p:cNvPicPr>
            <a:picLocks noChangeAspect="1"/>
          </p:cNvPicPr>
          <p:nvPr userDrawn="1"/>
        </p:nvPicPr>
        <p:blipFill>
          <a:blip r:embed="rId3"/>
          <a:stretch>
            <a:fillRect/>
          </a:stretch>
        </p:blipFill>
        <p:spPr>
          <a:xfrm>
            <a:off x="998411" y="6277694"/>
            <a:ext cx="10793901" cy="375440"/>
          </a:xfrm>
          <a:prstGeom prst="rect">
            <a:avLst/>
          </a:prstGeom>
        </p:spPr>
      </p:pic>
      <p:sp>
        <p:nvSpPr>
          <p:cNvPr id="5" name="Footer Placeholder 4">
            <a:extLst>
              <a:ext uri="{FF2B5EF4-FFF2-40B4-BE49-F238E27FC236}">
                <a16:creationId xmlns:a16="http://schemas.microsoft.com/office/drawing/2014/main" id="{2DC20F65-726C-A2DE-7D6A-E94E7FA6D8B7}"/>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CBC82E55-39B2-7192-1FCB-366C86850E83}"/>
              </a:ext>
            </a:extLst>
          </p:cNvPr>
          <p:cNvSpPr>
            <a:spLocks noGrp="1"/>
          </p:cNvSpPr>
          <p:nvPr>
            <p:ph type="sldNum" sz="quarter" idx="12"/>
          </p:nvPr>
        </p:nvSpPr>
        <p:spPr/>
        <p:txBody>
          <a:bodyPr/>
          <a:lstStyle/>
          <a:p>
            <a:fld id="{30B62B7A-64B6-402F-A174-C9FACEFE790D}" type="slidenum">
              <a:rPr lang="en-ZA" smtClean="0"/>
              <a:t>‹#›</a:t>
            </a:fld>
            <a:endParaRPr lang="en-ZA" dirty="0"/>
          </a:p>
        </p:txBody>
      </p:sp>
    </p:spTree>
    <p:extLst>
      <p:ext uri="{BB962C8B-B14F-4D97-AF65-F5344CB8AC3E}">
        <p14:creationId xmlns:p14="http://schemas.microsoft.com/office/powerpoint/2010/main" val="2153837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E20B2-E330-D584-4A5C-94324CF7D3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65AF7AEE-FFDC-9550-C524-4E774C2788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862D4D-FF43-8701-A483-3E63269FD268}"/>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5" name="Footer Placeholder 4">
            <a:extLst>
              <a:ext uri="{FF2B5EF4-FFF2-40B4-BE49-F238E27FC236}">
                <a16:creationId xmlns:a16="http://schemas.microsoft.com/office/drawing/2014/main" id="{5C7320C0-6B5E-DE19-5105-FA25D67A27D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71E3D8F-769C-57BA-77BE-3967D0D5D505}"/>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295016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54AF9-8B14-CB18-37C9-5E5A3756DFAF}"/>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C8517F1-3DDA-F492-DD6A-F5E6ED740E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918D7148-5834-7FE4-476E-012B32B8FA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A7848F3F-5A8D-9613-09D1-D0764A14F6EC}"/>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6" name="Footer Placeholder 5">
            <a:extLst>
              <a:ext uri="{FF2B5EF4-FFF2-40B4-BE49-F238E27FC236}">
                <a16:creationId xmlns:a16="http://schemas.microsoft.com/office/drawing/2014/main" id="{1430C7A1-9BEE-389B-53A8-A28464B1F29D}"/>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9AFD36D-988F-E91D-238E-B4A46CCDF270}"/>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3443469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3F07E-82F7-4892-9795-C37A1409B56D}"/>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21E64332-9CA5-03FF-DFA8-45663E31A6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9F6C5A-E477-7C2F-3D40-E27DC57B4A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201B3A2-FD94-95D1-0273-3C6CDFAB0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172D15-ADCC-6976-21DB-FA7486F109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8B758604-E25C-D00B-3450-8237370B7FF4}"/>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8" name="Footer Placeholder 7">
            <a:extLst>
              <a:ext uri="{FF2B5EF4-FFF2-40B4-BE49-F238E27FC236}">
                <a16:creationId xmlns:a16="http://schemas.microsoft.com/office/drawing/2014/main" id="{615806BC-551C-4153-A836-CA85A171F939}"/>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E1F78FA5-3951-EBE7-EE2A-8793B209CA20}"/>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2563793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D564D-6A93-461E-16C7-2380D2F38D0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84D0D0BD-2138-F146-72E3-0D210FA7E756}"/>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4" name="Footer Placeholder 3">
            <a:extLst>
              <a:ext uri="{FF2B5EF4-FFF2-40B4-BE49-F238E27FC236}">
                <a16:creationId xmlns:a16="http://schemas.microsoft.com/office/drawing/2014/main" id="{F0EED27E-A6A4-FCE7-2EDA-971E3C9170A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D24ED67E-B52F-E138-E7F2-16E653636DDD}"/>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1423161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FDC6F8-DA7C-972B-51D2-D3C0879856E2}"/>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3" name="Footer Placeholder 2">
            <a:extLst>
              <a:ext uri="{FF2B5EF4-FFF2-40B4-BE49-F238E27FC236}">
                <a16:creationId xmlns:a16="http://schemas.microsoft.com/office/drawing/2014/main" id="{335EDE52-3D2F-29C6-39BF-5029A37DC130}"/>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C6A57149-5D8C-3994-F635-C72934B26D4B}"/>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284677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09565-81B5-EA1C-A165-1A678F99A3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26DD770C-BBFC-9E42-E395-DF87F76AB8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1EBDF0ED-36B5-ED08-C58B-77E99EAC1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26DB74-457F-EB44-130F-8C9BA64BD159}"/>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6" name="Footer Placeholder 5">
            <a:extLst>
              <a:ext uri="{FF2B5EF4-FFF2-40B4-BE49-F238E27FC236}">
                <a16:creationId xmlns:a16="http://schemas.microsoft.com/office/drawing/2014/main" id="{97098773-CE2B-8F5E-4A9B-B4E2287FE64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FF0D3F1-238B-D686-B71F-13FDAAF4E8D0}"/>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655961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B7DF3-E198-620E-D586-C5D27A62D7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1A1AC654-E1CC-3D01-2BFD-11402B7815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51098331-C0BC-5DA2-17A2-7BD986062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37D663-A6E5-A0ED-FF6C-524C5E9F32DF}"/>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6" name="Footer Placeholder 5">
            <a:extLst>
              <a:ext uri="{FF2B5EF4-FFF2-40B4-BE49-F238E27FC236}">
                <a16:creationId xmlns:a16="http://schemas.microsoft.com/office/drawing/2014/main" id="{C5292FAA-4854-DAA9-EDF8-39EB548724CC}"/>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9077775-2E9B-C09C-464A-937FAAE6083E}"/>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2942648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A855-7D01-9F8F-05A2-004142F88B56}"/>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737A1CB-117B-D8EE-7AAB-4E91FC8B3D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A4919CF-3118-7026-9B54-1ADD4536A191}"/>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5" name="Footer Placeholder 4">
            <a:extLst>
              <a:ext uri="{FF2B5EF4-FFF2-40B4-BE49-F238E27FC236}">
                <a16:creationId xmlns:a16="http://schemas.microsoft.com/office/drawing/2014/main" id="{FAFDD2FD-9A76-C169-7EA0-BEEA959593A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8A8B7AA-E088-273E-D4A6-5D838BAF2C14}"/>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2179129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7BB82A-FD08-56A9-9ABF-930C29CE96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7EEAC42-1DE4-AE6A-2CD2-FC74C6ED4E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24AB272-1815-29E7-EE7D-6D2264A24A01}"/>
              </a:ext>
            </a:extLst>
          </p:cNvPr>
          <p:cNvSpPr>
            <a:spLocks noGrp="1"/>
          </p:cNvSpPr>
          <p:nvPr>
            <p:ph type="dt" sz="half" idx="10"/>
          </p:nvPr>
        </p:nvSpPr>
        <p:spPr/>
        <p:txBody>
          <a:bodyPr/>
          <a:lstStyle/>
          <a:p>
            <a:fld id="{C6922399-6AB7-474A-8FAA-34935312E41B}" type="datetimeFigureOut">
              <a:rPr lang="en-ZA" smtClean="0"/>
              <a:t>2026/03/10</a:t>
            </a:fld>
            <a:endParaRPr lang="en-ZA"/>
          </a:p>
        </p:txBody>
      </p:sp>
      <p:sp>
        <p:nvSpPr>
          <p:cNvPr id="5" name="Footer Placeholder 4">
            <a:extLst>
              <a:ext uri="{FF2B5EF4-FFF2-40B4-BE49-F238E27FC236}">
                <a16:creationId xmlns:a16="http://schemas.microsoft.com/office/drawing/2014/main" id="{6D0C5342-B827-C5EE-DBB7-A0E41920C68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1A547DC-783D-2F2E-9EBB-36DE84E82D1E}"/>
              </a:ext>
            </a:extLst>
          </p:cNvPr>
          <p:cNvSpPr>
            <a:spLocks noGrp="1"/>
          </p:cNvSpPr>
          <p:nvPr>
            <p:ph type="sldNum" sz="quarter" idx="12"/>
          </p:nvPr>
        </p:nvSpPr>
        <p:spPr/>
        <p:txBody>
          <a:bodyPr/>
          <a:lstStyle/>
          <a:p>
            <a:fld id="{30B62B7A-64B6-402F-A174-C9FACEFE790D}" type="slidenum">
              <a:rPr lang="en-ZA" smtClean="0"/>
              <a:t>‹#›</a:t>
            </a:fld>
            <a:endParaRPr lang="en-ZA"/>
          </a:p>
        </p:txBody>
      </p:sp>
    </p:spTree>
    <p:extLst>
      <p:ext uri="{BB962C8B-B14F-4D97-AF65-F5344CB8AC3E}">
        <p14:creationId xmlns:p14="http://schemas.microsoft.com/office/powerpoint/2010/main" val="4154026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57400-84F8-F1AB-702B-9884AB82BB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5C67483-D643-3D8B-D489-24400E8A6F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6A46D47-A85B-1836-2018-96B9CD47F8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922399-6AB7-474A-8FAA-34935312E41B}" type="datetimeFigureOut">
              <a:rPr lang="en-ZA" smtClean="0"/>
              <a:t>2026/03/10</a:t>
            </a:fld>
            <a:endParaRPr lang="en-ZA"/>
          </a:p>
        </p:txBody>
      </p:sp>
      <p:sp>
        <p:nvSpPr>
          <p:cNvPr id="5" name="Footer Placeholder 4">
            <a:extLst>
              <a:ext uri="{FF2B5EF4-FFF2-40B4-BE49-F238E27FC236}">
                <a16:creationId xmlns:a16="http://schemas.microsoft.com/office/drawing/2014/main" id="{AA58D17D-D4CE-E16C-2302-FCAC600318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8DCCB64A-8A7D-D493-ADBF-0C186DA708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B62B7A-64B6-402F-A174-C9FACEFE790D}" type="slidenum">
              <a:rPr lang="en-ZA" smtClean="0"/>
              <a:t>‹#›</a:t>
            </a:fld>
            <a:endParaRPr lang="en-ZA"/>
          </a:p>
        </p:txBody>
      </p:sp>
    </p:spTree>
    <p:extLst>
      <p:ext uri="{BB962C8B-B14F-4D97-AF65-F5344CB8AC3E}">
        <p14:creationId xmlns:p14="http://schemas.microsoft.com/office/powerpoint/2010/main" val="18259619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publicdomainpictures.net/en/view-image.php?image=159870&amp;picture=background-wallpaper"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1739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B5DB5CE-1FBD-FA0B-37F5-9D37E86691BB}"/>
              </a:ext>
            </a:extLst>
          </p:cNvPr>
          <p:cNvSpPr>
            <a:spLocks noGrp="1"/>
          </p:cNvSpPr>
          <p:nvPr>
            <p:ph type="title"/>
          </p:nvPr>
        </p:nvSpPr>
        <p:spPr>
          <a:xfrm>
            <a:off x="640080" y="2074363"/>
            <a:ext cx="2752354" cy="2709275"/>
          </a:xfrm>
          <a:prstGeom prst="ellipse">
            <a:avLst/>
          </a:prstGeom>
          <a:solidFill>
            <a:schemeClr val="bg1"/>
          </a:solidFill>
          <a:ln w="174625" cmpd="thinThick">
            <a:solidFill>
              <a:srgbClr val="DFAC13"/>
            </a:solidFill>
          </a:ln>
        </p:spPr>
        <p:txBody>
          <a:bodyPr vert="horz" lIns="91440" tIns="45720" rIns="91440" bIns="45720" rtlCol="0" anchor="ctr">
            <a:normAutofit/>
          </a:bodyPr>
          <a:lstStyle/>
          <a:p>
            <a:pPr algn="ctr"/>
            <a:endParaRPr lang="en-US" sz="2600" kern="1200" dirty="0">
              <a:solidFill>
                <a:srgbClr val="FFFFFF"/>
              </a:solidFill>
              <a:latin typeface="+mj-lt"/>
              <a:ea typeface="+mj-ea"/>
              <a:cs typeface="+mj-cs"/>
            </a:endParaRPr>
          </a:p>
        </p:txBody>
      </p:sp>
      <p:pic>
        <p:nvPicPr>
          <p:cNvPr id="5" name="Content Placeholder 4" descr="A close-up of a logo&#10;&#10;Description automatically generated">
            <a:extLst>
              <a:ext uri="{FF2B5EF4-FFF2-40B4-BE49-F238E27FC236}">
                <a16:creationId xmlns:a16="http://schemas.microsoft.com/office/drawing/2014/main" id="{D3E435E9-8C7F-9896-041C-2F76CF83D1E7}"/>
              </a:ext>
            </a:extLst>
          </p:cNvPr>
          <p:cNvPicPr>
            <a:picLocks noGrp="1" noChangeAspect="1"/>
          </p:cNvPicPr>
          <p:nvPr>
            <p:ph idx="1"/>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9784" y="2725271"/>
            <a:ext cx="2069790" cy="1407457"/>
          </a:xfrm>
          <a:prstGeom prst="rect">
            <a:avLst/>
          </a:prstGeom>
        </p:spPr>
      </p:pic>
      <p:sp>
        <p:nvSpPr>
          <p:cNvPr id="3" name="TextBox 2">
            <a:extLst>
              <a:ext uri="{FF2B5EF4-FFF2-40B4-BE49-F238E27FC236}">
                <a16:creationId xmlns:a16="http://schemas.microsoft.com/office/drawing/2014/main" id="{BE68CB59-0164-CBDE-E17F-7DE2B8DEE092}"/>
              </a:ext>
            </a:extLst>
          </p:cNvPr>
          <p:cNvSpPr txBox="1"/>
          <p:nvPr/>
        </p:nvSpPr>
        <p:spPr>
          <a:xfrm>
            <a:off x="4000425" y="690549"/>
            <a:ext cx="7439100" cy="804772"/>
          </a:xfrm>
          <a:prstGeom prst="rect">
            <a:avLst/>
          </a:prstGeom>
          <a:noFill/>
        </p:spPr>
        <p:txBody>
          <a:bodyPr wrap="square" rtlCol="0">
            <a:spAutoFit/>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ZA" sz="4400" b="1" i="0" u="none" strike="noStrike" kern="1200" cap="none" spc="0" normalizeH="0" baseline="0" noProof="0" dirty="0">
                <a:ln>
                  <a:noFill/>
                </a:ln>
                <a:solidFill>
                  <a:srgbClr val="0D0D0D"/>
                </a:solidFill>
                <a:effectLst/>
                <a:highlight>
                  <a:srgbClr val="FFFFFF"/>
                </a:highlight>
                <a:uLnTx/>
                <a:uFillTx/>
                <a:latin typeface="Arial" panose="020B0604020202020204" pitchFamily="34" charset="0"/>
                <a:ea typeface="Calibri" panose="020F0502020204030204" pitchFamily="34" charset="0"/>
                <a:cs typeface="Arial" panose="020B0604020202020204" pitchFamily="34" charset="0"/>
              </a:rPr>
              <a:t> </a:t>
            </a:r>
            <a:endParaRPr kumimoji="0" lang="en-ZA" sz="4400" b="0" i="0" u="none" strike="noStrike" kern="1200" cap="none" spc="0" normalizeH="0" baseline="0" noProof="0" dirty="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C419BFA4-EB31-9629-34C2-D5D40F898F2E}"/>
              </a:ext>
            </a:extLst>
          </p:cNvPr>
          <p:cNvSpPr txBox="1"/>
          <p:nvPr/>
        </p:nvSpPr>
        <p:spPr>
          <a:xfrm>
            <a:off x="3833277" y="2791665"/>
            <a:ext cx="725152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ITC Kabel Std Book" panose="020D0402020204020904" pitchFamily="34" charset="0"/>
                <a:ea typeface="+mn-ea"/>
                <a:cs typeface="Arial" panose="020B0604020202020204" pitchFamily="34" charset="0"/>
              </a:rPr>
              <a:t>English HL 2026</a:t>
            </a:r>
          </a:p>
        </p:txBody>
      </p:sp>
      <p:sp>
        <p:nvSpPr>
          <p:cNvPr id="8" name="TextBox 7">
            <a:extLst>
              <a:ext uri="{FF2B5EF4-FFF2-40B4-BE49-F238E27FC236}">
                <a16:creationId xmlns:a16="http://schemas.microsoft.com/office/drawing/2014/main" id="{5B72A0DB-4991-A70F-A857-E33FD9559A8D}"/>
              </a:ext>
            </a:extLst>
          </p:cNvPr>
          <p:cNvSpPr txBox="1"/>
          <p:nvPr/>
        </p:nvSpPr>
        <p:spPr>
          <a:xfrm>
            <a:off x="4575359" y="5135190"/>
            <a:ext cx="6509442"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Mr Peter Ruddock</a:t>
            </a:r>
            <a:endParaRPr kumimoji="0" lang="en-ZA" sz="3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9" name="TextBox 8">
            <a:extLst>
              <a:ext uri="{FF2B5EF4-FFF2-40B4-BE49-F238E27FC236}">
                <a16:creationId xmlns:a16="http://schemas.microsoft.com/office/drawing/2014/main" id="{738F5B1C-DBD8-978F-0D62-9E255B898B03}"/>
              </a:ext>
            </a:extLst>
          </p:cNvPr>
          <p:cNvSpPr txBox="1"/>
          <p:nvPr/>
        </p:nvSpPr>
        <p:spPr>
          <a:xfrm>
            <a:off x="4465254" y="5767341"/>
            <a:ext cx="6509442"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ZA"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ruddockp@ieb.co.za</a:t>
            </a:r>
          </a:p>
        </p:txBody>
      </p:sp>
    </p:spTree>
    <p:extLst>
      <p:ext uri="{BB962C8B-B14F-4D97-AF65-F5344CB8AC3E}">
        <p14:creationId xmlns:p14="http://schemas.microsoft.com/office/powerpoint/2010/main" val="1680441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AC6EA-ED76-B69F-51E8-E33236D58C52}"/>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925889A9-28F9-C5C3-D93F-4A6BD9E5C87A}"/>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762890" y="398991"/>
            <a:ext cx="8380177" cy="5599481"/>
          </a:xfrm>
        </p:spPr>
      </p:pic>
    </p:spTree>
    <p:extLst>
      <p:ext uri="{BB962C8B-B14F-4D97-AF65-F5344CB8AC3E}">
        <p14:creationId xmlns:p14="http://schemas.microsoft.com/office/powerpoint/2010/main" val="509108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570E-B162-B4C7-5722-8DEA906C83FD}"/>
              </a:ext>
            </a:extLst>
          </p:cNvPr>
          <p:cNvSpPr>
            <a:spLocks noGrp="1"/>
          </p:cNvSpPr>
          <p:nvPr>
            <p:ph type="title"/>
          </p:nvPr>
        </p:nvSpPr>
        <p:spPr>
          <a:xfrm>
            <a:off x="838200" y="365125"/>
            <a:ext cx="10515600" cy="1325563"/>
          </a:xfrm>
        </p:spPr>
        <p:txBody>
          <a:bodyPr anchor="ctr">
            <a:normAutofit/>
          </a:bodyPr>
          <a:lstStyle/>
          <a:p>
            <a:pPr algn="ctr"/>
            <a:r>
              <a:rPr lang="en-ZA" dirty="0"/>
              <a:t>Marking and Examining</a:t>
            </a:r>
          </a:p>
        </p:txBody>
      </p:sp>
      <p:pic>
        <p:nvPicPr>
          <p:cNvPr id="5" name="Content Placeholder 4">
            <a:extLst>
              <a:ext uri="{FF2B5EF4-FFF2-40B4-BE49-F238E27FC236}">
                <a16:creationId xmlns:a16="http://schemas.microsoft.com/office/drawing/2014/main" id="{141150AE-776D-3A61-5F53-94F8CE1E1DE5}"/>
              </a:ext>
            </a:extLst>
          </p:cNvPr>
          <p:cNvPicPr>
            <a:picLocks noGrp="1" noChangeAspect="1"/>
          </p:cNvPicPr>
          <p:nvPr>
            <p:ph idx="1"/>
          </p:nvPr>
        </p:nvPicPr>
        <p:blipFill>
          <a:blip r:embed="rId2"/>
          <a:srcRect t="24156" b="9900"/>
          <a:stretch>
            <a:fillRect/>
          </a:stretch>
        </p:blipFill>
        <p:spPr>
          <a:xfrm>
            <a:off x="838200" y="1690688"/>
            <a:ext cx="10515600" cy="4351338"/>
          </a:xfrm>
          <a:prstGeom prst="rect">
            <a:avLst/>
          </a:prstGeom>
          <a:noFill/>
        </p:spPr>
      </p:pic>
    </p:spTree>
    <p:extLst>
      <p:ext uri="{BB962C8B-B14F-4D97-AF65-F5344CB8AC3E}">
        <p14:creationId xmlns:p14="http://schemas.microsoft.com/office/powerpoint/2010/main" val="3636140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BA29B-5EB6-D297-3EF7-756EB3172260}"/>
              </a:ext>
            </a:extLst>
          </p:cNvPr>
          <p:cNvSpPr>
            <a:spLocks noGrp="1"/>
          </p:cNvSpPr>
          <p:nvPr>
            <p:ph type="title"/>
          </p:nvPr>
        </p:nvSpPr>
        <p:spPr>
          <a:xfrm>
            <a:off x="723900" y="0"/>
            <a:ext cx="10515600" cy="1325563"/>
          </a:xfrm>
        </p:spPr>
        <p:txBody>
          <a:bodyPr/>
          <a:lstStyle/>
          <a:p>
            <a:r>
              <a:rPr lang="en-ZA" b="1" dirty="0">
                <a:latin typeface="+mj-lt"/>
              </a:rPr>
              <a:t>Communication Channels</a:t>
            </a:r>
            <a:endParaRPr lang="en-ZA" dirty="0">
              <a:latin typeface="+mj-lt"/>
            </a:endParaRPr>
          </a:p>
        </p:txBody>
      </p:sp>
      <p:graphicFrame>
        <p:nvGraphicFramePr>
          <p:cNvPr id="5" name="Diagram 4">
            <a:extLst>
              <a:ext uri="{FF2B5EF4-FFF2-40B4-BE49-F238E27FC236}">
                <a16:creationId xmlns:a16="http://schemas.microsoft.com/office/drawing/2014/main" id="{935BB3BD-1E61-2F0B-C87D-D5EAD1649E5D}"/>
              </a:ext>
            </a:extLst>
          </p:cNvPr>
          <p:cNvGraphicFramePr/>
          <p:nvPr/>
        </p:nvGraphicFramePr>
        <p:xfrm>
          <a:off x="550069" y="1500189"/>
          <a:ext cx="11365706" cy="44076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851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3688662-CB84-D474-3C30-675235DC2BE2}"/>
              </a:ext>
            </a:extLst>
          </p:cNvPr>
          <p:cNvPicPr>
            <a:picLocks noGrp="1" noChangeAspect="1"/>
          </p:cNvPicPr>
          <p:nvPr>
            <p:ph idx="1"/>
          </p:nvPr>
        </p:nvPicPr>
        <p:blipFill>
          <a:blip r:embed="rId2"/>
          <a:stretch>
            <a:fillRect/>
          </a:stretch>
        </p:blipFill>
        <p:spPr>
          <a:xfrm>
            <a:off x="1928268" y="121425"/>
            <a:ext cx="8335464" cy="6084887"/>
          </a:xfrm>
          <a:prstGeom prst="rect">
            <a:avLst/>
          </a:prstGeom>
          <a:noFill/>
        </p:spPr>
      </p:pic>
    </p:spTree>
    <p:extLst>
      <p:ext uri="{BB962C8B-B14F-4D97-AF65-F5344CB8AC3E}">
        <p14:creationId xmlns:p14="http://schemas.microsoft.com/office/powerpoint/2010/main" val="3470679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E6A82-FB16-E86B-8CCE-5766EE37895A}"/>
              </a:ext>
            </a:extLst>
          </p:cNvPr>
          <p:cNvSpPr>
            <a:spLocks noGrp="1"/>
          </p:cNvSpPr>
          <p:nvPr>
            <p:ph type="title"/>
          </p:nvPr>
        </p:nvSpPr>
        <p:spPr/>
        <p:txBody>
          <a:bodyPr/>
          <a:lstStyle/>
          <a:p>
            <a:pPr algn="ctr"/>
            <a:r>
              <a:rPr lang="en-ZA" dirty="0"/>
              <a:t>SAGs changes</a:t>
            </a:r>
          </a:p>
        </p:txBody>
      </p:sp>
      <p:sp>
        <p:nvSpPr>
          <p:cNvPr id="3" name="Content Placeholder 2">
            <a:extLst>
              <a:ext uri="{FF2B5EF4-FFF2-40B4-BE49-F238E27FC236}">
                <a16:creationId xmlns:a16="http://schemas.microsoft.com/office/drawing/2014/main" id="{0ECA89B0-DDFF-751C-B988-6B6D4CD0CA65}"/>
              </a:ext>
            </a:extLst>
          </p:cNvPr>
          <p:cNvSpPr>
            <a:spLocks noGrp="1"/>
          </p:cNvSpPr>
          <p:nvPr>
            <p:ph idx="1"/>
          </p:nvPr>
        </p:nvSpPr>
        <p:spPr/>
        <p:txBody>
          <a:bodyPr/>
          <a:lstStyle/>
          <a:p>
            <a:r>
              <a:rPr lang="en-ZA" dirty="0"/>
              <a:t>Section A and Section B replaced by writing process task</a:t>
            </a:r>
          </a:p>
          <a:p>
            <a:r>
              <a:rPr lang="en-ZA" dirty="0"/>
              <a:t>Revised SBA coversheets and moderation tools</a:t>
            </a:r>
          </a:p>
          <a:p>
            <a:r>
              <a:rPr lang="en-ZA" dirty="0"/>
              <a:t>Summary rubric: removed half marks</a:t>
            </a:r>
          </a:p>
          <a:p>
            <a:r>
              <a:rPr lang="en-ZA" dirty="0"/>
              <a:t>Prepared Speech rubric</a:t>
            </a:r>
          </a:p>
          <a:p>
            <a:r>
              <a:rPr lang="en-ZA" dirty="0"/>
              <a:t>Writing rubric</a:t>
            </a:r>
          </a:p>
          <a:p>
            <a:r>
              <a:rPr lang="en-ZA" dirty="0" err="1"/>
              <a:t>Gumph</a:t>
            </a:r>
            <a:r>
              <a:rPr lang="en-ZA" dirty="0"/>
              <a:t> extraction</a:t>
            </a:r>
          </a:p>
        </p:txBody>
      </p:sp>
    </p:spTree>
    <p:extLst>
      <p:ext uri="{BB962C8B-B14F-4D97-AF65-F5344CB8AC3E}">
        <p14:creationId xmlns:p14="http://schemas.microsoft.com/office/powerpoint/2010/main" val="144143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C3D572-504A-60D0-4228-07141BEA812A}"/>
              </a:ext>
            </a:extLst>
          </p:cNvPr>
          <p:cNvSpPr>
            <a:spLocks noGrp="1"/>
          </p:cNvSpPr>
          <p:nvPr>
            <p:ph idx="1"/>
          </p:nvPr>
        </p:nvSpPr>
        <p:spPr>
          <a:xfrm>
            <a:off x="2480734" y="5367867"/>
            <a:ext cx="6900333" cy="474133"/>
          </a:xfrm>
        </p:spPr>
        <p:txBody>
          <a:bodyPr>
            <a:normAutofit lnSpcReduction="10000"/>
          </a:bodyPr>
          <a:lstStyle/>
          <a:p>
            <a:pPr marL="0" indent="0" algn="ctr">
              <a:buNone/>
            </a:pPr>
            <a:r>
              <a:rPr lang="en-ZA" dirty="0"/>
              <a:t>https://forms.office.com/r/GtZ30XRHzK</a:t>
            </a:r>
          </a:p>
        </p:txBody>
      </p:sp>
      <p:pic>
        <p:nvPicPr>
          <p:cNvPr id="6" name="Picture 5">
            <a:extLst>
              <a:ext uri="{FF2B5EF4-FFF2-40B4-BE49-F238E27FC236}">
                <a16:creationId xmlns:a16="http://schemas.microsoft.com/office/drawing/2014/main" id="{EF3BC4E9-F614-44FF-581C-BDE3F3E2D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2067" y="474133"/>
            <a:ext cx="4614333" cy="4614333"/>
          </a:xfrm>
          <a:prstGeom prst="rect">
            <a:avLst/>
          </a:prstGeom>
        </p:spPr>
      </p:pic>
    </p:spTree>
    <p:extLst>
      <p:ext uri="{BB962C8B-B14F-4D97-AF65-F5344CB8AC3E}">
        <p14:creationId xmlns:p14="http://schemas.microsoft.com/office/powerpoint/2010/main" val="3876554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20137-A98B-1079-97C5-D946D4FAF5E6}"/>
              </a:ext>
            </a:extLst>
          </p:cNvPr>
          <p:cNvSpPr>
            <a:spLocks noGrp="1"/>
          </p:cNvSpPr>
          <p:nvPr>
            <p:ph type="title"/>
          </p:nvPr>
        </p:nvSpPr>
        <p:spPr/>
        <p:txBody>
          <a:bodyPr/>
          <a:lstStyle/>
          <a:p>
            <a:pPr algn="ctr"/>
            <a:r>
              <a:rPr lang="en-ZA" dirty="0"/>
              <a:t>Workshops</a:t>
            </a:r>
          </a:p>
        </p:txBody>
      </p:sp>
      <p:sp>
        <p:nvSpPr>
          <p:cNvPr id="3" name="Content Placeholder 2">
            <a:extLst>
              <a:ext uri="{FF2B5EF4-FFF2-40B4-BE49-F238E27FC236}">
                <a16:creationId xmlns:a16="http://schemas.microsoft.com/office/drawing/2014/main" id="{C0E43945-A1FC-87B7-2D9B-BD10E4D28D45}"/>
              </a:ext>
            </a:extLst>
          </p:cNvPr>
          <p:cNvSpPr>
            <a:spLocks noGrp="1"/>
          </p:cNvSpPr>
          <p:nvPr>
            <p:ph idx="1"/>
          </p:nvPr>
        </p:nvSpPr>
        <p:spPr/>
        <p:txBody>
          <a:bodyPr/>
          <a:lstStyle/>
          <a:p>
            <a:r>
              <a:rPr lang="en-ZA" dirty="0"/>
              <a:t>Curiosity</a:t>
            </a:r>
          </a:p>
          <a:p>
            <a:r>
              <a:rPr lang="en-ZA" dirty="0"/>
              <a:t>Creative Thinking</a:t>
            </a:r>
          </a:p>
          <a:p>
            <a:r>
              <a:rPr lang="en-ZA" dirty="0"/>
              <a:t>Writing Process Task</a:t>
            </a:r>
          </a:p>
          <a:p>
            <a:r>
              <a:rPr lang="en-ZA" dirty="0"/>
              <a:t>QSBs - Poetry</a:t>
            </a:r>
          </a:p>
        </p:txBody>
      </p:sp>
    </p:spTree>
    <p:extLst>
      <p:ext uri="{BB962C8B-B14F-4D97-AF65-F5344CB8AC3E}">
        <p14:creationId xmlns:p14="http://schemas.microsoft.com/office/powerpoint/2010/main" val="304436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6BC0EE-A115-5152-A988-106D3A6D25AD}"/>
              </a:ext>
            </a:extLst>
          </p:cNvPr>
          <p:cNvPicPr>
            <a:picLocks noGrp="1" noChangeAspect="1"/>
          </p:cNvPicPr>
          <p:nvPr>
            <p:ph idx="1"/>
          </p:nvPr>
        </p:nvPicPr>
        <p:blipFill>
          <a:blip r:embed="rId3"/>
          <a:srcRect t="56657" r="-1" b="15722"/>
          <a:stretch>
            <a:fillRect/>
          </a:stretch>
        </p:blipFill>
        <p:spPr>
          <a:xfrm>
            <a:off x="838200" y="1905070"/>
            <a:ext cx="10515600" cy="4351338"/>
          </a:xfrm>
          <a:prstGeom prst="rect">
            <a:avLst/>
          </a:prstGeom>
          <a:noFill/>
        </p:spPr>
      </p:pic>
      <p:sp>
        <p:nvSpPr>
          <p:cNvPr id="5" name="Rectangle 4">
            <a:extLst>
              <a:ext uri="{FF2B5EF4-FFF2-40B4-BE49-F238E27FC236}">
                <a16:creationId xmlns:a16="http://schemas.microsoft.com/office/drawing/2014/main" id="{F490D44C-07F3-C7A0-8BA4-E9D4A0B0E6C0}"/>
              </a:ext>
            </a:extLst>
          </p:cNvPr>
          <p:cNvSpPr/>
          <p:nvPr/>
        </p:nvSpPr>
        <p:spPr>
          <a:xfrm>
            <a:off x="-271462" y="150744"/>
            <a:ext cx="12198445" cy="1754326"/>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w="12700">
                  <a:solidFill>
                    <a:srgbClr val="A02B93"/>
                  </a:solidFill>
                  <a:prstDash val="solid"/>
                </a:ln>
                <a:pattFill prst="ltDnDiag">
                  <a:fgClr>
                    <a:srgbClr val="FFFF00"/>
                  </a:fgClr>
                  <a:bgClr>
                    <a:prstClr val="white"/>
                  </a:bgClr>
                </a:pattFill>
                <a:effectLst/>
                <a:uLnTx/>
                <a:uFillTx/>
                <a:latin typeface="Aptos" panose="02110004020202020204"/>
                <a:ea typeface="+mn-ea"/>
                <a:cs typeface="+mn-cs"/>
              </a:rPr>
              <a:t>AND NOW FOR SOMETHING COMPLETELY DIFFERENT…</a:t>
            </a:r>
            <a:endParaRPr kumimoji="0" lang="en-ZA" sz="5400" b="1" i="0" u="none" strike="noStrike" kern="1200" cap="none" spc="0" normalizeH="0" baseline="0" noProof="0" dirty="0">
              <a:ln w="12700">
                <a:solidFill>
                  <a:srgbClr val="A02B93"/>
                </a:solidFill>
                <a:prstDash val="solid"/>
              </a:ln>
              <a:pattFill prst="ltDnDiag">
                <a:fgClr>
                  <a:srgbClr val="FFFF00"/>
                </a:fgClr>
                <a:bgClr>
                  <a:prstClr val="white"/>
                </a:bgClr>
              </a:pattFill>
              <a:effectLst/>
              <a:uLnTx/>
              <a:uFillTx/>
              <a:latin typeface="Aptos" panose="02110004020202020204"/>
              <a:ea typeface="+mn-ea"/>
              <a:cs typeface="+mn-cs"/>
            </a:endParaRPr>
          </a:p>
        </p:txBody>
      </p:sp>
      <p:sp>
        <p:nvSpPr>
          <p:cNvPr id="7" name="Title 6">
            <a:extLst>
              <a:ext uri="{FF2B5EF4-FFF2-40B4-BE49-F238E27FC236}">
                <a16:creationId xmlns:a16="http://schemas.microsoft.com/office/drawing/2014/main" id="{C053DDD5-65FC-9CCD-87B2-16972ACE8CEB}"/>
              </a:ext>
            </a:extLst>
          </p:cNvPr>
          <p:cNvSpPr>
            <a:spLocks noGrp="1"/>
          </p:cNvSpPr>
          <p:nvPr>
            <p:ph type="title"/>
          </p:nvPr>
        </p:nvSpPr>
        <p:spPr>
          <a:xfrm>
            <a:off x="838200" y="172969"/>
            <a:ext cx="10515600" cy="1325563"/>
          </a:xfrm>
        </p:spPr>
        <p:txBody>
          <a:bodyPr/>
          <a:lstStyle/>
          <a:p>
            <a:endParaRPr lang="en-ZA" dirty="0"/>
          </a:p>
        </p:txBody>
      </p:sp>
    </p:spTree>
    <p:extLst>
      <p:ext uri="{BB962C8B-B14F-4D97-AF65-F5344CB8AC3E}">
        <p14:creationId xmlns:p14="http://schemas.microsoft.com/office/powerpoint/2010/main" val="994774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E54F-52B9-A82C-26C2-7152E9E512EB}"/>
            </a:ext>
          </a:extLst>
        </p:cNvPr>
        <p:cNvGrpSpPr/>
        <p:nvPr/>
      </p:nvGrpSpPr>
      <p:grpSpPr>
        <a:xfrm>
          <a:off x="0" y="0"/>
          <a:ext cx="0" cy="0"/>
          <a:chOff x="0" y="0"/>
          <a:chExt cx="0" cy="0"/>
        </a:xfrm>
      </p:grpSpPr>
      <p:pic>
        <p:nvPicPr>
          <p:cNvPr id="10242" name="Picture 2" descr="Happy teacher and schoolgirl giving high five during class at school. Happy elementary school teacher giving high-five to her student during class in the classroom. teacher stock pictures, royalty-free photos &amp; images">
            <a:extLst>
              <a:ext uri="{FF2B5EF4-FFF2-40B4-BE49-F238E27FC236}">
                <a16:creationId xmlns:a16="http://schemas.microsoft.com/office/drawing/2014/main" id="{B0C2A211-3AD3-8583-98C9-0CE9A3635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294" r="13668" b="-1"/>
          <a:stretch>
            <a:fillRect/>
          </a:stretch>
        </p:blipFill>
        <p:spPr bwMode="auto">
          <a:xfrm>
            <a:off x="6229208" y="0"/>
            <a:ext cx="5962793" cy="685800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6C117567-E7A2-F2C3-3310-488AA7DB6AAD}"/>
              </a:ext>
            </a:extLst>
          </p:cNvPr>
          <p:cNvSpPr>
            <a:spLocks noGrp="1"/>
          </p:cNvSpPr>
          <p:nvPr>
            <p:ph type="title"/>
          </p:nvPr>
        </p:nvSpPr>
        <p:spPr>
          <a:xfrm>
            <a:off x="790719" y="203200"/>
            <a:ext cx="6010274" cy="1807305"/>
          </a:xfrm>
        </p:spPr>
        <p:txBody>
          <a:bodyPr vert="horz" lIns="91440" tIns="45720" rIns="91440" bIns="45720" rtlCol="0" anchor="ctr">
            <a:normAutofit/>
          </a:bodyPr>
          <a:lstStyle/>
          <a:p>
            <a:r>
              <a:rPr lang="en-US" dirty="0">
                <a:latin typeface="ITC Kabel Std Book" panose="020D0402020204020904" pitchFamily="34" charset="0"/>
              </a:rPr>
              <a:t>The Hidden Curriculum</a:t>
            </a:r>
          </a:p>
        </p:txBody>
      </p:sp>
      <p:sp>
        <p:nvSpPr>
          <p:cNvPr id="5" name="Content Placeholder 2">
            <a:extLst>
              <a:ext uri="{FF2B5EF4-FFF2-40B4-BE49-F238E27FC236}">
                <a16:creationId xmlns:a16="http://schemas.microsoft.com/office/drawing/2014/main" id="{020C6DCD-23D9-84E4-B28B-F7D414D4C77F}"/>
              </a:ext>
            </a:extLst>
          </p:cNvPr>
          <p:cNvSpPr>
            <a:spLocks noGrp="1"/>
          </p:cNvSpPr>
          <p:nvPr>
            <p:ph sz="half" idx="1"/>
          </p:nvPr>
        </p:nvSpPr>
        <p:spPr>
          <a:xfrm>
            <a:off x="1104615" y="1899380"/>
            <a:ext cx="5124593" cy="3963258"/>
          </a:xfrm>
        </p:spPr>
        <p:txBody>
          <a:bodyPr vert="horz" lIns="91440" tIns="45720" rIns="91440" bIns="45720" rtlCol="0">
            <a:normAutofit lnSpcReduction="10000"/>
          </a:bodyPr>
          <a:lstStyle/>
          <a:p>
            <a:pPr marL="0" indent="0">
              <a:buNone/>
            </a:pPr>
            <a:r>
              <a:rPr lang="en-US" sz="2400" dirty="0"/>
              <a:t>Every school has two curricula: the one in the policy documents, and the one embodied by the adults.</a:t>
            </a:r>
          </a:p>
          <a:p>
            <a:pPr marL="0"/>
            <a:endParaRPr lang="en-US" sz="2400" dirty="0"/>
          </a:p>
          <a:p>
            <a:pPr marL="0" indent="0">
              <a:buNone/>
            </a:pPr>
            <a:r>
              <a:rPr lang="en-US" sz="2400" dirty="0"/>
              <a:t>While curriculum tells us </a:t>
            </a:r>
            <a:r>
              <a:rPr lang="en-US" sz="2400" i="1" dirty="0"/>
              <a:t>what</a:t>
            </a:r>
            <a:r>
              <a:rPr lang="en-US" sz="2400" dirty="0"/>
              <a:t> we intend to teach, research consistently shows that students are most deeply formed by </a:t>
            </a:r>
            <a:r>
              <a:rPr lang="en-US" sz="2400" i="1" dirty="0"/>
              <a:t>what they experience repeatedly</a:t>
            </a:r>
            <a:r>
              <a:rPr lang="en-US" sz="2400" dirty="0"/>
              <a:t> — especially what adults model and what school structures reward.</a:t>
            </a:r>
          </a:p>
          <a:p>
            <a:pPr marL="0"/>
            <a:endParaRPr lang="en-US" sz="2000" dirty="0"/>
          </a:p>
          <a:p>
            <a:pPr marL="0"/>
            <a:endParaRPr lang="en-US" sz="2000" dirty="0"/>
          </a:p>
        </p:txBody>
      </p:sp>
    </p:spTree>
    <p:extLst>
      <p:ext uri="{BB962C8B-B14F-4D97-AF65-F5344CB8AC3E}">
        <p14:creationId xmlns:p14="http://schemas.microsoft.com/office/powerpoint/2010/main" val="4266509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32895-1CDA-FED2-6BDB-63F505CA357F}"/>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8B5CEED9-0AED-7709-A29A-97C9C72BB3EB}"/>
              </a:ext>
            </a:extLst>
          </p:cNvPr>
          <p:cNvSpPr>
            <a:spLocks noGrp="1"/>
          </p:cNvSpPr>
          <p:nvPr>
            <p:ph type="title"/>
          </p:nvPr>
        </p:nvSpPr>
        <p:spPr>
          <a:xfrm>
            <a:off x="844684" y="97704"/>
            <a:ext cx="5251316" cy="1807305"/>
          </a:xfrm>
        </p:spPr>
        <p:txBody>
          <a:bodyPr vert="horz" lIns="91440" tIns="45720" rIns="91440" bIns="45720" rtlCol="0" anchor="ctr">
            <a:normAutofit/>
          </a:bodyPr>
          <a:lstStyle/>
          <a:p>
            <a:pPr algn="ctr"/>
            <a:r>
              <a:rPr lang="en-US" dirty="0">
                <a:latin typeface="ITC Kabel Std Book" panose="020D0402020204020904" pitchFamily="34" charset="0"/>
              </a:rPr>
              <a:t>Social Learning Theory</a:t>
            </a:r>
          </a:p>
        </p:txBody>
      </p:sp>
      <p:sp>
        <p:nvSpPr>
          <p:cNvPr id="7" name="Content Placeholder 5">
            <a:extLst>
              <a:ext uri="{FF2B5EF4-FFF2-40B4-BE49-F238E27FC236}">
                <a16:creationId xmlns:a16="http://schemas.microsoft.com/office/drawing/2014/main" id="{BA1EE618-974C-2B5E-4F06-9FFB211DACCF}"/>
              </a:ext>
            </a:extLst>
          </p:cNvPr>
          <p:cNvSpPr txBox="1">
            <a:spLocks/>
          </p:cNvSpPr>
          <p:nvPr/>
        </p:nvSpPr>
        <p:spPr>
          <a:xfrm>
            <a:off x="844684" y="1574800"/>
            <a:ext cx="5391015" cy="4495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Professor Albert Bandura:</a:t>
            </a:r>
          </a:p>
          <a:p>
            <a:pPr marL="22860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Humans learn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behaviours</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attitudes, emotional responses, and norms primarily through observing others.</a:t>
            </a:r>
          </a:p>
          <a:p>
            <a:pPr marL="22860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Learning often occurs without direct instruction or reinforcement.</a:t>
            </a:r>
          </a:p>
          <a:p>
            <a:pPr marL="228600" marR="0" lvl="0" indent="-228600" algn="l" defTabSz="914400" rtl="0" eaLnBrk="1" fontAlgn="auto" latinLnBrk="0" hangingPunct="1">
              <a:lnSpc>
                <a:spcPct val="90000"/>
              </a:lnSpc>
              <a:spcBef>
                <a:spcPts val="1000"/>
              </a:spcBef>
              <a:spcAft>
                <a:spcPts val="12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Models with status, authority, or relational proximity are most influential.</a:t>
            </a:r>
          </a:p>
          <a:p>
            <a:pPr marL="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3074" name="Picture 2">
            <a:extLst>
              <a:ext uri="{FF2B5EF4-FFF2-40B4-BE49-F238E27FC236}">
                <a16:creationId xmlns:a16="http://schemas.microsoft.com/office/drawing/2014/main" id="{94555E3B-2D65-0EAE-6697-822D1CC4132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t="1902" r="-1" b="16873"/>
          <a:stretch>
            <a:fillRect/>
          </a:stretch>
        </p:blipFill>
        <p:spPr bwMode="auto">
          <a:xfrm>
            <a:off x="6229215" y="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738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1C1E0DA-67F1-BFC0-DFA9-69BAEBFA7882}"/>
              </a:ext>
            </a:extLst>
          </p:cNvPr>
          <p:cNvSpPr>
            <a:spLocks noGrp="1"/>
          </p:cNvSpPr>
          <p:nvPr>
            <p:ph type="title"/>
          </p:nvPr>
        </p:nvSpPr>
        <p:spPr>
          <a:xfrm>
            <a:off x="326524" y="186965"/>
            <a:ext cx="6257156" cy="1807305"/>
          </a:xfrm>
        </p:spPr>
        <p:txBody>
          <a:bodyPr vert="horz" lIns="91440" tIns="45720" rIns="91440" bIns="45720" rtlCol="0" anchor="ctr">
            <a:normAutofit/>
          </a:bodyPr>
          <a:lstStyle/>
          <a:p>
            <a:r>
              <a:rPr lang="en-US" dirty="0">
                <a:latin typeface="ITC Kabel Std Book" panose="020D0402020204020904" pitchFamily="34" charset="0"/>
              </a:rPr>
              <a:t>Anxiety: An Identity Issue</a:t>
            </a:r>
          </a:p>
        </p:txBody>
      </p:sp>
      <p:sp>
        <p:nvSpPr>
          <p:cNvPr id="5" name="Content Placeholder 2">
            <a:extLst>
              <a:ext uri="{FF2B5EF4-FFF2-40B4-BE49-F238E27FC236}">
                <a16:creationId xmlns:a16="http://schemas.microsoft.com/office/drawing/2014/main" id="{D3084323-6DCB-0CA1-AEFD-951356E15B2F}"/>
              </a:ext>
            </a:extLst>
          </p:cNvPr>
          <p:cNvSpPr>
            <a:spLocks noGrp="1"/>
          </p:cNvSpPr>
          <p:nvPr>
            <p:ph sz="half" idx="1"/>
          </p:nvPr>
        </p:nvSpPr>
        <p:spPr>
          <a:xfrm>
            <a:off x="844683" y="2181225"/>
            <a:ext cx="5384531" cy="3976688"/>
          </a:xfrm>
        </p:spPr>
        <p:txBody>
          <a:bodyPr vert="horz" lIns="91440" tIns="45720" rIns="91440" bIns="45720" rtlCol="0">
            <a:normAutofit/>
          </a:bodyPr>
          <a:lstStyle/>
          <a:p>
            <a:pPr marL="0" indent="0">
              <a:buNone/>
            </a:pPr>
            <a:r>
              <a:rPr lang="en-US" sz="2400" dirty="0"/>
              <a:t>When learning environments consistently link being wrong with being diminished, children learn — implicitly — that their ideas are themselves.</a:t>
            </a:r>
          </a:p>
          <a:p>
            <a:pPr marL="0" indent="0">
              <a:buNone/>
            </a:pPr>
            <a:endParaRPr lang="en-US" sz="2400" dirty="0"/>
          </a:p>
          <a:p>
            <a:pPr marL="0" indent="0">
              <a:buNone/>
            </a:pPr>
            <a:r>
              <a:rPr lang="en-US" sz="2400" dirty="0"/>
              <a:t>The deeper problem with fear of failure is not that children avoid mistakes but that they begin to experience mistakes as </a:t>
            </a:r>
            <a:r>
              <a:rPr lang="en-US" sz="2400" b="1" dirty="0"/>
              <a:t>threats to who they are</a:t>
            </a:r>
            <a:r>
              <a:rPr lang="en-US" sz="2400" dirty="0"/>
              <a:t>.</a:t>
            </a:r>
          </a:p>
          <a:p>
            <a:pPr marL="0"/>
            <a:endParaRPr lang="en-US" sz="2000" dirty="0"/>
          </a:p>
        </p:txBody>
      </p:sp>
      <p:pic>
        <p:nvPicPr>
          <p:cNvPr id="9218" name="Picture 2" descr="Weight loss fail concept. Scale and depressed, frustrated and sad woman sitting on floor holding head and arms on knees. Weight loss fail and depression low self image stock pictures, royalty-free photos &amp; images">
            <a:extLst>
              <a:ext uri="{FF2B5EF4-FFF2-40B4-BE49-F238E27FC236}">
                <a16:creationId xmlns:a16="http://schemas.microsoft.com/office/drawing/2014/main" id="{5ADC1F8A-41F3-860C-AADC-6DD8165063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179" r="27393"/>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34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308B5F-AD77-2BB4-BB73-F1BF42DAB839}"/>
              </a:ext>
            </a:extLst>
          </p:cNvPr>
          <p:cNvSpPr>
            <a:spLocks noGrp="1"/>
          </p:cNvSpPr>
          <p:nvPr>
            <p:ph type="title"/>
          </p:nvPr>
        </p:nvSpPr>
        <p:spPr>
          <a:xfrm>
            <a:off x="844684" y="178312"/>
            <a:ext cx="5251316" cy="1807305"/>
          </a:xfrm>
        </p:spPr>
        <p:txBody>
          <a:bodyPr vert="horz" lIns="91440" tIns="45720" rIns="91440" bIns="45720" rtlCol="0" anchor="ctr">
            <a:normAutofit/>
          </a:bodyPr>
          <a:lstStyle/>
          <a:p>
            <a:r>
              <a:rPr lang="en-US" dirty="0">
                <a:latin typeface="ITC Kabel Std Book" panose="020D0402020204020904" pitchFamily="34" charset="0"/>
              </a:rPr>
              <a:t>Rethinking Ideas</a:t>
            </a:r>
          </a:p>
        </p:txBody>
      </p:sp>
      <p:sp>
        <p:nvSpPr>
          <p:cNvPr id="5" name="Content Placeholder 2">
            <a:extLst>
              <a:ext uri="{FF2B5EF4-FFF2-40B4-BE49-F238E27FC236}">
                <a16:creationId xmlns:a16="http://schemas.microsoft.com/office/drawing/2014/main" id="{22E50682-EF58-37FE-5D79-75AD8291ACE0}"/>
              </a:ext>
            </a:extLst>
          </p:cNvPr>
          <p:cNvSpPr>
            <a:spLocks noGrp="1"/>
          </p:cNvSpPr>
          <p:nvPr>
            <p:ph sz="half" idx="1"/>
          </p:nvPr>
        </p:nvSpPr>
        <p:spPr>
          <a:xfrm>
            <a:off x="971415" y="1887158"/>
            <a:ext cx="5257800" cy="3843666"/>
          </a:xfrm>
        </p:spPr>
        <p:txBody>
          <a:bodyPr vert="horz" lIns="91440" tIns="45720" rIns="91440" bIns="45720" rtlCol="0">
            <a:normAutofit/>
          </a:bodyPr>
          <a:lstStyle/>
          <a:p>
            <a:pPr marL="0" indent="0">
              <a:buNone/>
            </a:pPr>
            <a:r>
              <a:rPr lang="en-US" sz="2400" b="1" dirty="0"/>
              <a:t>You are not your ideas</a:t>
            </a:r>
            <a:r>
              <a:rPr lang="en-US" sz="2400" i="1" dirty="0"/>
              <a:t>.</a:t>
            </a:r>
            <a:endParaRPr lang="en-US" sz="2400" dirty="0"/>
          </a:p>
          <a:p>
            <a:pPr marL="0" indent="0">
              <a:buNone/>
            </a:pPr>
            <a:r>
              <a:rPr lang="en-US" sz="2400" dirty="0"/>
              <a:t>Ideas are things we try on, revise, abandon, and sometimes outgrow — without any loss of dignity or selfhood.</a:t>
            </a:r>
          </a:p>
          <a:p>
            <a:pPr marL="0" indent="0">
              <a:buNone/>
            </a:pPr>
            <a:endParaRPr lang="en-US" sz="2400" dirty="0"/>
          </a:p>
          <a:p>
            <a:pPr marL="0" indent="0">
              <a:buNone/>
            </a:pPr>
            <a:r>
              <a:rPr lang="en-US" sz="2400" dirty="0"/>
              <a:t>If children are never taught this, disagreement feels like rejection,</a:t>
            </a:r>
            <a:br>
              <a:rPr lang="en-US" sz="2400" dirty="0"/>
            </a:br>
            <a:r>
              <a:rPr lang="en-US" sz="2400" dirty="0"/>
              <a:t>revision feels like humiliation, and learning becomes a defensive act.</a:t>
            </a:r>
          </a:p>
          <a:p>
            <a:pPr marL="0"/>
            <a:endParaRPr lang="en-US" sz="2000" dirty="0"/>
          </a:p>
        </p:txBody>
      </p:sp>
      <p:pic>
        <p:nvPicPr>
          <p:cNvPr id="11266" name="Picture 2" descr="Young Retro Nerds and a Boy with an Idea A group of young nerd children are thinking of the next big idea with the help of their light bulb helmets. One boy has the next big idea. you are not your ideas stock pictures, royalty-free photos &amp; images">
            <a:extLst>
              <a:ext uri="{FF2B5EF4-FFF2-40B4-BE49-F238E27FC236}">
                <a16:creationId xmlns:a16="http://schemas.microsoft.com/office/drawing/2014/main" id="{A3B6ED99-EC6A-FA0C-8C67-46B3F85C4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0857" r="21106" b="-1"/>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952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B09D43F-7E29-F7CA-9A47-7A0C2B5DB104}"/>
              </a:ext>
            </a:extLst>
          </p:cNvPr>
          <p:cNvSpPr>
            <a:spLocks noGrp="1"/>
          </p:cNvSpPr>
          <p:nvPr>
            <p:ph type="title"/>
          </p:nvPr>
        </p:nvSpPr>
        <p:spPr>
          <a:xfrm>
            <a:off x="977899" y="95981"/>
            <a:ext cx="5251316" cy="1237520"/>
          </a:xfrm>
        </p:spPr>
        <p:txBody>
          <a:bodyPr vert="horz" lIns="91440" tIns="45720" rIns="91440" bIns="45720" rtlCol="0" anchor="ctr">
            <a:normAutofit/>
          </a:bodyPr>
          <a:lstStyle/>
          <a:p>
            <a:r>
              <a:rPr lang="en-US" dirty="0">
                <a:latin typeface="ITC Kabel Std Book" panose="020D0402020204020904" pitchFamily="34" charset="0"/>
              </a:rPr>
              <a:t>Epistemic Courage</a:t>
            </a:r>
          </a:p>
        </p:txBody>
      </p:sp>
      <p:sp>
        <p:nvSpPr>
          <p:cNvPr id="5" name="Content Placeholder 2">
            <a:extLst>
              <a:ext uri="{FF2B5EF4-FFF2-40B4-BE49-F238E27FC236}">
                <a16:creationId xmlns:a16="http://schemas.microsoft.com/office/drawing/2014/main" id="{D8599C1C-4191-A9BD-80BD-711CF930E4BC}"/>
              </a:ext>
            </a:extLst>
          </p:cNvPr>
          <p:cNvSpPr>
            <a:spLocks noGrp="1"/>
          </p:cNvSpPr>
          <p:nvPr>
            <p:ph sz="half" idx="1"/>
          </p:nvPr>
        </p:nvSpPr>
        <p:spPr>
          <a:xfrm>
            <a:off x="844684" y="1934305"/>
            <a:ext cx="5534025" cy="3843666"/>
          </a:xfrm>
        </p:spPr>
        <p:txBody>
          <a:bodyPr vert="horz" lIns="91440" tIns="45720" rIns="91440" bIns="45720" rtlCol="0">
            <a:normAutofit/>
          </a:bodyPr>
          <a:lstStyle/>
          <a:p>
            <a:pPr marL="85725" lvl="1" indent="0">
              <a:buNone/>
            </a:pPr>
            <a:r>
              <a:rPr lang="en-US" dirty="0"/>
              <a:t>The courage to explore, revise, and even abandon ideas while remaining secure in one’s sense of self and belonging.</a:t>
            </a:r>
          </a:p>
          <a:p>
            <a:pPr marL="85725" lvl="1" indent="0">
              <a:buNone/>
            </a:pPr>
            <a:endParaRPr lang="en-US" dirty="0"/>
          </a:p>
          <a:p>
            <a:pPr marL="85725" lvl="1" indent="0">
              <a:buNone/>
            </a:pPr>
            <a:r>
              <a:rPr lang="en-US" dirty="0"/>
              <a:t>The ability to adapt one’s thinking in response to new perspectives and evidence.</a:t>
            </a:r>
          </a:p>
          <a:p>
            <a:pPr marL="0"/>
            <a:endParaRPr lang="en-US" sz="2000" dirty="0"/>
          </a:p>
        </p:txBody>
      </p:sp>
      <p:pic>
        <p:nvPicPr>
          <p:cNvPr id="6" name="Content Placeholder 5">
            <a:extLst>
              <a:ext uri="{FF2B5EF4-FFF2-40B4-BE49-F238E27FC236}">
                <a16:creationId xmlns:a16="http://schemas.microsoft.com/office/drawing/2014/main" id="{1FEBE0DF-C342-C7DB-BFFB-37D01B982602}"/>
              </a:ext>
            </a:extLst>
          </p:cNvPr>
          <p:cNvPicPr>
            <a:picLocks noChangeAspect="1"/>
          </p:cNvPicPr>
          <p:nvPr/>
        </p:nvPicPr>
        <p:blipFill>
          <a:blip r:embed="rId2"/>
          <a:srcRect l="20326" r="21855"/>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1571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mesmerizing urban scene seamlessly blending the world of knowledge with the beauty of nature.">
            <a:extLst>
              <a:ext uri="{FF2B5EF4-FFF2-40B4-BE49-F238E27FC236}">
                <a16:creationId xmlns:a16="http://schemas.microsoft.com/office/drawing/2014/main" id="{83BF2F8D-E198-16D2-7B9C-0F3340C45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6" r="12987"/>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992EA56F-7AE6-AA40-D479-1F3AF772D372}"/>
              </a:ext>
            </a:extLst>
          </p:cNvPr>
          <p:cNvSpPr>
            <a:spLocks noGrp="1"/>
          </p:cNvSpPr>
          <p:nvPr>
            <p:ph sz="half" idx="1"/>
          </p:nvPr>
        </p:nvSpPr>
        <p:spPr>
          <a:xfrm>
            <a:off x="563399" y="1550206"/>
            <a:ext cx="5962785" cy="3413241"/>
          </a:xfrm>
        </p:spPr>
        <p:txBody>
          <a:bodyPr vert="horz" lIns="91440" tIns="45720" rIns="91440" bIns="45720" rtlCol="0">
            <a:normAutofit/>
          </a:bodyPr>
          <a:lstStyle/>
          <a:p>
            <a:endParaRPr lang="en-US" sz="2000" b="1" dirty="0"/>
          </a:p>
          <a:p>
            <a:pPr marL="0" indent="0">
              <a:spcAft>
                <a:spcPts val="1200"/>
              </a:spcAft>
              <a:buNone/>
            </a:pPr>
            <a:r>
              <a:rPr lang="en-US" dirty="0"/>
              <a:t>Epistemic Courage isn't a workshop topic; it's a cultural outcome.</a:t>
            </a:r>
          </a:p>
          <a:p>
            <a:pPr marL="0" indent="0">
              <a:spcAft>
                <a:spcPts val="1200"/>
              </a:spcAft>
              <a:buNone/>
            </a:pPr>
            <a:r>
              <a:rPr lang="en-US" dirty="0"/>
              <a:t>Teachers build the culture (through what they reward, protect, structure) and act as models that students then imitate.</a:t>
            </a:r>
          </a:p>
        </p:txBody>
      </p:sp>
    </p:spTree>
    <p:extLst>
      <p:ext uri="{BB962C8B-B14F-4D97-AF65-F5344CB8AC3E}">
        <p14:creationId xmlns:p14="http://schemas.microsoft.com/office/powerpoint/2010/main" val="4210851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hoto 1 of 4">
            <a:extLst>
              <a:ext uri="{FF2B5EF4-FFF2-40B4-BE49-F238E27FC236}">
                <a16:creationId xmlns:a16="http://schemas.microsoft.com/office/drawing/2014/main" id="{5DB3811B-B36B-0DBB-4784-7FE22FED46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69" r="-2" b="-2"/>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D14F42E4-B34B-B707-774A-AD024B1DC92E}"/>
              </a:ext>
            </a:extLst>
          </p:cNvPr>
          <p:cNvSpPr>
            <a:spLocks noGrp="1"/>
          </p:cNvSpPr>
          <p:nvPr>
            <p:ph type="title"/>
          </p:nvPr>
        </p:nvSpPr>
        <p:spPr>
          <a:xfrm>
            <a:off x="571500" y="98425"/>
            <a:ext cx="8922018" cy="1807305"/>
          </a:xfrm>
        </p:spPr>
        <p:txBody>
          <a:bodyPr vert="horz" lIns="91440" tIns="45720" rIns="91440" bIns="45720" rtlCol="0" anchor="ctr">
            <a:normAutofit fontScale="90000"/>
          </a:bodyPr>
          <a:lstStyle/>
          <a:p>
            <a:r>
              <a:rPr lang="en-US" sz="4900" dirty="0">
                <a:latin typeface="ITC Kabel Std Book" panose="020D0402020204020904" pitchFamily="34" charset="0"/>
              </a:rPr>
              <a:t>The Teacher’s Role: </a:t>
            </a:r>
            <a:br>
              <a:rPr lang="en-US" sz="4900" dirty="0">
                <a:latin typeface="ITC Kabel Std Book" panose="020D0402020204020904" pitchFamily="34" charset="0"/>
              </a:rPr>
            </a:br>
            <a:r>
              <a:rPr lang="en-US" sz="4900" dirty="0">
                <a:latin typeface="ITC Kabel Std Book" panose="020D0402020204020904" pitchFamily="34" charset="0"/>
              </a:rPr>
              <a:t>Modelling Being, Not Just Knowing</a:t>
            </a:r>
            <a:br>
              <a:rPr lang="en-US" sz="3100" dirty="0"/>
            </a:br>
            <a:endParaRPr lang="en-US" sz="3100" dirty="0"/>
          </a:p>
        </p:txBody>
      </p:sp>
      <p:sp>
        <p:nvSpPr>
          <p:cNvPr id="4" name="Content Placeholder 2">
            <a:extLst>
              <a:ext uri="{FF2B5EF4-FFF2-40B4-BE49-F238E27FC236}">
                <a16:creationId xmlns:a16="http://schemas.microsoft.com/office/drawing/2014/main" id="{E56BF34C-247B-CFC5-BCA7-9C10DB37D55A}"/>
              </a:ext>
            </a:extLst>
          </p:cNvPr>
          <p:cNvSpPr>
            <a:spLocks noGrp="1"/>
          </p:cNvSpPr>
          <p:nvPr>
            <p:ph sz="half" idx="1"/>
          </p:nvPr>
        </p:nvSpPr>
        <p:spPr>
          <a:xfrm>
            <a:off x="311600" y="1586450"/>
            <a:ext cx="6645378" cy="4788766"/>
          </a:xfrm>
        </p:spPr>
        <p:txBody>
          <a:bodyPr vert="horz" lIns="91440" tIns="45720" rIns="91440" bIns="45720" rtlCol="0">
            <a:normAutofit/>
          </a:bodyPr>
          <a:lstStyle/>
          <a:p>
            <a:pPr marL="0" indent="0">
              <a:buNone/>
            </a:pPr>
            <a:r>
              <a:rPr lang="en-US" sz="2400" b="1" dirty="0"/>
              <a:t>What teachers model when epistemic courage is alive:</a:t>
            </a:r>
            <a:endParaRPr lang="en-US" sz="2400" dirty="0"/>
          </a:p>
          <a:p>
            <a:pPr lvl="0"/>
            <a:r>
              <a:rPr lang="en-US" sz="2400" dirty="0"/>
              <a:t>Vulnerability</a:t>
            </a:r>
          </a:p>
          <a:p>
            <a:pPr lvl="0"/>
            <a:r>
              <a:rPr lang="en-US" sz="2400" dirty="0"/>
              <a:t>Active Listening</a:t>
            </a:r>
          </a:p>
          <a:p>
            <a:pPr lvl="0"/>
            <a:r>
              <a:rPr lang="en-US" sz="2400" dirty="0"/>
              <a:t>Adaptive Thinking</a:t>
            </a:r>
          </a:p>
          <a:p>
            <a:pPr marL="0" lvl="0"/>
            <a:endParaRPr lang="en-US" sz="2400" dirty="0"/>
          </a:p>
          <a:p>
            <a:pPr marL="0" indent="0">
              <a:buNone/>
            </a:pPr>
            <a:r>
              <a:rPr lang="en-US" dirty="0"/>
              <a:t>We are not merely teaching English;</a:t>
            </a:r>
          </a:p>
          <a:p>
            <a:pPr marL="0" indent="0">
              <a:buNone/>
            </a:pPr>
            <a:r>
              <a:rPr lang="en-US" dirty="0"/>
              <a:t> We are </a:t>
            </a:r>
            <a:r>
              <a:rPr lang="en-US" i="1" dirty="0"/>
              <a:t>writing</a:t>
            </a:r>
            <a:r>
              <a:rPr lang="en-US" dirty="0"/>
              <a:t> humanity.</a:t>
            </a:r>
            <a:endParaRPr lang="en-US" sz="1600" dirty="0"/>
          </a:p>
          <a:p>
            <a:pPr marL="0"/>
            <a:endParaRPr lang="en-US" sz="1600" dirty="0"/>
          </a:p>
        </p:txBody>
      </p:sp>
    </p:spTree>
    <p:extLst>
      <p:ext uri="{BB962C8B-B14F-4D97-AF65-F5344CB8AC3E}">
        <p14:creationId xmlns:p14="http://schemas.microsoft.com/office/powerpoint/2010/main" val="2783636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F633510-6F76-0E01-236E-803D550881A3}"/>
              </a:ext>
            </a:extLst>
          </p:cNvPr>
          <p:cNvSpPr>
            <a:spLocks noGrp="1"/>
          </p:cNvSpPr>
          <p:nvPr>
            <p:ph sz="half" idx="1"/>
          </p:nvPr>
        </p:nvSpPr>
        <p:spPr>
          <a:xfrm>
            <a:off x="838200" y="2333297"/>
            <a:ext cx="5798574" cy="3843666"/>
          </a:xfrm>
        </p:spPr>
        <p:txBody>
          <a:bodyPr vert="horz" lIns="91440" tIns="45720" rIns="91440" bIns="45720" rtlCol="0">
            <a:normAutofit/>
          </a:bodyPr>
          <a:lstStyle/>
          <a:p>
            <a:pPr marL="0" indent="0">
              <a:buNone/>
            </a:pPr>
            <a:r>
              <a:rPr lang="en-US" sz="3600" b="1" dirty="0"/>
              <a:t>Empathic Intelligence</a:t>
            </a:r>
          </a:p>
          <a:p>
            <a:pPr marL="0" indent="0">
              <a:buNone/>
            </a:pPr>
            <a:r>
              <a:rPr lang="en-US" sz="3200" dirty="0"/>
              <a:t>In literature and poetry, students don’t just learn about others, they learn from within others.</a:t>
            </a:r>
          </a:p>
        </p:txBody>
      </p:sp>
      <p:sp>
        <p:nvSpPr>
          <p:cNvPr id="4" name="Title 1">
            <a:extLst>
              <a:ext uri="{FF2B5EF4-FFF2-40B4-BE49-F238E27FC236}">
                <a16:creationId xmlns:a16="http://schemas.microsoft.com/office/drawing/2014/main" id="{010891DA-5A94-2FA3-3C11-54BFF35C96DF}"/>
              </a:ext>
            </a:extLst>
          </p:cNvPr>
          <p:cNvSpPr>
            <a:spLocks noGrp="1"/>
          </p:cNvSpPr>
          <p:nvPr>
            <p:ph type="title"/>
          </p:nvPr>
        </p:nvSpPr>
        <p:spPr>
          <a:xfrm>
            <a:off x="358140" y="118302"/>
            <a:ext cx="6543676" cy="1807305"/>
          </a:xfrm>
        </p:spPr>
        <p:txBody>
          <a:bodyPr vert="horz" lIns="91440" tIns="45720" rIns="91440" bIns="45720" rtlCol="0" anchor="ctr">
            <a:normAutofit fontScale="90000"/>
          </a:bodyPr>
          <a:lstStyle/>
          <a:p>
            <a:pPr algn="ctr"/>
            <a:r>
              <a:rPr lang="en-US" sz="4900" dirty="0">
                <a:latin typeface="ITC Kabel Std Book" panose="020D0402020204020904" pitchFamily="34" charset="0"/>
              </a:rPr>
              <a:t>English Teachers Model Epistemic Courage Through:</a:t>
            </a:r>
            <a:endParaRPr lang="en-US" sz="4100" dirty="0"/>
          </a:p>
        </p:txBody>
      </p:sp>
      <p:pic>
        <p:nvPicPr>
          <p:cNvPr id="10" name="Picture 9">
            <a:extLst>
              <a:ext uri="{FF2B5EF4-FFF2-40B4-BE49-F238E27FC236}">
                <a16:creationId xmlns:a16="http://schemas.microsoft.com/office/drawing/2014/main" id="{A30DDF75-9D25-2EB9-6414-8F607187E5BA}"/>
              </a:ext>
            </a:extLst>
          </p:cNvPr>
          <p:cNvPicPr>
            <a:picLocks noChangeAspect="1"/>
          </p:cNvPicPr>
          <p:nvPr/>
        </p:nvPicPr>
        <p:blipFill>
          <a:blip r:embed="rId3"/>
          <a:stretch>
            <a:fillRect/>
          </a:stretch>
        </p:blipFill>
        <p:spPr>
          <a:xfrm>
            <a:off x="6751520" y="-1"/>
            <a:ext cx="4221280" cy="6334395"/>
          </a:xfrm>
          <a:prstGeom prst="rect">
            <a:avLst/>
          </a:prstGeom>
        </p:spPr>
      </p:pic>
    </p:spTree>
    <p:extLst>
      <p:ext uri="{BB962C8B-B14F-4D97-AF65-F5344CB8AC3E}">
        <p14:creationId xmlns:p14="http://schemas.microsoft.com/office/powerpoint/2010/main" val="181562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26CAC-2BFD-EC67-8E0E-3D6A9017363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F23456C-19C3-BB17-6A25-CA8CC5A775FB}"/>
              </a:ext>
            </a:extLst>
          </p:cNvPr>
          <p:cNvSpPr>
            <a:spLocks noGrp="1"/>
          </p:cNvSpPr>
          <p:nvPr>
            <p:ph type="title"/>
          </p:nvPr>
        </p:nvSpPr>
        <p:spPr>
          <a:xfrm>
            <a:off x="495300" y="178312"/>
            <a:ext cx="6105525" cy="2168525"/>
          </a:xfrm>
        </p:spPr>
        <p:txBody>
          <a:bodyPr vert="horz" lIns="91440" tIns="45720" rIns="91440" bIns="45720" rtlCol="0" anchor="ctr">
            <a:normAutofit fontScale="90000"/>
          </a:bodyPr>
          <a:lstStyle/>
          <a:p>
            <a:pPr algn="ctr"/>
            <a:r>
              <a:rPr lang="en-US" dirty="0">
                <a:latin typeface="ITC Kabel Std Book" panose="020D0402020204020904" pitchFamily="34" charset="0"/>
              </a:rPr>
              <a:t>English Teachers Model Epistemic Courage Through:</a:t>
            </a:r>
            <a:br>
              <a:rPr lang="en-US" sz="4100" dirty="0"/>
            </a:br>
            <a:endParaRPr lang="en-US" sz="4100" dirty="0"/>
          </a:p>
        </p:txBody>
      </p:sp>
      <p:sp>
        <p:nvSpPr>
          <p:cNvPr id="5" name="Content Placeholder 2">
            <a:extLst>
              <a:ext uri="{FF2B5EF4-FFF2-40B4-BE49-F238E27FC236}">
                <a16:creationId xmlns:a16="http://schemas.microsoft.com/office/drawing/2014/main" id="{1EEF04FF-7FF5-40CE-1259-5DA293A93082}"/>
              </a:ext>
            </a:extLst>
          </p:cNvPr>
          <p:cNvSpPr>
            <a:spLocks noGrp="1"/>
          </p:cNvSpPr>
          <p:nvPr>
            <p:ph sz="half" idx="1"/>
          </p:nvPr>
        </p:nvSpPr>
        <p:spPr>
          <a:xfrm>
            <a:off x="380866" y="1816858"/>
            <a:ext cx="5962784" cy="4159578"/>
          </a:xfrm>
        </p:spPr>
        <p:txBody>
          <a:bodyPr vert="horz" lIns="91440" tIns="45720" rIns="91440" bIns="45720" rtlCol="0">
            <a:normAutofit/>
          </a:bodyPr>
          <a:lstStyle/>
          <a:p>
            <a:pPr marL="0" lvl="0" indent="0">
              <a:buNone/>
            </a:pPr>
            <a:r>
              <a:rPr lang="en-ZA" sz="3600" b="1" dirty="0"/>
              <a:t>Collaborative Genesis</a:t>
            </a:r>
          </a:p>
          <a:p>
            <a:pPr marL="0" lvl="0" indent="0">
              <a:buNone/>
            </a:pPr>
            <a:endParaRPr lang="en-ZA" sz="2000" b="1" dirty="0"/>
          </a:p>
          <a:p>
            <a:pPr marL="0" indent="0">
              <a:buNone/>
            </a:pPr>
            <a:r>
              <a:rPr lang="en-US" sz="3200" dirty="0"/>
              <a:t>We teach the non-negotiable art of co-creation of meaning</a:t>
            </a:r>
          </a:p>
        </p:txBody>
      </p:sp>
      <p:pic>
        <p:nvPicPr>
          <p:cNvPr id="1026" name="Picture 2" descr="A vibrant vertical world made of colorful building blocks stretches from scattered pieces at the bottom to a majestic castle and hovering spaceship at the top. Mini builder figures work together across three magical realms: an underwater section with blue ocean and fish, a middle forest kingdom with green elements, and a space station near the summit. Transparent spiral staircases connect these zones as tiny characters place bricks, celebrate completed sections, and add whimsical details like flags and gardens. Brightly colored red, yellow, blue, and green blocks create the structure against a soft gradient sky, with some pieces floating magically in mid-air, connected by sparkling points of light.">
            <a:extLst>
              <a:ext uri="{FF2B5EF4-FFF2-40B4-BE49-F238E27FC236}">
                <a16:creationId xmlns:a16="http://schemas.microsoft.com/office/drawing/2014/main" id="{563B29E2-00EC-DA86-622E-8E9E45F16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4760" b="11120"/>
          <a:stretch>
            <a:fillRect/>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4592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05991-D5CF-3672-2620-5DF35C50FA25}"/>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6FF9BD0-CC80-FED0-1C44-818CAA12209E}"/>
              </a:ext>
            </a:extLst>
          </p:cNvPr>
          <p:cNvSpPr>
            <a:spLocks noGrp="1"/>
          </p:cNvSpPr>
          <p:nvPr>
            <p:ph sz="half" idx="1"/>
          </p:nvPr>
        </p:nvSpPr>
        <p:spPr>
          <a:xfrm>
            <a:off x="956187" y="1896533"/>
            <a:ext cx="6359013" cy="3808472"/>
          </a:xfrm>
        </p:spPr>
        <p:txBody>
          <a:bodyPr vert="horz" lIns="91440" tIns="45720" rIns="91440" bIns="45720" rtlCol="0">
            <a:normAutofit fontScale="85000" lnSpcReduction="20000"/>
          </a:bodyPr>
          <a:lstStyle/>
          <a:p>
            <a:pPr marL="0" indent="0">
              <a:buNone/>
            </a:pPr>
            <a:r>
              <a:rPr lang="en-US" sz="3600" b="1" dirty="0"/>
              <a:t>The Grammar of Humanity</a:t>
            </a:r>
          </a:p>
          <a:p>
            <a:pPr marL="0" indent="0">
              <a:buNone/>
            </a:pPr>
            <a:endParaRPr lang="en-US" sz="3600" b="1" dirty="0"/>
          </a:p>
          <a:p>
            <a:pPr marL="0" indent="0">
              <a:buNone/>
            </a:pPr>
            <a:r>
              <a:rPr lang="en-US" sz="3200" dirty="0"/>
              <a:t>We teach the decoding of subtext, posture, tone, and silence. We teach students:</a:t>
            </a:r>
          </a:p>
          <a:p>
            <a:r>
              <a:rPr lang="en-US" sz="3200" dirty="0"/>
              <a:t> that how something is said, rather than what is said is often the message itself</a:t>
            </a:r>
          </a:p>
          <a:p>
            <a:r>
              <a:rPr lang="en-US" sz="3200" dirty="0"/>
              <a:t>That we must never assume that the loudest voice is the most valid voice. Silence is also a voice.</a:t>
            </a:r>
            <a:endParaRPr lang="en-ZA" sz="3200" dirty="0"/>
          </a:p>
        </p:txBody>
      </p:sp>
      <p:sp>
        <p:nvSpPr>
          <p:cNvPr id="4" name="Title 1">
            <a:extLst>
              <a:ext uri="{FF2B5EF4-FFF2-40B4-BE49-F238E27FC236}">
                <a16:creationId xmlns:a16="http://schemas.microsoft.com/office/drawing/2014/main" id="{700A0D79-9AB5-DFAC-5F09-14F8E8B3D377}"/>
              </a:ext>
            </a:extLst>
          </p:cNvPr>
          <p:cNvSpPr>
            <a:spLocks noGrp="1"/>
          </p:cNvSpPr>
          <p:nvPr>
            <p:ph type="title"/>
          </p:nvPr>
        </p:nvSpPr>
        <p:spPr>
          <a:xfrm>
            <a:off x="289560" y="219085"/>
            <a:ext cx="11120119" cy="1807305"/>
          </a:xfrm>
        </p:spPr>
        <p:txBody>
          <a:bodyPr vert="horz" lIns="91440" tIns="45720" rIns="91440" bIns="45720" rtlCol="0" anchor="ctr">
            <a:normAutofit fontScale="90000"/>
          </a:bodyPr>
          <a:lstStyle/>
          <a:p>
            <a:r>
              <a:rPr lang="en-US" dirty="0">
                <a:latin typeface="ITC Kabel Std Book" panose="020D0402020204020904" pitchFamily="34" charset="0"/>
              </a:rPr>
              <a:t>English Teachers Model Epistemic Courage Through:</a:t>
            </a:r>
            <a:br>
              <a:rPr lang="en-US" dirty="0"/>
            </a:br>
            <a:endParaRPr lang="en-US" dirty="0"/>
          </a:p>
        </p:txBody>
      </p:sp>
      <p:pic>
        <p:nvPicPr>
          <p:cNvPr id="2" name="Picture 1">
            <a:extLst>
              <a:ext uri="{FF2B5EF4-FFF2-40B4-BE49-F238E27FC236}">
                <a16:creationId xmlns:a16="http://schemas.microsoft.com/office/drawing/2014/main" id="{95734EAE-4AD8-49DC-4A81-854E9F8090F8}"/>
              </a:ext>
            </a:extLst>
          </p:cNvPr>
          <p:cNvPicPr>
            <a:picLocks noChangeAspect="1"/>
          </p:cNvPicPr>
          <p:nvPr/>
        </p:nvPicPr>
        <p:blipFill>
          <a:blip r:embed="rId3"/>
          <a:stretch>
            <a:fillRect/>
          </a:stretch>
        </p:blipFill>
        <p:spPr>
          <a:xfrm>
            <a:off x="7186505" y="1778000"/>
            <a:ext cx="4596285" cy="2541654"/>
          </a:xfrm>
          <a:prstGeom prst="rect">
            <a:avLst/>
          </a:prstGeom>
        </p:spPr>
      </p:pic>
    </p:spTree>
    <p:extLst>
      <p:ext uri="{BB962C8B-B14F-4D97-AF65-F5344CB8AC3E}">
        <p14:creationId xmlns:p14="http://schemas.microsoft.com/office/powerpoint/2010/main" val="1861663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A29C1B-EE60-7771-F370-76A68DB73402}"/>
              </a:ext>
            </a:extLst>
          </p:cNvPr>
          <p:cNvSpPr>
            <a:spLocks noGrp="1"/>
          </p:cNvSpPr>
          <p:nvPr>
            <p:ph type="title"/>
          </p:nvPr>
        </p:nvSpPr>
        <p:spPr>
          <a:xfrm>
            <a:off x="495300" y="178312"/>
            <a:ext cx="6105525" cy="2168525"/>
          </a:xfrm>
        </p:spPr>
        <p:txBody>
          <a:bodyPr vert="horz" lIns="91440" tIns="45720" rIns="91440" bIns="45720" rtlCol="0" anchor="ctr">
            <a:normAutofit fontScale="90000"/>
          </a:bodyPr>
          <a:lstStyle/>
          <a:p>
            <a:pPr algn="ctr"/>
            <a:r>
              <a:rPr lang="en-US" dirty="0">
                <a:latin typeface="ITC Kabel Std Book" panose="020D0402020204020904" pitchFamily="34" charset="0"/>
              </a:rPr>
              <a:t>English Teachers Model Epistemic Courage Through:</a:t>
            </a:r>
            <a:br>
              <a:rPr lang="en-US" sz="4100" dirty="0"/>
            </a:br>
            <a:endParaRPr lang="en-US" sz="4100" dirty="0"/>
          </a:p>
        </p:txBody>
      </p:sp>
      <p:sp>
        <p:nvSpPr>
          <p:cNvPr id="5" name="Content Placeholder 2">
            <a:extLst>
              <a:ext uri="{FF2B5EF4-FFF2-40B4-BE49-F238E27FC236}">
                <a16:creationId xmlns:a16="http://schemas.microsoft.com/office/drawing/2014/main" id="{E0D10C89-D688-4D0A-7718-BA71C1BFB251}"/>
              </a:ext>
            </a:extLst>
          </p:cNvPr>
          <p:cNvSpPr>
            <a:spLocks noGrp="1"/>
          </p:cNvSpPr>
          <p:nvPr>
            <p:ph sz="half" idx="1"/>
          </p:nvPr>
        </p:nvSpPr>
        <p:spPr>
          <a:xfrm>
            <a:off x="380866" y="1816858"/>
            <a:ext cx="5962784" cy="4159578"/>
          </a:xfrm>
        </p:spPr>
        <p:txBody>
          <a:bodyPr vert="horz" lIns="91440" tIns="45720" rIns="91440" bIns="45720" rtlCol="0">
            <a:normAutofit/>
          </a:bodyPr>
          <a:lstStyle/>
          <a:p>
            <a:pPr marL="0" lvl="0" indent="0">
              <a:buNone/>
            </a:pPr>
            <a:r>
              <a:rPr lang="en-ZA" sz="3600" b="1" dirty="0"/>
              <a:t>Resilient Identity Play</a:t>
            </a:r>
          </a:p>
          <a:p>
            <a:pPr marL="0" lvl="0" indent="0">
              <a:buNone/>
            </a:pPr>
            <a:endParaRPr lang="en-ZA" sz="2000" b="1" dirty="0"/>
          </a:p>
          <a:p>
            <a:pPr marL="0" lvl="0" indent="0">
              <a:buNone/>
            </a:pPr>
            <a:r>
              <a:rPr lang="en-US" sz="3200" dirty="0"/>
              <a:t>By providing safe spaces for learners to try on different identities – resisting such simple labels as the hero, the villain, the fool – we cultivate selves that are fluid and adaptable. </a:t>
            </a:r>
          </a:p>
        </p:txBody>
      </p:sp>
      <p:pic>
        <p:nvPicPr>
          <p:cNvPr id="1026" name="Picture 2">
            <a:extLst>
              <a:ext uri="{FF2B5EF4-FFF2-40B4-BE49-F238E27FC236}">
                <a16:creationId xmlns:a16="http://schemas.microsoft.com/office/drawing/2014/main" id="{8F1F5405-0917-3BAC-221C-8468B3FA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395" r="17395"/>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0898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3000"/>
            <a:lum/>
          </a:blip>
          <a:srcRect/>
          <a:stretch>
            <a:fillRect t="-84000" b="-84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15BFD-8205-45B8-DB90-B0F022DD0339}"/>
              </a:ext>
            </a:extLst>
          </p:cNvPr>
          <p:cNvSpPr>
            <a:spLocks noGrp="1"/>
          </p:cNvSpPr>
          <p:nvPr>
            <p:ph idx="1"/>
          </p:nvPr>
        </p:nvSpPr>
        <p:spPr>
          <a:xfrm>
            <a:off x="6746240" y="1412088"/>
            <a:ext cx="4838382" cy="4351338"/>
          </a:xfrm>
        </p:spPr>
        <p:txBody>
          <a:bodyPr/>
          <a:lstStyle/>
          <a:p>
            <a:pPr marL="0" indent="0" algn="ctr">
              <a:buNone/>
            </a:pPr>
            <a:r>
              <a:rPr lang="en-US" i="1" dirty="0"/>
              <a:t>"Children have never been very good at listening to their elders, but they have never failed to imitate them."</a:t>
            </a:r>
            <a:br>
              <a:rPr lang="en-US" dirty="0"/>
            </a:br>
            <a:r>
              <a:rPr lang="en-US" b="1" dirty="0"/>
              <a:t>– James Baldwin</a:t>
            </a:r>
            <a:br>
              <a:rPr lang="en-US" dirty="0"/>
            </a:br>
            <a:endParaRPr lang="en-ZA" sz="2000" dirty="0"/>
          </a:p>
        </p:txBody>
      </p:sp>
    </p:spTree>
    <p:extLst>
      <p:ext uri="{BB962C8B-B14F-4D97-AF65-F5344CB8AC3E}">
        <p14:creationId xmlns:p14="http://schemas.microsoft.com/office/powerpoint/2010/main" val="936851443"/>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1571</TotalTime>
  <Words>680</Words>
  <Application>Microsoft Office PowerPoint</Application>
  <PresentationFormat>Widescreen</PresentationFormat>
  <Paragraphs>84</Paragraphs>
  <Slides>21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ITC Kabel Std Book</vt:lpstr>
      <vt:lpstr>1_Office Theme</vt:lpstr>
      <vt:lpstr>PowerPoint Presentation</vt:lpstr>
      <vt:lpstr>PowerPoint Presentation</vt:lpstr>
      <vt:lpstr>Marking and Examining</vt:lpstr>
      <vt:lpstr>Communication Channels</vt:lpstr>
      <vt:lpstr>PowerPoint Presentation</vt:lpstr>
      <vt:lpstr>SAGs changes</vt:lpstr>
      <vt:lpstr>PowerPoint Presentation</vt:lpstr>
      <vt:lpstr>Workshops</vt:lpstr>
      <vt:lpstr>PowerPoint Presentation</vt:lpstr>
      <vt:lpstr>The Hidden Curriculum</vt:lpstr>
      <vt:lpstr>Social Learning Theory</vt:lpstr>
      <vt:lpstr>Anxiety: An Identity Issue</vt:lpstr>
      <vt:lpstr>Rethinking Ideas</vt:lpstr>
      <vt:lpstr>Epistemic Courage</vt:lpstr>
      <vt:lpstr>PowerPoint Presentation</vt:lpstr>
      <vt:lpstr>The Teacher’s Role:  Modelling Being, Not Just Knowing </vt:lpstr>
      <vt:lpstr>English Teachers Model Epistemic Courage Through:</vt:lpstr>
      <vt:lpstr>English Teachers Model Epistemic Courage Through: </vt:lpstr>
      <vt:lpstr>English Teachers Model Epistemic Courage Through: </vt:lpstr>
      <vt:lpstr>English Teachers Model Epistemic Courage Through: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Ruddock</dc:creator>
  <cp:lastModifiedBy>Peter Ruddock</cp:lastModifiedBy>
  <cp:revision>8</cp:revision>
  <dcterms:created xsi:type="dcterms:W3CDTF">2026-02-04T11:39:50Z</dcterms:created>
  <dcterms:modified xsi:type="dcterms:W3CDTF">2026-03-10T12:48:27Z</dcterms:modified>
</cp:coreProperties>
</file>