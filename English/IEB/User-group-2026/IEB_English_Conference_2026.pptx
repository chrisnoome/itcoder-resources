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embeddedFontLst>
    <p:embeddedFont>
      <p:font typeface="Amatic SC"/>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0">
          <p15:clr>
            <a:srgbClr val="A4A3A4"/>
          </p15:clr>
        </p15:guide>
        <p15:guide id="2" pos="5613">
          <p15:clr>
            <a:srgbClr val="A4A3A4"/>
          </p15:clr>
        </p15:guide>
        <p15:guide id="3" orient="horz" pos="283">
          <p15:clr>
            <a:srgbClr val="9AA0A6"/>
          </p15:clr>
        </p15:guide>
      </p15:sldGuideLst>
    </p:ext>
    <p:ext uri="GoogleSlidesCustomDataVersion2">
      <go:slidesCustomData xmlns:go="http://customooxmlschemas.google.com/" r:id="rId33" roundtripDataSignature="AMtx7mgO68+h4StoUiZlM25kCyJJ1CF7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0" orient="horz"/>
        <p:guide pos="5613"/>
        <p:guide pos="28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maticSC-regular.fntdata"/><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AmaticSC-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Z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982a9463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982a9463e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c982a9463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8f9ee3441_0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8f9ee3441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c8f9ee3441_0_5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bc7bd1c4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2bc7bd1c4a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32bc7bd1c4a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bc7bd1c4a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2bc7bd1c4a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32bc7bd1c4a_0_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9c3ce72a5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9c3ce72a5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c9c3ce72a5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9c3ce72a5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9c3ce72a5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c9c3ce72a5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982a9463e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982a9463e_0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c982a9463e_0_2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9c3ce72a5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9c3ce72a5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c9c3ce72a5_0_5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9c3ce72a5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c9c3ce72a5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c9c3ce72a5_0_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9c3ce72a5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9c3ce72a5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c9c3ce72a5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9c3ce72a5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c9c3ce72a5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3c9c3ce72a5_0_4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bc7bd1c4a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2bc7bd1c4a_0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2bc7bd1c4a_0_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982a9463e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982a9463e_0_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c982a9463e_0_3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9c3ce72a5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c9c3ce72a5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c9c3ce72a5_0_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9c3ce72a5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9c3ce72a5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c9c3ce72a5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9e831a6b8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9e831a6b8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c9e831a6b8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982a9463e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982a9463e_0_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c982a9463e_0_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bc7bd1c4a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2bc7bd1c4a_0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2bc7bd1c4a_0_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c982a9463e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c982a9463e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c982a9463e_0_6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982a9463e_0_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c982a9463e_0_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c982a9463e_0_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9e831a6b8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c9e831a6b8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g3c9e831a6b8_0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9e831a6b8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c9e831a6b8_0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c9e831a6b8_0_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9e831a6b8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c9e831a6b8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c9e831a6b8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bc7bd1c4a_0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2bc7bd1c4a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g32bc7bd1c4a_0_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ZA"/>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8f9ee3441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c8f9ee3441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c8f9ee3441_0_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Z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 name="Shape 19"/>
        <p:cNvGrpSpPr/>
        <p:nvPr/>
      </p:nvGrpSpPr>
      <p:grpSpPr>
        <a:xfrm>
          <a:off x="0" y="0"/>
          <a:ext cx="0" cy="0"/>
          <a:chOff x="0" y="0"/>
          <a:chExt cx="0" cy="0"/>
        </a:xfrm>
      </p:grpSpPr>
      <p:sp>
        <p:nvSpPr>
          <p:cNvPr id="20" name="Google Shape;2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2" name="Google Shape;22;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3" name="Google Shape;23;p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 name="Google Shape;28;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 name="Google Shape;34;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35" name="Google Shape;35;p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41" name="Google Shape;41;p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50" name="Google Shape;50;p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2" name="Google Shape;62;p3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9" name="Google Shape;69;p3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ZA"/>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drive.google.com/file/d/1e5sFgglUmsPVDxwgrBq7LsaFIeZATinx/view"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3c982a9463e_0_0" title="IEB Conference 2026.pptx - Google Slides - Screencastify - February 20, 2026 10_41 AM.webm">
            <a:hlinkClick r:id="rId3"/>
          </p:cNvPr>
          <p:cNvPicPr preferRelativeResize="0"/>
          <p:nvPr/>
        </p:nvPicPr>
        <p:blipFill>
          <a:blip r:embed="rId4">
            <a:alphaModFix/>
          </a:blip>
          <a:stretch>
            <a:fillRect/>
          </a:stretch>
        </p:blipFill>
        <p:spPr>
          <a:xfrm>
            <a:off x="152400" y="152400"/>
            <a:ext cx="8839200" cy="4295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c8f9ee3441_0_54"/>
          <p:cNvSpPr txBox="1"/>
          <p:nvPr/>
        </p:nvSpPr>
        <p:spPr>
          <a:xfrm>
            <a:off x="-418800" y="1428000"/>
            <a:ext cx="9562800" cy="3724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ZA" sz="12400">
                <a:solidFill>
                  <a:srgbClr val="BF9000"/>
                </a:solidFill>
                <a:latin typeface="Amatic SC"/>
                <a:ea typeface="Amatic SC"/>
                <a:cs typeface="Amatic SC"/>
                <a:sym typeface="Amatic SC"/>
              </a:rPr>
              <a:t> P2 Feedback</a:t>
            </a:r>
            <a:endParaRPr sz="12400">
              <a:solidFill>
                <a:srgbClr val="BF9000"/>
              </a:solidFill>
              <a:latin typeface="Amatic SC"/>
              <a:ea typeface="Amatic SC"/>
              <a:cs typeface="Amatic SC"/>
              <a:sym typeface="Amatic SC"/>
            </a:endParaRPr>
          </a:p>
          <a:p>
            <a:pPr indent="0" lvl="0" marL="0" rtl="0" algn="ctr">
              <a:spcBef>
                <a:spcPts val="0"/>
              </a:spcBef>
              <a:spcAft>
                <a:spcPts val="0"/>
              </a:spcAft>
              <a:buNone/>
            </a:pPr>
            <a:r>
              <a:rPr lang="en-ZA" sz="10600">
                <a:solidFill>
                  <a:srgbClr val="BF9000"/>
                </a:solidFill>
                <a:latin typeface="Amatic SC"/>
                <a:ea typeface="Amatic SC"/>
                <a:cs typeface="Amatic SC"/>
                <a:sym typeface="Amatic SC"/>
              </a:rPr>
              <a:t>Chelsea van Lieshout</a:t>
            </a:r>
            <a:endParaRPr sz="10600">
              <a:solidFill>
                <a:srgbClr val="BF9000"/>
              </a:solidFill>
              <a:latin typeface="Amatic SC"/>
              <a:ea typeface="Amatic SC"/>
              <a:cs typeface="Amatic SC"/>
              <a:sym typeface="Amatic S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2bc7bd1c4a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Overview of the Paper</a:t>
            </a:r>
            <a:endParaRPr/>
          </a:p>
        </p:txBody>
      </p:sp>
      <p:sp>
        <p:nvSpPr>
          <p:cNvPr id="102" name="Google Shape;102;g32bc7bd1c4a_0_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SzPts val="1100"/>
              <a:buChar char="●"/>
            </a:pPr>
            <a:r>
              <a:rPr lang="en-ZA" sz="2200"/>
              <a:t>Structure remained </a:t>
            </a:r>
            <a:r>
              <a:rPr b="1" lang="en-ZA" sz="2200"/>
              <a:t>consistent</a:t>
            </a:r>
            <a:r>
              <a:rPr lang="en-ZA" sz="2200"/>
              <a:t> with previous years</a:t>
            </a:r>
            <a:endParaRPr sz="2200"/>
          </a:p>
          <a:p>
            <a:pPr indent="-361950" lvl="0" marL="457200" rtl="0" algn="l">
              <a:lnSpc>
                <a:spcPct val="115000"/>
              </a:lnSpc>
              <a:spcBef>
                <a:spcPts val="0"/>
              </a:spcBef>
              <a:spcAft>
                <a:spcPts val="0"/>
              </a:spcAft>
              <a:buSzPts val="2100"/>
              <a:buChar char="●"/>
            </a:pPr>
            <a:r>
              <a:rPr lang="en-ZA" sz="2200"/>
              <a:t>Emphasis on </a:t>
            </a:r>
            <a:r>
              <a:rPr b="1" lang="en-ZA" sz="2200"/>
              <a:t>broad, interpretive questions</a:t>
            </a:r>
            <a:r>
              <a:rPr lang="en-ZA" sz="2200"/>
              <a:t> to encourage critical thinking</a:t>
            </a:r>
            <a:endParaRPr sz="2200"/>
          </a:p>
          <a:p>
            <a:pPr indent="-361950" lvl="0" marL="457200" rtl="0" algn="l">
              <a:lnSpc>
                <a:spcPct val="115000"/>
              </a:lnSpc>
              <a:spcBef>
                <a:spcPts val="0"/>
              </a:spcBef>
              <a:spcAft>
                <a:spcPts val="0"/>
              </a:spcAft>
              <a:buSzPts val="2100"/>
              <a:buChar char="●"/>
            </a:pPr>
            <a:r>
              <a:rPr b="1" lang="en-ZA" sz="2200"/>
              <a:t>Othello</a:t>
            </a:r>
            <a:r>
              <a:rPr lang="en-ZA" sz="2200"/>
              <a:t> is in its second year (2026 will be the final round)</a:t>
            </a:r>
            <a:endParaRPr sz="2200"/>
          </a:p>
          <a:p>
            <a:pPr indent="-361950" lvl="0" marL="457200" rtl="0" algn="l">
              <a:lnSpc>
                <a:spcPct val="115000"/>
              </a:lnSpc>
              <a:spcBef>
                <a:spcPts val="0"/>
              </a:spcBef>
              <a:spcAft>
                <a:spcPts val="0"/>
              </a:spcAft>
              <a:buSzPts val="2100"/>
              <a:buChar char="●"/>
            </a:pPr>
            <a:r>
              <a:rPr b="1" lang="en-ZA" sz="2200"/>
              <a:t>The White Tiger </a:t>
            </a:r>
            <a:r>
              <a:rPr lang="en-ZA" sz="2200"/>
              <a:t>(Global South) </a:t>
            </a:r>
            <a:r>
              <a:rPr lang="en-ZA" sz="2200"/>
              <a:t>was the more popular novel choice (</a:t>
            </a:r>
            <a:r>
              <a:rPr b="1" lang="en-ZA" sz="2200"/>
              <a:t>80</a:t>
            </a:r>
            <a:r>
              <a:rPr b="1" lang="en-ZA" sz="2200"/>
              <a:t>% of IEB centres</a:t>
            </a:r>
            <a:r>
              <a:rPr lang="en-ZA" sz="2200"/>
              <a:t>) &amp; </a:t>
            </a:r>
            <a:r>
              <a:rPr b="1" lang="en-ZA" sz="2200"/>
              <a:t>Brave New World</a:t>
            </a:r>
            <a:r>
              <a:rPr lang="en-ZA" sz="2200"/>
              <a:t> (Classic)</a:t>
            </a:r>
            <a:endParaRPr sz="2200"/>
          </a:p>
          <a:p>
            <a:pPr indent="-361950" lvl="0" marL="457200" rtl="0" algn="l">
              <a:lnSpc>
                <a:spcPct val="115000"/>
              </a:lnSpc>
              <a:spcBef>
                <a:spcPts val="0"/>
              </a:spcBef>
              <a:spcAft>
                <a:spcPts val="0"/>
              </a:spcAft>
              <a:buSzPts val="2100"/>
              <a:buChar char="●"/>
            </a:pPr>
            <a:r>
              <a:rPr b="1" lang="en-ZA" sz="2200"/>
              <a:t>Transactional Writing</a:t>
            </a:r>
            <a:r>
              <a:rPr lang="en-ZA" sz="2200"/>
              <a:t> included:</a:t>
            </a:r>
            <a:endParaRPr sz="2200"/>
          </a:p>
          <a:p>
            <a:pPr indent="-361950" lvl="1" marL="914400" rtl="0" algn="l">
              <a:lnSpc>
                <a:spcPct val="115000"/>
              </a:lnSpc>
              <a:spcBef>
                <a:spcPts val="0"/>
              </a:spcBef>
              <a:spcAft>
                <a:spcPts val="0"/>
              </a:spcAft>
              <a:buSzPts val="2100"/>
              <a:buChar char="○"/>
            </a:pPr>
            <a:r>
              <a:rPr b="1" lang="en-ZA" sz="2200"/>
              <a:t>Open Letter</a:t>
            </a:r>
            <a:r>
              <a:rPr lang="en-ZA" sz="2200"/>
              <a:t> (Compulsory)</a:t>
            </a:r>
            <a:endParaRPr sz="2200"/>
          </a:p>
          <a:p>
            <a:pPr indent="-361950" lvl="1" marL="914400" rtl="0" algn="l">
              <a:lnSpc>
                <a:spcPct val="115000"/>
              </a:lnSpc>
              <a:spcBef>
                <a:spcPts val="0"/>
              </a:spcBef>
              <a:spcAft>
                <a:spcPts val="0"/>
              </a:spcAft>
              <a:buSzPts val="2100"/>
              <a:buChar char="○"/>
            </a:pPr>
            <a:r>
              <a:rPr b="1" lang="en-ZA" sz="2200"/>
              <a:t>Email vs. Eulogy</a:t>
            </a:r>
            <a:r>
              <a:rPr lang="en-ZA" sz="2200"/>
              <a:t> (Choice)</a:t>
            </a:r>
            <a:endParaRPr sz="2200"/>
          </a:p>
          <a:p>
            <a:pPr indent="0" lvl="0" marL="0" rtl="0" algn="l">
              <a:lnSpc>
                <a:spcPct val="100000"/>
              </a:lnSpc>
              <a:spcBef>
                <a:spcPts val="1200"/>
              </a:spcBef>
              <a:spcAft>
                <a:spcPts val="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2bc7bd1c4a_0_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Shakespeare: </a:t>
            </a:r>
            <a:r>
              <a:rPr i="1" lang="en-ZA"/>
              <a:t>Othello</a:t>
            </a:r>
            <a:endParaRPr i="1"/>
          </a:p>
        </p:txBody>
      </p:sp>
      <p:pic>
        <p:nvPicPr>
          <p:cNvPr id="109" name="Google Shape;109;g32bc7bd1c4a_0_7"/>
          <p:cNvPicPr preferRelativeResize="0"/>
          <p:nvPr/>
        </p:nvPicPr>
        <p:blipFill>
          <a:blip r:embed="rId3">
            <a:alphaModFix/>
          </a:blip>
          <a:stretch>
            <a:fillRect/>
          </a:stretch>
        </p:blipFill>
        <p:spPr>
          <a:xfrm>
            <a:off x="934340" y="1417650"/>
            <a:ext cx="7275325" cy="4437942"/>
          </a:xfrm>
          <a:prstGeom prst="rect">
            <a:avLst/>
          </a:prstGeom>
          <a:noFill/>
          <a:ln cap="flat" cmpd="sng" w="38100">
            <a:solidFill>
              <a:srgbClr val="B4A7D6"/>
            </a:solidFill>
            <a:prstDash val="solid"/>
            <a:round/>
            <a:headEnd len="sm" w="sm" type="none"/>
            <a:tailEnd len="sm" w="sm" type="none"/>
          </a:ln>
        </p:spPr>
      </p:pic>
      <p:sp>
        <p:nvSpPr>
          <p:cNvPr id="110" name="Google Shape;110;g32bc7bd1c4a_0_7"/>
          <p:cNvSpPr/>
          <p:nvPr/>
        </p:nvSpPr>
        <p:spPr>
          <a:xfrm>
            <a:off x="6618837" y="4487569"/>
            <a:ext cx="1231025" cy="636200"/>
          </a:xfrm>
          <a:custGeom>
            <a:rect b="b" l="l" r="r" t="t"/>
            <a:pathLst>
              <a:path extrusionOk="0" h="25448" w="49241">
                <a:moveTo>
                  <a:pt x="40417" y="22526"/>
                </a:moveTo>
                <a:cubicBezTo>
                  <a:pt x="27361" y="23342"/>
                  <a:pt x="12391" y="28875"/>
                  <a:pt x="1174" y="22145"/>
                </a:cubicBezTo>
                <a:cubicBezTo>
                  <a:pt x="-898" y="20902"/>
                  <a:pt x="396" y="17289"/>
                  <a:pt x="793" y="14906"/>
                </a:cubicBezTo>
                <a:cubicBezTo>
                  <a:pt x="2961" y="1901"/>
                  <a:pt x="24821" y="-1777"/>
                  <a:pt x="37750" y="809"/>
                </a:cubicBezTo>
                <a:cubicBezTo>
                  <a:pt x="42283" y="1716"/>
                  <a:pt x="47082" y="4899"/>
                  <a:pt x="48799" y="9191"/>
                </a:cubicBezTo>
                <a:cubicBezTo>
                  <a:pt x="50932" y="14523"/>
                  <a:pt x="44636" y="23288"/>
                  <a:pt x="38893" y="23288"/>
                </a:cubicBezTo>
              </a:path>
            </a:pathLst>
          </a:custGeom>
          <a:noFill/>
          <a:ln cap="flat" cmpd="sng" w="38100">
            <a:solidFill>
              <a:srgbClr val="E69138"/>
            </a:solidFill>
            <a:prstDash val="solid"/>
            <a:round/>
            <a:headEnd len="med" w="med" type="none"/>
            <a:tailEnd len="med" w="med" type="none"/>
          </a:ln>
        </p:spPr>
      </p:sp>
      <p:sp>
        <p:nvSpPr>
          <p:cNvPr id="111" name="Google Shape;111;g32bc7bd1c4a_0_7"/>
          <p:cNvSpPr/>
          <p:nvPr/>
        </p:nvSpPr>
        <p:spPr>
          <a:xfrm>
            <a:off x="1087908" y="4818706"/>
            <a:ext cx="1540100" cy="549700"/>
          </a:xfrm>
          <a:custGeom>
            <a:rect b="b" l="l" r="r" t="t"/>
            <a:pathLst>
              <a:path extrusionOk="0" h="21988" w="61604">
                <a:moveTo>
                  <a:pt x="12942" y="17432"/>
                </a:moveTo>
                <a:cubicBezTo>
                  <a:pt x="9205" y="17432"/>
                  <a:pt x="4536" y="18170"/>
                  <a:pt x="1893" y="15527"/>
                </a:cubicBezTo>
                <a:cubicBezTo>
                  <a:pt x="-352" y="13282"/>
                  <a:pt x="-830" y="7636"/>
                  <a:pt x="1893" y="6002"/>
                </a:cubicBezTo>
                <a:cubicBezTo>
                  <a:pt x="10329" y="940"/>
                  <a:pt x="21045" y="1104"/>
                  <a:pt x="30849" y="287"/>
                </a:cubicBezTo>
                <a:cubicBezTo>
                  <a:pt x="41619" y="-610"/>
                  <a:pt x="57912" y="1084"/>
                  <a:pt x="61329" y="11336"/>
                </a:cubicBezTo>
                <a:cubicBezTo>
                  <a:pt x="63342" y="17375"/>
                  <a:pt x="50807" y="19232"/>
                  <a:pt x="44565" y="20480"/>
                </a:cubicBezTo>
                <a:cubicBezTo>
                  <a:pt x="36964" y="22000"/>
                  <a:pt x="28970" y="22516"/>
                  <a:pt x="21324" y="21242"/>
                </a:cubicBezTo>
                <a:cubicBezTo>
                  <a:pt x="18551" y="20780"/>
                  <a:pt x="14580" y="21089"/>
                  <a:pt x="13323" y="18575"/>
                </a:cubicBezTo>
              </a:path>
            </a:pathLst>
          </a:custGeom>
          <a:noFill/>
          <a:ln cap="flat" cmpd="sng" w="38100">
            <a:solidFill>
              <a:srgbClr val="E69138"/>
            </a:solidFill>
            <a:prstDash val="solid"/>
            <a:round/>
            <a:headEnd len="med" w="med" type="none"/>
            <a:tailEnd len="med" w="med" type="none"/>
          </a:ln>
        </p:spPr>
      </p:sp>
      <p:sp>
        <p:nvSpPr>
          <p:cNvPr id="112" name="Google Shape;112;g32bc7bd1c4a_0_7"/>
          <p:cNvSpPr/>
          <p:nvPr/>
        </p:nvSpPr>
        <p:spPr>
          <a:xfrm>
            <a:off x="2616178" y="4885256"/>
            <a:ext cx="2105500" cy="423875"/>
          </a:xfrm>
          <a:custGeom>
            <a:rect b="b" l="l" r="r" t="t"/>
            <a:pathLst>
              <a:path extrusionOk="0" h="16955" w="84220">
                <a:moveTo>
                  <a:pt x="75636" y="13627"/>
                </a:moveTo>
                <a:cubicBezTo>
                  <a:pt x="57834" y="13627"/>
                  <a:pt x="39961" y="18502"/>
                  <a:pt x="22296" y="16294"/>
                </a:cubicBezTo>
                <a:cubicBezTo>
                  <a:pt x="14286" y="15293"/>
                  <a:pt x="-1385" y="14303"/>
                  <a:pt x="198" y="6388"/>
                </a:cubicBezTo>
                <a:cubicBezTo>
                  <a:pt x="656" y="4098"/>
                  <a:pt x="4396" y="4228"/>
                  <a:pt x="6675" y="3721"/>
                </a:cubicBezTo>
                <a:cubicBezTo>
                  <a:pt x="15138" y="1840"/>
                  <a:pt x="23956" y="2298"/>
                  <a:pt x="32583" y="1435"/>
                </a:cubicBezTo>
                <a:cubicBezTo>
                  <a:pt x="44715" y="222"/>
                  <a:pt x="57330" y="-1141"/>
                  <a:pt x="69159" y="1816"/>
                </a:cubicBezTo>
                <a:cubicBezTo>
                  <a:pt x="73656" y="2940"/>
                  <a:pt x="79598" y="825"/>
                  <a:pt x="82875" y="4102"/>
                </a:cubicBezTo>
                <a:cubicBezTo>
                  <a:pt x="84761" y="5988"/>
                  <a:pt x="84541" y="10020"/>
                  <a:pt x="82875" y="12103"/>
                </a:cubicBezTo>
                <a:cubicBezTo>
                  <a:pt x="79991" y="15707"/>
                  <a:pt x="73775" y="14008"/>
                  <a:pt x="69159" y="14008"/>
                </a:cubicBezTo>
              </a:path>
            </a:pathLst>
          </a:custGeom>
          <a:noFill/>
          <a:ln cap="flat" cmpd="sng" w="38100">
            <a:solidFill>
              <a:srgbClr val="FFD966"/>
            </a:solidFill>
            <a:prstDash val="solid"/>
            <a:round/>
            <a:headEnd len="med" w="med" type="none"/>
            <a:tailEnd len="med" w="med" type="none"/>
          </a:ln>
        </p:spPr>
      </p:sp>
      <p:sp>
        <p:nvSpPr>
          <p:cNvPr id="113" name="Google Shape;113;g32bc7bd1c4a_0_7"/>
          <p:cNvSpPr/>
          <p:nvPr/>
        </p:nvSpPr>
        <p:spPr>
          <a:xfrm>
            <a:off x="3496193" y="5196651"/>
            <a:ext cx="1524525" cy="527475"/>
          </a:xfrm>
          <a:custGeom>
            <a:rect b="b" l="l" r="r" t="t"/>
            <a:pathLst>
              <a:path extrusionOk="0" h="21099" w="60981">
                <a:moveTo>
                  <a:pt x="27747" y="16838"/>
                </a:moveTo>
                <a:cubicBezTo>
                  <a:pt x="19589" y="18198"/>
                  <a:pt x="10934" y="20634"/>
                  <a:pt x="2982" y="18362"/>
                </a:cubicBezTo>
                <a:cubicBezTo>
                  <a:pt x="79" y="17533"/>
                  <a:pt x="-654" y="12299"/>
                  <a:pt x="696" y="9599"/>
                </a:cubicBezTo>
                <a:cubicBezTo>
                  <a:pt x="6444" y="-1897"/>
                  <a:pt x="25770" y="-701"/>
                  <a:pt x="38415" y="1598"/>
                </a:cubicBezTo>
                <a:cubicBezTo>
                  <a:pt x="45884" y="2956"/>
                  <a:pt x="56226" y="1946"/>
                  <a:pt x="60132" y="8456"/>
                </a:cubicBezTo>
                <a:cubicBezTo>
                  <a:pt x="66166" y="18513"/>
                  <a:pt x="37094" y="24369"/>
                  <a:pt x="26604" y="19124"/>
                </a:cubicBezTo>
              </a:path>
            </a:pathLst>
          </a:custGeom>
          <a:noFill/>
          <a:ln cap="flat" cmpd="sng" w="38100">
            <a:solidFill>
              <a:srgbClr val="6AA84F"/>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c9c3ce72a5_0_7"/>
          <p:cNvSpPr txBox="1"/>
          <p:nvPr>
            <p:ph type="title"/>
          </p:nvPr>
        </p:nvSpPr>
        <p:spPr>
          <a:xfrm>
            <a:off x="457200" y="1874838"/>
            <a:ext cx="8229600" cy="1143000"/>
          </a:xfrm>
          <a:prstGeom prst="rect">
            <a:avLst/>
          </a:prstGeom>
        </p:spPr>
        <p:txBody>
          <a:bodyPr anchorCtr="0" anchor="ctr"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i="1" lang="en-ZA" sz="3200">
                <a:solidFill>
                  <a:schemeClr val="dk1"/>
                </a:solidFill>
              </a:rPr>
              <a:t>“Liberating education consists in acts of cognition, not transferrals of information.</a:t>
            </a:r>
            <a:r>
              <a:rPr lang="en-ZA" sz="3200">
                <a:solidFill>
                  <a:schemeClr val="dk1"/>
                </a:solidFill>
              </a:rPr>
              <a:t>” </a:t>
            </a:r>
            <a:r>
              <a:rPr lang="en-ZA" sz="2300">
                <a:solidFill>
                  <a:schemeClr val="dk1"/>
                </a:solidFill>
              </a:rPr>
              <a:t>(Paulo Freire, </a:t>
            </a:r>
            <a:r>
              <a:rPr i="1" lang="en-ZA" sz="2300">
                <a:solidFill>
                  <a:schemeClr val="dk1"/>
                </a:solidFill>
              </a:rPr>
              <a:t>Pedagogy of the Oppressed</a:t>
            </a:r>
            <a:r>
              <a:rPr lang="en-ZA" sz="2300">
                <a:solidFill>
                  <a:schemeClr val="dk1"/>
                </a:solidFill>
              </a:rPr>
              <a:t>, 1970)</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c9c3ce72a5_0_13"/>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ZA"/>
              <a:t>“To what extent”</a:t>
            </a:r>
            <a:endParaRPr/>
          </a:p>
        </p:txBody>
      </p:sp>
      <p:sp>
        <p:nvSpPr>
          <p:cNvPr id="126" name="Google Shape;126;g3c9c3ce72a5_0_1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The </a:t>
            </a:r>
            <a:r>
              <a:rPr i="1" lang="en-ZA" sz="2100">
                <a:solidFill>
                  <a:srgbClr val="000000"/>
                </a:solidFill>
              </a:rPr>
              <a:t>Othello </a:t>
            </a:r>
            <a:r>
              <a:rPr lang="en-ZA" sz="2100">
                <a:solidFill>
                  <a:srgbClr val="000000"/>
                </a:solidFill>
              </a:rPr>
              <a:t>question, in particular, required students to plot their argument along a spectrum of possibilities. They needed to determine which characters recognised that reality is a fallible and tenuous construct and could manipulate perspective (</a:t>
            </a:r>
            <a:r>
              <a:rPr b="1" lang="en-ZA" sz="2100">
                <a:solidFill>
                  <a:srgbClr val="000000"/>
                </a:solidFill>
              </a:rPr>
              <a:t>Iago</a:t>
            </a:r>
            <a:r>
              <a:rPr lang="en-ZA" sz="2100">
                <a:solidFill>
                  <a:srgbClr val="000000"/>
                </a:solidFill>
              </a:rPr>
              <a:t>), which characters believed that “men should be what they seem” and thus fell victim to deception (</a:t>
            </a:r>
            <a:r>
              <a:rPr b="1" lang="en-ZA" sz="2100">
                <a:solidFill>
                  <a:srgbClr val="000000"/>
                </a:solidFill>
              </a:rPr>
              <a:t>Othello</a:t>
            </a:r>
            <a:r>
              <a:rPr lang="en-ZA" sz="2100">
                <a:solidFill>
                  <a:srgbClr val="000000"/>
                </a:solidFill>
              </a:rPr>
              <a:t>), and which characters were aware of duplicity but were deceived nonetheless. (</a:t>
            </a:r>
            <a:r>
              <a:rPr b="1" lang="en-ZA" sz="2100">
                <a:solidFill>
                  <a:srgbClr val="000000"/>
                </a:solidFill>
              </a:rPr>
              <a:t>Roderigo, Emilia</a:t>
            </a:r>
            <a:r>
              <a:rPr lang="en-ZA" sz="2100">
                <a:solidFill>
                  <a:srgbClr val="000000"/>
                </a:solidFill>
              </a:rPr>
              <a:t>).</a:t>
            </a:r>
            <a:br>
              <a:rPr lang="en-ZA" sz="2100">
                <a:solidFill>
                  <a:srgbClr val="000000"/>
                </a:solidFill>
              </a:rPr>
            </a:b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Celebrated students who could </a:t>
            </a:r>
            <a:r>
              <a:rPr i="1" lang="en-ZA" sz="2100">
                <a:solidFill>
                  <a:srgbClr val="000000"/>
                </a:solidFill>
              </a:rPr>
              <a:t>show that they know</a:t>
            </a:r>
            <a:r>
              <a:rPr lang="en-ZA" sz="2100">
                <a:solidFill>
                  <a:srgbClr val="000000"/>
                </a:solidFill>
              </a:rPr>
              <a:t> with confidence, accuracy and clarity.</a:t>
            </a:r>
            <a:endParaRPr sz="21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c982a9463e_0_23"/>
          <p:cNvSpPr txBox="1"/>
          <p:nvPr>
            <p:ph idx="1" type="body"/>
          </p:nvPr>
        </p:nvSpPr>
        <p:spPr>
          <a:xfrm>
            <a:off x="457200" y="215900"/>
            <a:ext cx="8229600" cy="6176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sz="2100">
              <a:solidFill>
                <a:srgbClr val="000000"/>
              </a:solidFill>
            </a:endParaRPr>
          </a:p>
          <a:p>
            <a:pPr indent="0" lvl="0" marL="0" rtl="0" algn="l">
              <a:spcBef>
                <a:spcPts val="360"/>
              </a:spcBef>
              <a:spcAft>
                <a:spcPts val="0"/>
              </a:spcAft>
              <a:buNone/>
            </a:pPr>
            <a:r>
              <a:rPr lang="en-ZA" sz="2100">
                <a:solidFill>
                  <a:srgbClr val="000000"/>
                </a:solidFill>
              </a:rPr>
              <a:t>3. This is an encoding paper: we are assessing how students can add meaning/analysis/insight/understanding to a primary text (novel or play).</a:t>
            </a:r>
            <a:endParaRPr sz="2100">
              <a:solidFill>
                <a:srgbClr val="000000"/>
              </a:solidFill>
            </a:endParaRPr>
          </a:p>
          <a:p>
            <a:pPr indent="0" lvl="0" marL="457200" rtl="0" algn="l">
              <a:spcBef>
                <a:spcPts val="360"/>
              </a:spcBef>
              <a:spcAft>
                <a:spcPts val="0"/>
              </a:spcAft>
              <a:buNone/>
            </a:pPr>
            <a:r>
              <a:t/>
            </a:r>
            <a:endParaRPr sz="2100">
              <a:solidFill>
                <a:srgbClr val="000000"/>
              </a:solidFill>
            </a:endParaRPr>
          </a:p>
          <a:p>
            <a:pPr indent="0" lvl="0" marL="0" rtl="0" algn="l">
              <a:lnSpc>
                <a:spcPct val="115000"/>
              </a:lnSpc>
              <a:spcBef>
                <a:spcPts val="1200"/>
              </a:spcBef>
              <a:spcAft>
                <a:spcPts val="0"/>
              </a:spcAft>
              <a:buNone/>
            </a:pPr>
            <a:r>
              <a:rPr lang="en-ZA" sz="2100">
                <a:solidFill>
                  <a:srgbClr val="000000"/>
                </a:solidFill>
              </a:rPr>
              <a:t>4. Implicit in the skill of writing, is the candidate’s ability to select evidence from the text. This is on a small level, choosing the correct quotes, from the correct point in the play, but on a more significant level, the candidate’s ability to refer to big events, scenes, and characters. And perhaps, most importantly, a candidate’s ability to choose the correct topic that will illustrate their knowledge, skill and voice the best.</a:t>
            </a:r>
            <a:endParaRPr b="1" sz="2100">
              <a:solidFill>
                <a:srgbClr val="134F5C"/>
              </a:solidFill>
            </a:endParaRPr>
          </a:p>
          <a:p>
            <a:pPr indent="0" lvl="0" marL="0" rtl="0" algn="l">
              <a:spcBef>
                <a:spcPts val="1200"/>
              </a:spcBef>
              <a:spcAft>
                <a:spcPts val="0"/>
              </a:spcAft>
              <a:buNone/>
            </a:pPr>
            <a:r>
              <a:t/>
            </a:r>
            <a:endParaRPr sz="2100"/>
          </a:p>
          <a:p>
            <a:pPr indent="0" lvl="0" marL="0" rtl="0" algn="l">
              <a:spcBef>
                <a:spcPts val="360"/>
              </a:spcBef>
              <a:spcAft>
                <a:spcPts val="0"/>
              </a:spcAft>
              <a:buNone/>
            </a:pPr>
            <a:r>
              <a:t/>
            </a:r>
            <a:endParaRPr sz="2100"/>
          </a:p>
          <a:p>
            <a:pPr indent="0" lvl="0" marL="914400" rtl="0" algn="l">
              <a:spcBef>
                <a:spcPts val="360"/>
              </a:spcBef>
              <a:spcAft>
                <a:spcPts val="0"/>
              </a:spcAft>
              <a:buNone/>
            </a:pPr>
            <a:r>
              <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c9c3ce72a5_0_5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t/>
            </a:r>
            <a:endParaRPr sz="2100"/>
          </a:p>
          <a:p>
            <a:pPr indent="0" lvl="0" marL="0" rtl="0" algn="l">
              <a:spcBef>
                <a:spcPts val="360"/>
              </a:spcBef>
              <a:spcAft>
                <a:spcPts val="0"/>
              </a:spcAft>
              <a:buNone/>
            </a:pPr>
            <a:r>
              <a:rPr lang="en-ZA" sz="2100"/>
              <a:t>5. On the whole, we saw a decline of rehearsed essays.</a:t>
            </a:r>
            <a:endParaRPr sz="2100"/>
          </a:p>
          <a:p>
            <a:pPr indent="0" lvl="0" marL="0" rtl="0" algn="l">
              <a:spcBef>
                <a:spcPts val="360"/>
              </a:spcBef>
              <a:spcAft>
                <a:spcPts val="0"/>
              </a:spcAft>
              <a:buNone/>
            </a:pPr>
            <a:r>
              <a:rPr lang="en-ZA" sz="2100"/>
              <a:t>6. Success across both essays relied on a student’s ability to </a:t>
            </a:r>
            <a:endParaRPr sz="2100"/>
          </a:p>
          <a:p>
            <a:pPr indent="-361950" lvl="1" marL="914400" rtl="0" algn="l">
              <a:spcBef>
                <a:spcPts val="360"/>
              </a:spcBef>
              <a:spcAft>
                <a:spcPts val="0"/>
              </a:spcAft>
              <a:buSzPts val="2100"/>
              <a:buAutoNum type="alphaLcPeriod"/>
            </a:pPr>
            <a:r>
              <a:rPr lang="en-ZA" sz="2100"/>
              <a:t>Determine a clear and clean thesis statement. </a:t>
            </a:r>
            <a:endParaRPr sz="2100"/>
          </a:p>
          <a:p>
            <a:pPr indent="-361950" lvl="1" marL="914400" rtl="0" algn="l">
              <a:spcBef>
                <a:spcPts val="0"/>
              </a:spcBef>
              <a:spcAft>
                <a:spcPts val="0"/>
              </a:spcAft>
              <a:buSzPts val="2100"/>
              <a:buAutoNum type="alphaLcPeriod"/>
            </a:pPr>
            <a:r>
              <a:rPr lang="en-ZA" sz="2100"/>
              <a:t>Develop a logical progression of argument, with cohesive language.</a:t>
            </a:r>
            <a:endParaRPr sz="2100"/>
          </a:p>
          <a:p>
            <a:pPr indent="-361950" lvl="1" marL="914400" rtl="0" algn="l">
              <a:spcBef>
                <a:spcPts val="0"/>
              </a:spcBef>
              <a:spcAft>
                <a:spcPts val="0"/>
              </a:spcAft>
              <a:buSzPts val="2100"/>
              <a:buAutoNum type="alphaLcPeriod"/>
            </a:pPr>
            <a:r>
              <a:rPr lang="en-ZA" sz="2100"/>
              <a:t>Structure rich paragraphs that tackled an aspect of their argument at a time. </a:t>
            </a:r>
            <a:endParaRPr sz="2100"/>
          </a:p>
          <a:p>
            <a:pPr indent="-361950" lvl="1" marL="914400" rtl="0" algn="l">
              <a:spcBef>
                <a:spcPts val="0"/>
              </a:spcBef>
              <a:spcAft>
                <a:spcPts val="0"/>
              </a:spcAft>
              <a:buSzPts val="2100"/>
              <a:buAutoNum type="alphaLcPeriod"/>
            </a:pPr>
            <a:r>
              <a:rPr lang="en-ZA" sz="2100"/>
              <a:t>Reference to scenes/events must be chronologically arranged.</a:t>
            </a:r>
            <a:endParaRPr sz="2100"/>
          </a:p>
          <a:p>
            <a:pPr indent="-361950" lvl="1" marL="914400" rtl="0" algn="l">
              <a:spcBef>
                <a:spcPts val="0"/>
              </a:spcBef>
              <a:spcAft>
                <a:spcPts val="0"/>
              </a:spcAft>
              <a:buSzPts val="2100"/>
              <a:buAutoNum type="alphaLcPeriod"/>
            </a:pPr>
            <a:r>
              <a:rPr lang="en-ZA" sz="2100"/>
              <a:t>Root their argument in a scene or moment in the play, &amp; weave together literary evidence that build a compelling argument: quotes, paraphrasing, symbolism, diction, imagery, etc.</a:t>
            </a:r>
            <a:endParaRPr sz="2100"/>
          </a:p>
          <a:p>
            <a:pPr indent="0" lvl="0" marL="914400" rtl="0" algn="l">
              <a:spcBef>
                <a:spcPts val="360"/>
              </a:spcBef>
              <a:spcAft>
                <a:spcPts val="0"/>
              </a:spcAft>
              <a:buClr>
                <a:schemeClr val="dk1"/>
              </a:buClr>
              <a:buSzPts val="1100"/>
              <a:buFont typeface="Arial"/>
              <a:buNone/>
            </a:pPr>
            <a:r>
              <a:t/>
            </a:r>
            <a:endParaRPr sz="2100"/>
          </a:p>
          <a:p>
            <a:pPr indent="0" lvl="0" marL="0" rtl="0" algn="l">
              <a:spcBef>
                <a:spcPts val="36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c9c3ce72a5_0_21"/>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ZA"/>
              <a:t>PEEL</a:t>
            </a:r>
            <a:endParaRPr/>
          </a:p>
        </p:txBody>
      </p:sp>
      <p:sp>
        <p:nvSpPr>
          <p:cNvPr id="145" name="Google Shape;145;g3c9c3ce72a5_0_21"/>
          <p:cNvSpPr txBox="1"/>
          <p:nvPr>
            <p:ph idx="1" type="body"/>
          </p:nvPr>
        </p:nvSpPr>
        <p:spPr>
          <a:xfrm>
            <a:off x="457200" y="1417650"/>
            <a:ext cx="8229600" cy="6176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sz="2100"/>
          </a:p>
          <a:p>
            <a:pPr indent="0" lvl="0" marL="457200" marR="0" rtl="0" algn="l">
              <a:lnSpc>
                <a:spcPct val="100000"/>
              </a:lnSpc>
              <a:spcBef>
                <a:spcPts val="360"/>
              </a:spcBef>
              <a:spcAft>
                <a:spcPts val="0"/>
              </a:spcAft>
              <a:buNone/>
            </a:pPr>
            <a:r>
              <a:rPr lang="en-ZA" sz="2100"/>
              <a:t>7. PEEL/</a:t>
            </a:r>
            <a:r>
              <a:rPr lang="en-ZA" sz="2100"/>
              <a:t>Burger</a:t>
            </a:r>
            <a:r>
              <a:rPr lang="en-ZA" sz="2100"/>
              <a:t> method/PEAL,            are useful mechanisms to show structured thinking/reasoning - particularly when introducing literary essays in high school. </a:t>
            </a:r>
            <a:endParaRPr sz="2100"/>
          </a:p>
          <a:p>
            <a:pPr indent="0" lvl="0" marL="457200" rtl="0" algn="l">
              <a:spcBef>
                <a:spcPts val="360"/>
              </a:spcBef>
              <a:spcAft>
                <a:spcPts val="0"/>
              </a:spcAft>
              <a:buNone/>
            </a:pPr>
            <a:r>
              <a:t/>
            </a:r>
            <a:endParaRPr sz="2100"/>
          </a:p>
          <a:p>
            <a:pPr indent="0" lvl="0" marL="457200" rtl="0" algn="l">
              <a:spcBef>
                <a:spcPts val="360"/>
              </a:spcBef>
              <a:spcAft>
                <a:spcPts val="0"/>
              </a:spcAft>
              <a:buNone/>
            </a:pPr>
            <a:r>
              <a:rPr lang="en-ZA" sz="2100"/>
              <a:t>8. Please encourage students to develop a confident approach to writing paragraphs, and develop depth, fluidity and rigor. Any method of </a:t>
            </a:r>
            <a:r>
              <a:rPr lang="en-ZA" sz="2100"/>
              <a:t>organising an argument is useful, provided it does not harden into formula or superficiality.</a:t>
            </a:r>
            <a:r>
              <a:rPr lang="en-ZA" sz="2100"/>
              <a:t> Students are encouraged to stretch their language, and imagine ways to refer back to the topic in order to avoid </a:t>
            </a:r>
            <a:r>
              <a:rPr lang="en-ZA" sz="2100"/>
              <a:t>repetitive</a:t>
            </a:r>
            <a:r>
              <a:rPr lang="en-ZA" sz="2100"/>
              <a:t> phrasing.</a:t>
            </a:r>
            <a:endParaRPr sz="2100"/>
          </a:p>
          <a:p>
            <a:pPr indent="0" lvl="0" marL="0" rtl="0" algn="l">
              <a:spcBef>
                <a:spcPts val="360"/>
              </a:spcBef>
              <a:spcAft>
                <a:spcPts val="0"/>
              </a:spcAft>
              <a:buNone/>
            </a:pPr>
            <a:r>
              <a:t/>
            </a:r>
            <a:endParaRPr sz="2100"/>
          </a:p>
        </p:txBody>
      </p:sp>
      <p:pic>
        <p:nvPicPr>
          <p:cNvPr id="146" name="Google Shape;146;g3c9c3ce72a5_0_21" title="pretzel_1f968.png"/>
          <p:cNvPicPr preferRelativeResize="0"/>
          <p:nvPr/>
        </p:nvPicPr>
        <p:blipFill>
          <a:blip r:embed="rId3">
            <a:alphaModFix/>
          </a:blip>
          <a:stretch>
            <a:fillRect/>
          </a:stretch>
        </p:blipFill>
        <p:spPr>
          <a:xfrm>
            <a:off x="4800600" y="1531950"/>
            <a:ext cx="674325" cy="674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c9c3ce72a5_0_28"/>
          <p:cNvSpPr txBox="1"/>
          <p:nvPr>
            <p:ph idx="1" type="body"/>
          </p:nvPr>
        </p:nvSpPr>
        <p:spPr>
          <a:xfrm>
            <a:off x="682050" y="144475"/>
            <a:ext cx="7779900" cy="4218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360"/>
              </a:spcBef>
              <a:spcAft>
                <a:spcPts val="0"/>
              </a:spcAft>
              <a:buNone/>
            </a:pPr>
            <a:r>
              <a:rPr lang="en-ZA" sz="2000"/>
              <a:t>Iago states quite boldly to Roderigo that he “[is] not what [he is]”. His duplicitous nature is clear through his actions as well, as he emerges from the darkness and shouts alarmist statements up to Desdemona’s father, Brabantio. Iago deftly reframes the love affair between Desdemona and Othello as something bestial, warping Brabantio’s once-fond feelings for Othello into something hateful. Iago relies on Brabantio’s nascent prejudice, as he claims that Othello is a “black ram” who is “tupping” his innocent daughter. Iago’s use of imagery relies on racial stereotypes of an oversexed Moor who exploits the innocence and fragility of white, Venetian girlhood. Moreover, Iago happily twists the good reputation of Othello by implying that Othello has used witchcraft to beguile Desdemona. Brabantio is enraged, and, thus, his perspective has been successfully distorted. </a:t>
            </a:r>
            <a:endParaRPr sz="2000"/>
          </a:p>
        </p:txBody>
      </p:sp>
      <p:cxnSp>
        <p:nvCxnSpPr>
          <p:cNvPr id="153" name="Google Shape;153;g3c9c3ce72a5_0_28"/>
          <p:cNvCxnSpPr/>
          <p:nvPr/>
        </p:nvCxnSpPr>
        <p:spPr>
          <a:xfrm>
            <a:off x="5665425" y="539750"/>
            <a:ext cx="2286000" cy="0"/>
          </a:xfrm>
          <a:prstGeom prst="straightConnector1">
            <a:avLst/>
          </a:prstGeom>
          <a:noFill/>
          <a:ln cap="flat" cmpd="sng" w="38100">
            <a:solidFill>
              <a:srgbClr val="F1C232"/>
            </a:solidFill>
            <a:prstDash val="solid"/>
            <a:round/>
            <a:headEnd len="med" w="med" type="none"/>
            <a:tailEnd len="med" w="med" type="none"/>
          </a:ln>
        </p:spPr>
      </p:cxnSp>
      <p:cxnSp>
        <p:nvCxnSpPr>
          <p:cNvPr id="154" name="Google Shape;154;g3c9c3ce72a5_0_28"/>
          <p:cNvCxnSpPr/>
          <p:nvPr/>
        </p:nvCxnSpPr>
        <p:spPr>
          <a:xfrm>
            <a:off x="1521975" y="1108100"/>
            <a:ext cx="2286000" cy="0"/>
          </a:xfrm>
          <a:prstGeom prst="straightConnector1">
            <a:avLst/>
          </a:prstGeom>
          <a:noFill/>
          <a:ln cap="flat" cmpd="sng" w="38100">
            <a:solidFill>
              <a:srgbClr val="F1C232"/>
            </a:solidFill>
            <a:prstDash val="solid"/>
            <a:round/>
            <a:headEnd len="med" w="med" type="none"/>
            <a:tailEnd len="med" w="med" type="none"/>
          </a:ln>
        </p:spPr>
      </p:cxnSp>
      <p:cxnSp>
        <p:nvCxnSpPr>
          <p:cNvPr id="155" name="Google Shape;155;g3c9c3ce72a5_0_28"/>
          <p:cNvCxnSpPr/>
          <p:nvPr/>
        </p:nvCxnSpPr>
        <p:spPr>
          <a:xfrm>
            <a:off x="5455875" y="1098500"/>
            <a:ext cx="1295400" cy="19200"/>
          </a:xfrm>
          <a:prstGeom prst="straightConnector1">
            <a:avLst/>
          </a:prstGeom>
          <a:noFill/>
          <a:ln cap="flat" cmpd="sng" w="38100">
            <a:solidFill>
              <a:srgbClr val="F1C232"/>
            </a:solidFill>
            <a:prstDash val="solid"/>
            <a:round/>
            <a:headEnd len="med" w="med" type="none"/>
            <a:tailEnd len="med" w="med" type="none"/>
          </a:ln>
        </p:spPr>
      </p:cxnSp>
      <p:cxnSp>
        <p:nvCxnSpPr>
          <p:cNvPr id="156" name="Google Shape;156;g3c9c3ce72a5_0_28"/>
          <p:cNvCxnSpPr/>
          <p:nvPr/>
        </p:nvCxnSpPr>
        <p:spPr>
          <a:xfrm>
            <a:off x="3217425" y="2327300"/>
            <a:ext cx="2286000" cy="0"/>
          </a:xfrm>
          <a:prstGeom prst="straightConnector1">
            <a:avLst/>
          </a:prstGeom>
          <a:noFill/>
          <a:ln cap="flat" cmpd="sng" w="38100">
            <a:solidFill>
              <a:srgbClr val="F1C232"/>
            </a:solidFill>
            <a:prstDash val="solid"/>
            <a:round/>
            <a:headEnd len="med" w="med" type="none"/>
            <a:tailEnd len="med" w="med" type="none"/>
          </a:ln>
        </p:spPr>
      </p:cxnSp>
      <p:cxnSp>
        <p:nvCxnSpPr>
          <p:cNvPr id="157" name="Google Shape;157;g3c9c3ce72a5_0_28"/>
          <p:cNvCxnSpPr/>
          <p:nvPr/>
        </p:nvCxnSpPr>
        <p:spPr>
          <a:xfrm>
            <a:off x="2579325" y="2632100"/>
            <a:ext cx="2286000" cy="0"/>
          </a:xfrm>
          <a:prstGeom prst="straightConnector1">
            <a:avLst/>
          </a:prstGeom>
          <a:noFill/>
          <a:ln cap="flat" cmpd="sng" w="38100">
            <a:solidFill>
              <a:srgbClr val="F1C232"/>
            </a:solidFill>
            <a:prstDash val="solid"/>
            <a:round/>
            <a:headEnd len="med" w="med" type="none"/>
            <a:tailEnd len="med" w="med" type="none"/>
          </a:ln>
        </p:spPr>
      </p:cxnSp>
      <p:cxnSp>
        <p:nvCxnSpPr>
          <p:cNvPr id="158" name="Google Shape;158;g3c9c3ce72a5_0_28"/>
          <p:cNvCxnSpPr/>
          <p:nvPr/>
        </p:nvCxnSpPr>
        <p:spPr>
          <a:xfrm>
            <a:off x="1674525" y="2936900"/>
            <a:ext cx="2286000" cy="0"/>
          </a:xfrm>
          <a:prstGeom prst="straightConnector1">
            <a:avLst/>
          </a:prstGeom>
          <a:noFill/>
          <a:ln cap="flat" cmpd="sng" w="38100">
            <a:solidFill>
              <a:srgbClr val="F1C232"/>
            </a:solidFill>
            <a:prstDash val="solid"/>
            <a:round/>
            <a:headEnd len="med" w="med" type="none"/>
            <a:tailEnd len="med" w="med" type="none"/>
          </a:ln>
        </p:spPr>
      </p:cxnSp>
      <p:cxnSp>
        <p:nvCxnSpPr>
          <p:cNvPr id="159" name="Google Shape;159;g3c9c3ce72a5_0_28"/>
          <p:cNvCxnSpPr/>
          <p:nvPr/>
        </p:nvCxnSpPr>
        <p:spPr>
          <a:xfrm>
            <a:off x="4417725" y="3870350"/>
            <a:ext cx="2286000" cy="0"/>
          </a:xfrm>
          <a:prstGeom prst="straightConnector1">
            <a:avLst/>
          </a:prstGeom>
          <a:noFill/>
          <a:ln cap="flat" cmpd="sng" w="38100">
            <a:solidFill>
              <a:srgbClr val="F1C232"/>
            </a:solidFill>
            <a:prstDash val="solid"/>
            <a:round/>
            <a:headEnd len="med" w="med" type="none"/>
            <a:tailEnd len="med" w="med" type="none"/>
          </a:ln>
        </p:spPr>
      </p:cxnSp>
      <p:cxnSp>
        <p:nvCxnSpPr>
          <p:cNvPr id="160" name="Google Shape;160;g3c9c3ce72a5_0_28"/>
          <p:cNvCxnSpPr/>
          <p:nvPr/>
        </p:nvCxnSpPr>
        <p:spPr>
          <a:xfrm>
            <a:off x="5503425" y="1342475"/>
            <a:ext cx="1200300" cy="26700"/>
          </a:xfrm>
          <a:prstGeom prst="straightConnector1">
            <a:avLst/>
          </a:prstGeom>
          <a:noFill/>
          <a:ln cap="flat" cmpd="sng" w="38100">
            <a:solidFill>
              <a:srgbClr val="93C47D"/>
            </a:solidFill>
            <a:prstDash val="solid"/>
            <a:round/>
            <a:headEnd len="med" w="med" type="none"/>
            <a:tailEnd len="med" w="med" type="none"/>
          </a:ln>
        </p:spPr>
      </p:cxnSp>
      <p:cxnSp>
        <p:nvCxnSpPr>
          <p:cNvPr id="161" name="Google Shape;161;g3c9c3ce72a5_0_28"/>
          <p:cNvCxnSpPr/>
          <p:nvPr/>
        </p:nvCxnSpPr>
        <p:spPr>
          <a:xfrm>
            <a:off x="2760225" y="4362775"/>
            <a:ext cx="1200300" cy="26700"/>
          </a:xfrm>
          <a:prstGeom prst="straightConnector1">
            <a:avLst/>
          </a:prstGeom>
          <a:noFill/>
          <a:ln cap="flat" cmpd="sng" w="38100">
            <a:solidFill>
              <a:srgbClr val="93C47D"/>
            </a:solidFill>
            <a:prstDash val="solid"/>
            <a:round/>
            <a:headEnd len="med" w="med" type="none"/>
            <a:tailEnd len="med" w="med" type="none"/>
          </a:ln>
        </p:spPr>
      </p:cxnSp>
      <p:cxnSp>
        <p:nvCxnSpPr>
          <p:cNvPr id="162" name="Google Shape;162;g3c9c3ce72a5_0_28"/>
          <p:cNvCxnSpPr/>
          <p:nvPr/>
        </p:nvCxnSpPr>
        <p:spPr>
          <a:xfrm>
            <a:off x="7132125" y="1744275"/>
            <a:ext cx="771900" cy="7200"/>
          </a:xfrm>
          <a:prstGeom prst="straightConnector1">
            <a:avLst/>
          </a:prstGeom>
          <a:noFill/>
          <a:ln cap="flat" cmpd="sng" w="38100">
            <a:solidFill>
              <a:srgbClr val="93C47D"/>
            </a:solidFill>
            <a:prstDash val="solid"/>
            <a:round/>
            <a:headEnd len="med" w="med" type="none"/>
            <a:tailEnd len="med" w="med" type="none"/>
          </a:ln>
        </p:spPr>
      </p:cxnSp>
      <p:cxnSp>
        <p:nvCxnSpPr>
          <p:cNvPr id="163" name="Google Shape;163;g3c9c3ce72a5_0_28"/>
          <p:cNvCxnSpPr/>
          <p:nvPr/>
        </p:nvCxnSpPr>
        <p:spPr>
          <a:xfrm>
            <a:off x="6703725" y="3857000"/>
            <a:ext cx="1200300" cy="26700"/>
          </a:xfrm>
          <a:prstGeom prst="straightConnector1">
            <a:avLst/>
          </a:prstGeom>
          <a:noFill/>
          <a:ln cap="flat" cmpd="sng" w="38100">
            <a:solidFill>
              <a:srgbClr val="93C47D"/>
            </a:solidFill>
            <a:prstDash val="solid"/>
            <a:round/>
            <a:headEnd len="med" w="med" type="none"/>
            <a:tailEnd len="med" w="med" type="none"/>
          </a:ln>
        </p:spPr>
      </p:cxnSp>
      <p:cxnSp>
        <p:nvCxnSpPr>
          <p:cNvPr id="164" name="Google Shape;164;g3c9c3ce72a5_0_28"/>
          <p:cNvCxnSpPr/>
          <p:nvPr/>
        </p:nvCxnSpPr>
        <p:spPr>
          <a:xfrm>
            <a:off x="4170075" y="3534413"/>
            <a:ext cx="1200300" cy="26700"/>
          </a:xfrm>
          <a:prstGeom prst="straightConnector1">
            <a:avLst/>
          </a:prstGeom>
          <a:noFill/>
          <a:ln cap="flat" cmpd="sng" w="38100">
            <a:solidFill>
              <a:srgbClr val="93C47D"/>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c9c3ce72a5_0_48"/>
          <p:cNvSpPr txBox="1"/>
          <p:nvPr>
            <p:ph idx="1" type="body"/>
          </p:nvPr>
        </p:nvSpPr>
        <p:spPr>
          <a:xfrm>
            <a:off x="457200" y="977900"/>
            <a:ext cx="8229600" cy="6176700"/>
          </a:xfrm>
          <a:prstGeom prst="rect">
            <a:avLst/>
          </a:prstGeom>
        </p:spPr>
        <p:txBody>
          <a:bodyPr anchorCtr="0" anchor="t" bIns="45700" lIns="91425" spcFirstLastPara="1" rIns="91425" wrap="square" tIns="45700">
            <a:noAutofit/>
          </a:bodyPr>
          <a:lstStyle/>
          <a:p>
            <a:pPr indent="-349250" lvl="0" marL="457200" marR="0" rtl="0" algn="l">
              <a:lnSpc>
                <a:spcPct val="100000"/>
              </a:lnSpc>
              <a:spcBef>
                <a:spcPts val="360"/>
              </a:spcBef>
              <a:spcAft>
                <a:spcPts val="0"/>
              </a:spcAft>
              <a:buSzPts val="1900"/>
              <a:buChar char="•"/>
            </a:pPr>
            <a:r>
              <a:rPr lang="en-ZA" sz="1900"/>
              <a:t>Use present tense (‘Iago believes…”)</a:t>
            </a:r>
            <a:br>
              <a:rPr lang="en-ZA" sz="1900"/>
            </a:br>
            <a:endParaRPr sz="1900"/>
          </a:p>
          <a:p>
            <a:pPr indent="-349250" lvl="0" marL="457200" marR="0" rtl="0" algn="l">
              <a:lnSpc>
                <a:spcPct val="100000"/>
              </a:lnSpc>
              <a:spcBef>
                <a:spcPts val="0"/>
              </a:spcBef>
              <a:spcAft>
                <a:spcPts val="0"/>
              </a:spcAft>
              <a:buSzPts val="1900"/>
              <a:buChar char="•"/>
            </a:pPr>
            <a:r>
              <a:rPr lang="en-ZA" sz="1900"/>
              <a:t>Integrate quotes grammatically – they should not simply ‘float’ in an essay, or remain uninterrogated/unexplained.</a:t>
            </a:r>
            <a:br>
              <a:rPr lang="en-ZA" sz="1900"/>
            </a:br>
            <a:endParaRPr sz="1900"/>
          </a:p>
          <a:p>
            <a:pPr indent="-349250" lvl="0" marL="457200" marR="0" rtl="0" algn="l">
              <a:lnSpc>
                <a:spcPct val="100000"/>
              </a:lnSpc>
              <a:spcBef>
                <a:spcPts val="0"/>
              </a:spcBef>
              <a:spcAft>
                <a:spcPts val="0"/>
              </a:spcAft>
              <a:buSzPts val="1900"/>
              <a:buChar char="•"/>
            </a:pPr>
            <a:r>
              <a:rPr lang="en-ZA" sz="1900"/>
              <a:t>Formal register throughout, absolute avoidance of colloquial terms, slang terms (</a:t>
            </a:r>
            <a:r>
              <a:rPr i="1" lang="en-ZA" sz="1900"/>
              <a:t>unalived</a:t>
            </a:r>
            <a:r>
              <a:rPr lang="en-ZA" sz="1900"/>
              <a:t>, ‘</a:t>
            </a:r>
            <a:r>
              <a:rPr i="1" lang="en-ZA" sz="1900"/>
              <a:t>gets with’ Desdemona</a:t>
            </a:r>
            <a:r>
              <a:rPr lang="en-ZA" sz="1900"/>
              <a:t>’, ‘</a:t>
            </a:r>
            <a:r>
              <a:rPr i="1" lang="en-ZA" sz="1900"/>
              <a:t>Did Othello dirty</a:t>
            </a:r>
            <a:r>
              <a:rPr lang="en-ZA" sz="1900"/>
              <a:t>’, ‘</a:t>
            </a:r>
            <a:r>
              <a:rPr i="1" lang="en-ZA" sz="1900"/>
              <a:t>Desdemona is for the streets”)</a:t>
            </a:r>
            <a:br>
              <a:rPr i="1" lang="en-ZA" sz="1900"/>
            </a:br>
            <a:endParaRPr sz="1900"/>
          </a:p>
          <a:p>
            <a:pPr indent="-349250" lvl="0" marL="457200" marR="0" rtl="0" algn="l">
              <a:lnSpc>
                <a:spcPct val="100000"/>
              </a:lnSpc>
              <a:spcBef>
                <a:spcPts val="0"/>
              </a:spcBef>
              <a:spcAft>
                <a:spcPts val="0"/>
              </a:spcAft>
              <a:buSzPts val="1900"/>
              <a:buChar char="•"/>
            </a:pPr>
            <a:r>
              <a:rPr lang="en-ZA" sz="1900"/>
              <a:t>Students must use accurate quotes and close reference to texts. No sweeping statements.</a:t>
            </a:r>
            <a:br>
              <a:rPr lang="en-ZA" sz="1900"/>
            </a:br>
            <a:endParaRPr sz="1900"/>
          </a:p>
          <a:p>
            <a:pPr indent="-349250" lvl="0" marL="457200" marR="0" rtl="0" algn="l">
              <a:lnSpc>
                <a:spcPct val="100000"/>
              </a:lnSpc>
              <a:spcBef>
                <a:spcPts val="0"/>
              </a:spcBef>
              <a:spcAft>
                <a:spcPts val="0"/>
              </a:spcAft>
              <a:buSzPts val="1900"/>
              <a:buChar char="•"/>
            </a:pPr>
            <a:r>
              <a:rPr lang="en-ZA" sz="1900"/>
              <a:t>Underline titles, especially with eponymous characters.</a:t>
            </a:r>
            <a:endParaRPr sz="1900"/>
          </a:p>
          <a:p>
            <a:pPr indent="-349250" lvl="0" marL="457200" marR="0" rtl="0" algn="l">
              <a:lnSpc>
                <a:spcPct val="100000"/>
              </a:lnSpc>
              <a:spcBef>
                <a:spcPts val="0"/>
              </a:spcBef>
              <a:spcAft>
                <a:spcPts val="0"/>
              </a:spcAft>
              <a:buSzPts val="1900"/>
              <a:buChar char="•"/>
            </a:pPr>
            <a:r>
              <a:rPr lang="en-ZA" sz="1900"/>
              <a:t>Avoid ‘you’ point of view</a:t>
            </a:r>
            <a:br>
              <a:rPr lang="en-ZA" sz="1900"/>
            </a:br>
            <a:endParaRPr sz="1900"/>
          </a:p>
          <a:p>
            <a:pPr indent="-349250" lvl="0" marL="457200" marR="0" rtl="0" algn="l">
              <a:lnSpc>
                <a:spcPct val="100000"/>
              </a:lnSpc>
              <a:spcBef>
                <a:spcPts val="0"/>
              </a:spcBef>
              <a:spcAft>
                <a:spcPts val="0"/>
              </a:spcAft>
              <a:buSzPts val="1900"/>
              <a:buChar char="•"/>
            </a:pPr>
            <a:r>
              <a:rPr lang="en-ZA" sz="1900"/>
              <a:t>Please avoid philosophical introductions</a:t>
            </a:r>
            <a:br>
              <a:rPr lang="en-ZA" sz="1900"/>
            </a:br>
            <a:endParaRPr sz="1900"/>
          </a:p>
          <a:p>
            <a:pPr indent="-349250" lvl="0" marL="457200" marR="0" rtl="0" algn="l">
              <a:lnSpc>
                <a:spcPct val="100000"/>
              </a:lnSpc>
              <a:spcBef>
                <a:spcPts val="0"/>
              </a:spcBef>
              <a:spcAft>
                <a:spcPts val="0"/>
              </a:spcAft>
              <a:buSzPts val="1900"/>
              <a:buChar char="•"/>
            </a:pPr>
            <a:r>
              <a:rPr lang="en-ZA" sz="1900"/>
              <a:t>No rhetorical questions</a:t>
            </a:r>
            <a:br>
              <a:rPr lang="en-ZA" sz="1900"/>
            </a:br>
            <a:endParaRPr sz="1900"/>
          </a:p>
          <a:p>
            <a:pPr indent="-349250" lvl="0" marL="457200" marR="0" rtl="0" algn="l">
              <a:lnSpc>
                <a:spcPct val="100000"/>
              </a:lnSpc>
              <a:spcBef>
                <a:spcPts val="0"/>
              </a:spcBef>
              <a:spcAft>
                <a:spcPts val="0"/>
              </a:spcAft>
              <a:buSzPts val="1900"/>
              <a:buChar char="•"/>
            </a:pPr>
            <a:r>
              <a:rPr lang="en-ZA" sz="1900"/>
              <a:t>Avoid moralising/didactic writing.</a:t>
            </a:r>
            <a:endParaRPr sz="1900"/>
          </a:p>
          <a:p>
            <a:pPr indent="0" lvl="0" marL="0" marR="0" rtl="0" algn="l">
              <a:lnSpc>
                <a:spcPct val="100000"/>
              </a:lnSpc>
              <a:spcBef>
                <a:spcPts val="360"/>
              </a:spcBef>
              <a:spcAft>
                <a:spcPts val="0"/>
              </a:spcAft>
              <a:buNone/>
            </a:pPr>
            <a:r>
              <a:t/>
            </a:r>
            <a:endParaRPr sz="1900"/>
          </a:p>
        </p:txBody>
      </p:sp>
      <p:sp>
        <p:nvSpPr>
          <p:cNvPr id="171" name="Google Shape;171;g3c9c3ce72a5_0_48"/>
          <p:cNvSpPr txBox="1"/>
          <p:nvPr>
            <p:ph type="title"/>
          </p:nvPr>
        </p:nvSpPr>
        <p:spPr>
          <a:xfrm>
            <a:off x="457200" y="-1222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ZA"/>
              <a:t>Style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2bc7bd1c4a_0_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Novels: </a:t>
            </a:r>
            <a:r>
              <a:rPr i="1" lang="en-ZA"/>
              <a:t>Brave New World</a:t>
            </a:r>
            <a:r>
              <a:rPr i="1" lang="en-ZA"/>
              <a:t> &amp; The The White Tiger</a:t>
            </a:r>
            <a:endParaRPr i="1"/>
          </a:p>
        </p:txBody>
      </p:sp>
      <p:pic>
        <p:nvPicPr>
          <p:cNvPr id="178" name="Google Shape;178;g32bc7bd1c4a_0_22"/>
          <p:cNvPicPr preferRelativeResize="0"/>
          <p:nvPr/>
        </p:nvPicPr>
        <p:blipFill>
          <a:blip r:embed="rId3">
            <a:alphaModFix/>
          </a:blip>
          <a:stretch>
            <a:fillRect/>
          </a:stretch>
        </p:blipFill>
        <p:spPr>
          <a:xfrm>
            <a:off x="457200" y="1570038"/>
            <a:ext cx="8624349" cy="5135562"/>
          </a:xfrm>
          <a:prstGeom prst="rect">
            <a:avLst/>
          </a:prstGeom>
          <a:noFill/>
          <a:ln cap="flat" cmpd="sng" w="38100">
            <a:solidFill>
              <a:srgbClr val="F6B26B"/>
            </a:solidFill>
            <a:prstDash val="solid"/>
            <a:round/>
            <a:headEnd len="sm" w="sm" type="none"/>
            <a:tailEnd len="sm" w="sm" type="none"/>
          </a:ln>
        </p:spPr>
      </p:pic>
      <p:pic>
        <p:nvPicPr>
          <p:cNvPr id="179" name="Google Shape;179;g32bc7bd1c4a_0_22"/>
          <p:cNvPicPr preferRelativeResize="0"/>
          <p:nvPr/>
        </p:nvPicPr>
        <p:blipFill>
          <a:blip r:embed="rId4">
            <a:alphaModFix/>
          </a:blip>
          <a:stretch>
            <a:fillRect/>
          </a:stretch>
        </p:blipFill>
        <p:spPr>
          <a:xfrm>
            <a:off x="3703675" y="1804214"/>
            <a:ext cx="7742800" cy="4667225"/>
          </a:xfrm>
          <a:prstGeom prst="rect">
            <a:avLst/>
          </a:prstGeom>
          <a:noFill/>
          <a:ln cap="flat" cmpd="sng" w="38100">
            <a:solidFill>
              <a:srgbClr val="93C47D"/>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c982a9463e_0_38"/>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86" name="Google Shape;186;g3c982a9463e_0_3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187" name="Google Shape;187;g3c982a9463e_0_38"/>
          <p:cNvPicPr preferRelativeResize="0"/>
          <p:nvPr/>
        </p:nvPicPr>
        <p:blipFill>
          <a:blip r:embed="rId3">
            <a:alphaModFix/>
          </a:blip>
          <a:stretch>
            <a:fillRect/>
          </a:stretch>
        </p:blipFill>
        <p:spPr>
          <a:xfrm>
            <a:off x="0" y="603250"/>
            <a:ext cx="7003826" cy="4328750"/>
          </a:xfrm>
          <a:prstGeom prst="rect">
            <a:avLst/>
          </a:prstGeom>
          <a:noFill/>
          <a:ln cap="flat" cmpd="sng" w="38100">
            <a:solidFill>
              <a:srgbClr val="F6B26B"/>
            </a:solidFill>
            <a:prstDash val="solid"/>
            <a:round/>
            <a:headEnd len="sm" w="sm" type="none"/>
            <a:tailEnd len="sm" w="sm" type="none"/>
          </a:ln>
        </p:spPr>
      </p:pic>
      <p:pic>
        <p:nvPicPr>
          <p:cNvPr id="188" name="Google Shape;188;g3c982a9463e_0_38"/>
          <p:cNvPicPr preferRelativeResize="0"/>
          <p:nvPr/>
        </p:nvPicPr>
        <p:blipFill>
          <a:blip r:embed="rId4">
            <a:alphaModFix/>
          </a:blip>
          <a:stretch>
            <a:fillRect/>
          </a:stretch>
        </p:blipFill>
        <p:spPr>
          <a:xfrm>
            <a:off x="1693643" y="1600199"/>
            <a:ext cx="6993158" cy="4129474"/>
          </a:xfrm>
          <a:prstGeom prst="rect">
            <a:avLst/>
          </a:prstGeom>
          <a:noFill/>
          <a:ln cap="flat" cmpd="sng" w="38100">
            <a:solidFill>
              <a:srgbClr val="93C47D"/>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c9c3ce72a5_0_65"/>
          <p:cNvSpPr txBox="1"/>
          <p:nvPr>
            <p:ph idx="1" type="body"/>
          </p:nvPr>
        </p:nvSpPr>
        <p:spPr>
          <a:xfrm>
            <a:off x="457200" y="116595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ZA" sz="2100"/>
              <a:t>Platform paragraphs are a useful development in literary essay writing. These are paragraphs that fall after the introduction. They are </a:t>
            </a:r>
            <a:r>
              <a:rPr b="1" lang="en-ZA" sz="2100"/>
              <a:t>OPTIONAL </a:t>
            </a:r>
            <a:r>
              <a:rPr lang="en-ZA" sz="2100"/>
              <a:t>tools that allow for a student to offer a broader, world-building paragraph that provides context to the narrower, close-reading argument paragraphs that </a:t>
            </a:r>
            <a:r>
              <a:rPr b="1" lang="en-ZA" sz="2100"/>
              <a:t>follow</a:t>
            </a:r>
            <a:r>
              <a:rPr lang="en-ZA" sz="2100"/>
              <a:t>. Platform paragraphs provide useful context that frame the argument. This could be the </a:t>
            </a:r>
            <a:r>
              <a:rPr b="1" lang="en-ZA" sz="2100"/>
              <a:t>postcolonial context or caste system in India</a:t>
            </a:r>
            <a:r>
              <a:rPr lang="en-ZA" sz="2100"/>
              <a:t>, or the </a:t>
            </a:r>
            <a:r>
              <a:rPr b="1" lang="en-ZA" sz="2100"/>
              <a:t>broad</a:t>
            </a:r>
            <a:r>
              <a:rPr lang="en-ZA" sz="2100"/>
              <a:t> </a:t>
            </a:r>
            <a:r>
              <a:rPr b="1" lang="en-ZA" sz="2100"/>
              <a:t>mechanisms of control employed by the World State.</a:t>
            </a:r>
            <a:r>
              <a:rPr lang="en-ZA" sz="2100"/>
              <a:t> However, platform paragraphs should point to a specific part of the question, and not simply float, untethered from the argument. The platform paragraph provides a </a:t>
            </a:r>
            <a:r>
              <a:rPr b="1" lang="en-ZA" sz="2100"/>
              <a:t>foundation </a:t>
            </a:r>
            <a:r>
              <a:rPr lang="en-ZA" sz="2100"/>
              <a:t>for analysis that comes later on. </a:t>
            </a:r>
            <a:br>
              <a:rPr lang="en-ZA" sz="2100"/>
            </a:br>
            <a:r>
              <a:rPr lang="en-ZA" sz="2100"/>
              <a:t> - Broad contextual sweeps</a:t>
            </a:r>
            <a:br>
              <a:rPr lang="en-ZA" sz="2100"/>
            </a:br>
            <a:r>
              <a:rPr lang="en-ZA" sz="2100"/>
              <a:t>- No evidence or character engagement.</a:t>
            </a:r>
            <a:endParaRPr sz="2100"/>
          </a:p>
          <a:p>
            <a:pPr indent="0" lvl="0" marL="0" rtl="0" algn="l">
              <a:spcBef>
                <a:spcPts val="1200"/>
              </a:spcBef>
              <a:spcAft>
                <a:spcPts val="0"/>
              </a:spcAft>
              <a:buNone/>
            </a:pPr>
            <a:r>
              <a:t/>
            </a:r>
            <a:endParaRPr sz="2100"/>
          </a:p>
        </p:txBody>
      </p:sp>
      <p:sp>
        <p:nvSpPr>
          <p:cNvPr id="195" name="Google Shape;195;g3c9c3ce72a5_0_65"/>
          <p:cNvSpPr txBox="1"/>
          <p:nvPr>
            <p:ph type="title"/>
          </p:nvPr>
        </p:nvSpPr>
        <p:spPr>
          <a:xfrm>
            <a:off x="247650" y="-31762"/>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ZA"/>
              <a:t>Platform Paragraphs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g3c9c3ce72a5_1_0"/>
          <p:cNvPicPr preferRelativeResize="0"/>
          <p:nvPr/>
        </p:nvPicPr>
        <p:blipFill>
          <a:blip r:embed="rId3">
            <a:alphaModFix/>
          </a:blip>
          <a:stretch>
            <a:fillRect/>
          </a:stretch>
        </p:blipFill>
        <p:spPr>
          <a:xfrm>
            <a:off x="264902" y="539750"/>
            <a:ext cx="8645751" cy="5105340"/>
          </a:xfrm>
          <a:prstGeom prst="rect">
            <a:avLst/>
          </a:prstGeom>
          <a:noFill/>
          <a:ln cap="flat" cmpd="sng" w="38100">
            <a:solidFill>
              <a:srgbClr val="93C47D"/>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c9e831a6b8_0_1"/>
          <p:cNvSpPr txBox="1"/>
          <p:nvPr>
            <p:ph idx="1" type="body"/>
          </p:nvPr>
        </p:nvSpPr>
        <p:spPr>
          <a:xfrm>
            <a:off x="457200" y="1451375"/>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ZA" sz="2200"/>
              <a:t>I</a:t>
            </a:r>
            <a:r>
              <a:rPr lang="en-ZA" sz="2100"/>
              <a:t>n </a:t>
            </a:r>
            <a:r>
              <a:rPr i="1" lang="en-ZA" sz="2100"/>
              <a:t>The White Tiger</a:t>
            </a:r>
            <a:r>
              <a:rPr lang="en-ZA" sz="2100"/>
              <a:t>, Aravind Adiga does not merely tell a story of ambition, he exposes the grinding reality of poverty as an oppressive and inescapable force. Balram’s early life in the Darkness, where families live crammed into dilapidated homes and access to food and education is limited, demonstrates how systemic poverty shapes every choice a person makes. The seemingly fixed caste system, corrupt landlords, and lack of opportunity in the Darkness are not incidental details, they function as mechanisms of control, keeping characters like Balram trapped in servitude while the wealthy thrive. Adiga makes it clear that social and economic inequality is not merely unfair; it is a violent structure that determines destinies before individuals can even imagine a way out.</a:t>
            </a:r>
            <a:endParaRPr sz="2200"/>
          </a:p>
        </p:txBody>
      </p:sp>
      <p:cxnSp>
        <p:nvCxnSpPr>
          <p:cNvPr id="208" name="Google Shape;208;g3c9e831a6b8_0_1"/>
          <p:cNvCxnSpPr/>
          <p:nvPr/>
        </p:nvCxnSpPr>
        <p:spPr>
          <a:xfrm>
            <a:off x="3702775" y="2198650"/>
            <a:ext cx="2708700" cy="0"/>
          </a:xfrm>
          <a:prstGeom prst="straightConnector1">
            <a:avLst/>
          </a:prstGeom>
          <a:noFill/>
          <a:ln cap="flat" cmpd="sng" w="9525">
            <a:solidFill>
              <a:srgbClr val="FFE599"/>
            </a:solidFill>
            <a:prstDash val="solid"/>
            <a:round/>
            <a:headEnd len="med" w="med" type="none"/>
            <a:tailEnd len="med" w="med" type="none"/>
          </a:ln>
        </p:spPr>
      </p:cxnSp>
      <p:cxnSp>
        <p:nvCxnSpPr>
          <p:cNvPr id="209" name="Google Shape;209;g3c9e831a6b8_0_1"/>
          <p:cNvCxnSpPr/>
          <p:nvPr/>
        </p:nvCxnSpPr>
        <p:spPr>
          <a:xfrm>
            <a:off x="3884950" y="2198650"/>
            <a:ext cx="2708700" cy="0"/>
          </a:xfrm>
          <a:prstGeom prst="straightConnector1">
            <a:avLst/>
          </a:prstGeom>
          <a:noFill/>
          <a:ln cap="flat" cmpd="sng" w="38100">
            <a:solidFill>
              <a:srgbClr val="FFE599"/>
            </a:solidFill>
            <a:prstDash val="solid"/>
            <a:round/>
            <a:headEnd len="med" w="med" type="none"/>
            <a:tailEnd len="med" w="med" type="none"/>
          </a:ln>
        </p:spPr>
      </p:cxnSp>
      <p:cxnSp>
        <p:nvCxnSpPr>
          <p:cNvPr id="210" name="Google Shape;210;g3c9e831a6b8_0_1"/>
          <p:cNvCxnSpPr/>
          <p:nvPr/>
        </p:nvCxnSpPr>
        <p:spPr>
          <a:xfrm>
            <a:off x="457200" y="2827300"/>
            <a:ext cx="1132200" cy="26100"/>
          </a:xfrm>
          <a:prstGeom prst="straightConnector1">
            <a:avLst/>
          </a:prstGeom>
          <a:noFill/>
          <a:ln cap="flat" cmpd="sng" w="38100">
            <a:solidFill>
              <a:srgbClr val="FFE599"/>
            </a:solidFill>
            <a:prstDash val="solid"/>
            <a:round/>
            <a:headEnd len="med" w="med" type="none"/>
            <a:tailEnd len="med" w="med" type="none"/>
          </a:ln>
        </p:spPr>
      </p:cxnSp>
      <p:cxnSp>
        <p:nvCxnSpPr>
          <p:cNvPr id="211" name="Google Shape;211;g3c9e831a6b8_0_1"/>
          <p:cNvCxnSpPr/>
          <p:nvPr/>
        </p:nvCxnSpPr>
        <p:spPr>
          <a:xfrm>
            <a:off x="4606475" y="2840350"/>
            <a:ext cx="2708700" cy="0"/>
          </a:xfrm>
          <a:prstGeom prst="straightConnector1">
            <a:avLst/>
          </a:prstGeom>
          <a:noFill/>
          <a:ln cap="flat" cmpd="sng" w="38100">
            <a:solidFill>
              <a:srgbClr val="FFE599"/>
            </a:solidFill>
            <a:prstDash val="solid"/>
            <a:round/>
            <a:headEnd len="med" w="med" type="none"/>
            <a:tailEnd len="med" w="med" type="none"/>
          </a:ln>
        </p:spPr>
      </p:cxnSp>
      <p:cxnSp>
        <p:nvCxnSpPr>
          <p:cNvPr id="212" name="Google Shape;212;g3c9e831a6b8_0_1"/>
          <p:cNvCxnSpPr/>
          <p:nvPr/>
        </p:nvCxnSpPr>
        <p:spPr>
          <a:xfrm>
            <a:off x="457200" y="3714425"/>
            <a:ext cx="2708700" cy="0"/>
          </a:xfrm>
          <a:prstGeom prst="straightConnector1">
            <a:avLst/>
          </a:prstGeom>
          <a:noFill/>
          <a:ln cap="flat" cmpd="sng" w="38100">
            <a:solidFill>
              <a:srgbClr val="FFE599"/>
            </a:solidFill>
            <a:prstDash val="solid"/>
            <a:round/>
            <a:headEnd len="med" w="med" type="none"/>
            <a:tailEnd len="med" w="med" type="none"/>
          </a:ln>
        </p:spPr>
      </p:cxnSp>
      <p:cxnSp>
        <p:nvCxnSpPr>
          <p:cNvPr id="213" name="Google Shape;213;g3c9e831a6b8_0_1"/>
          <p:cNvCxnSpPr/>
          <p:nvPr/>
        </p:nvCxnSpPr>
        <p:spPr>
          <a:xfrm>
            <a:off x="5179150" y="4385825"/>
            <a:ext cx="2708700" cy="0"/>
          </a:xfrm>
          <a:prstGeom prst="straightConnector1">
            <a:avLst/>
          </a:prstGeom>
          <a:noFill/>
          <a:ln cap="flat" cmpd="sng" w="38100">
            <a:solidFill>
              <a:srgbClr val="FFE599"/>
            </a:solidFill>
            <a:prstDash val="solid"/>
            <a:round/>
            <a:headEnd len="med" w="med" type="none"/>
            <a:tailEnd len="med" w="med" type="none"/>
          </a:ln>
        </p:spPr>
      </p:cxnSp>
      <p:cxnSp>
        <p:nvCxnSpPr>
          <p:cNvPr id="214" name="Google Shape;214;g3c9e831a6b8_0_1"/>
          <p:cNvCxnSpPr/>
          <p:nvPr/>
        </p:nvCxnSpPr>
        <p:spPr>
          <a:xfrm>
            <a:off x="4606475" y="5074025"/>
            <a:ext cx="2708700" cy="0"/>
          </a:xfrm>
          <a:prstGeom prst="straightConnector1">
            <a:avLst/>
          </a:prstGeom>
          <a:noFill/>
          <a:ln cap="flat" cmpd="sng" w="38100">
            <a:solidFill>
              <a:srgbClr val="FFE599"/>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c982a9463e_0_30"/>
          <p:cNvSpPr txBox="1"/>
          <p:nvPr>
            <p:ph idx="1" type="body"/>
          </p:nvPr>
        </p:nvSpPr>
        <p:spPr>
          <a:xfrm>
            <a:off x="457200" y="899250"/>
            <a:ext cx="8229600" cy="4526100"/>
          </a:xfrm>
          <a:prstGeom prst="rect">
            <a:avLst/>
          </a:prstGeom>
        </p:spPr>
        <p:txBody>
          <a:bodyPr anchorCtr="0" anchor="t" bIns="45700" lIns="91425" spcFirstLastPara="1" rIns="91425" wrap="square" tIns="45700">
            <a:noAutofit/>
          </a:bodyPr>
          <a:lstStyle/>
          <a:p>
            <a:pPr indent="-361950" lvl="0" marL="457200" marR="0" rtl="0" algn="l">
              <a:lnSpc>
                <a:spcPct val="115000"/>
              </a:lnSpc>
              <a:spcBef>
                <a:spcPts val="1200"/>
              </a:spcBef>
              <a:spcAft>
                <a:spcPts val="0"/>
              </a:spcAft>
              <a:buSzPts val="2100"/>
              <a:buAutoNum type="arabicPeriod"/>
            </a:pPr>
            <a:r>
              <a:rPr lang="en-ZA" sz="2100"/>
              <a:t>Unpacking existing intertextual references that are found in the world of the novel. For example, when Huxley borrows from Miranda in Shakespeare’s </a:t>
            </a:r>
            <a:r>
              <a:rPr i="1" lang="en-ZA" sz="2100"/>
              <a:t>The Tempest,</a:t>
            </a:r>
            <a:r>
              <a:rPr lang="en-ZA" sz="2100"/>
              <a:t> “</a:t>
            </a:r>
            <a:r>
              <a:rPr i="1" lang="en-ZA" sz="2100"/>
              <a:t>Oh, Brave New World, that there are…</a:t>
            </a:r>
            <a:r>
              <a:rPr lang="en-ZA" sz="2100"/>
              <a:t>”. Students can make a parallel between John the Savage’s initial awe when meeting Lenina to Miranda’s immediate attraction to Ferdinand. They can then refer to the second &amp; third </a:t>
            </a:r>
            <a:r>
              <a:rPr lang="en-ZA" sz="2100"/>
              <a:t>occasions</a:t>
            </a:r>
            <a:r>
              <a:rPr lang="en-ZA" sz="2100"/>
              <a:t> when John makes this reference, outlining his progressive irony and disgust at humanity – straying from Shakespeare’s initial intended use.</a:t>
            </a:r>
            <a:br>
              <a:rPr lang="en-ZA" sz="2100"/>
            </a:br>
            <a:endParaRPr sz="2100"/>
          </a:p>
          <a:p>
            <a:pPr indent="-361950" lvl="0" marL="457200" marR="0" rtl="0" algn="l">
              <a:lnSpc>
                <a:spcPct val="115000"/>
              </a:lnSpc>
              <a:spcBef>
                <a:spcPts val="0"/>
              </a:spcBef>
              <a:spcAft>
                <a:spcPts val="0"/>
              </a:spcAft>
              <a:buSzPts val="2100"/>
              <a:buAutoNum type="arabicPeriod"/>
            </a:pPr>
            <a:r>
              <a:rPr lang="en-ZA" sz="2100"/>
              <a:t>Students do NOT need to try to integrate external theorists, critics or parallel literature alongside their reading of the novel (for example, offering a Freudian reading, making mention of Samuel Taylor Colerdige, or finding likeness in </a:t>
            </a:r>
            <a:r>
              <a:rPr i="1" lang="en-ZA" sz="2100"/>
              <a:t>Life of Pi </a:t>
            </a:r>
            <a:r>
              <a:rPr lang="en-ZA" sz="2100"/>
              <a:t>or </a:t>
            </a:r>
            <a:r>
              <a:rPr i="1" lang="en-ZA" sz="2100"/>
              <a:t>1984</a:t>
            </a:r>
            <a:r>
              <a:rPr lang="en-ZA" sz="2100"/>
              <a:t>.</a:t>
            </a:r>
            <a:endParaRPr i="1" sz="2100"/>
          </a:p>
          <a:p>
            <a:pPr indent="-228600" lvl="0" marL="0" rtl="0" algn="l">
              <a:lnSpc>
                <a:spcPct val="115000"/>
              </a:lnSpc>
              <a:spcBef>
                <a:spcPts val="1200"/>
              </a:spcBef>
              <a:spcAft>
                <a:spcPts val="0"/>
              </a:spcAft>
              <a:buClr>
                <a:schemeClr val="dk1"/>
              </a:buClr>
              <a:buSzPts val="1100"/>
              <a:buFont typeface="Arial"/>
              <a:buNone/>
            </a:pPr>
            <a:r>
              <a:t/>
            </a:r>
            <a:endParaRPr sz="2100"/>
          </a:p>
          <a:p>
            <a:pPr indent="0" lvl="0" marL="0" rtl="0" algn="l">
              <a:spcBef>
                <a:spcPts val="1200"/>
              </a:spcBef>
              <a:spcAft>
                <a:spcPts val="0"/>
              </a:spcAft>
              <a:buNone/>
            </a:pPr>
            <a:r>
              <a:t/>
            </a:r>
            <a:endParaRPr sz="2100"/>
          </a:p>
        </p:txBody>
      </p:sp>
      <p:sp>
        <p:nvSpPr>
          <p:cNvPr id="221" name="Google Shape;221;g3c982a9463e_0_30"/>
          <p:cNvSpPr txBox="1"/>
          <p:nvPr>
            <p:ph type="title"/>
          </p:nvPr>
        </p:nvSpPr>
        <p:spPr>
          <a:xfrm>
            <a:off x="457200" y="-1222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ZA"/>
              <a:t>Intertextuality in Essays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2bc7bd1c4a_0_30"/>
          <p:cNvSpPr txBox="1"/>
          <p:nvPr>
            <p:ph type="title"/>
          </p:nvPr>
        </p:nvSpPr>
        <p:spPr>
          <a:xfrm>
            <a:off x="457200" y="449263"/>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Transactional Writing</a:t>
            </a:r>
            <a:endParaRPr i="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g3c982a9463e_0_62"/>
          <p:cNvPicPr preferRelativeResize="0"/>
          <p:nvPr/>
        </p:nvPicPr>
        <p:blipFill>
          <a:blip r:embed="rId3">
            <a:alphaModFix/>
          </a:blip>
          <a:stretch>
            <a:fillRect/>
          </a:stretch>
        </p:blipFill>
        <p:spPr>
          <a:xfrm>
            <a:off x="995363" y="352425"/>
            <a:ext cx="7153275" cy="6153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c982a9463e_0_70"/>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40" name="Google Shape;240;g3c982a9463e_0_7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241" name="Google Shape;241;g3c982a9463e_0_70"/>
          <p:cNvPicPr preferRelativeResize="0"/>
          <p:nvPr/>
        </p:nvPicPr>
        <p:blipFill>
          <a:blip r:embed="rId3">
            <a:alphaModFix/>
          </a:blip>
          <a:stretch>
            <a:fillRect/>
          </a:stretch>
        </p:blipFill>
        <p:spPr>
          <a:xfrm>
            <a:off x="0" y="708616"/>
            <a:ext cx="9144001" cy="5440768"/>
          </a:xfrm>
          <a:prstGeom prst="rect">
            <a:avLst/>
          </a:prstGeom>
          <a:noFill/>
          <a:ln cap="flat" cmpd="sng" w="38100">
            <a:solidFill>
              <a:srgbClr val="FF00FF"/>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c9e831a6b8_0_15"/>
          <p:cNvSpPr txBox="1"/>
          <p:nvPr>
            <p:ph type="title"/>
          </p:nvPr>
        </p:nvSpPr>
        <p:spPr>
          <a:xfrm>
            <a:off x="457200" y="-3176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Transactional Writing</a:t>
            </a:r>
            <a:endParaRPr i="1"/>
          </a:p>
        </p:txBody>
      </p:sp>
      <p:sp>
        <p:nvSpPr>
          <p:cNvPr id="248" name="Google Shape;248;g3c9e831a6b8_0_15"/>
          <p:cNvSpPr txBox="1"/>
          <p:nvPr>
            <p:ph idx="1" type="body"/>
          </p:nvPr>
        </p:nvSpPr>
        <p:spPr>
          <a:xfrm>
            <a:off x="730200" y="2529700"/>
            <a:ext cx="7683600" cy="1325100"/>
          </a:xfrm>
          <a:prstGeom prst="rect">
            <a:avLst/>
          </a:prstGeom>
          <a:noFill/>
          <a:ln>
            <a:noFill/>
          </a:ln>
        </p:spPr>
        <p:txBody>
          <a:bodyPr anchorCtr="0" anchor="ctr" bIns="45700" lIns="91425" spcFirstLastPara="1" rIns="91425" wrap="square" tIns="45700">
            <a:noAutofit/>
          </a:bodyPr>
          <a:lstStyle/>
          <a:p>
            <a:pPr indent="0" lvl="0" marL="0" rtl="0" algn="l">
              <a:spcBef>
                <a:spcPts val="360"/>
              </a:spcBef>
              <a:spcAft>
                <a:spcPts val="0"/>
              </a:spcAft>
              <a:buSzPts val="1100"/>
              <a:buNone/>
            </a:pPr>
            <a:r>
              <a:rPr lang="en-ZA" sz="2100"/>
              <a:t> Students should practice ‘bringing the outside world in’ where appropriate – this could mean drawing on their own life, building an argument based on Greek myth or a poem that they love, referring to political events in the real-world, provided that the references are relevant and enhance their writing – according to purpose and audience.</a:t>
            </a:r>
            <a:endParaRPr sz="2100"/>
          </a:p>
          <a:p>
            <a:pPr indent="0" lvl="0" marL="0" rtl="0" algn="l">
              <a:spcBef>
                <a:spcPts val="360"/>
              </a:spcBef>
              <a:spcAft>
                <a:spcPts val="0"/>
              </a:spcAft>
              <a:buSzPts val="1100"/>
              <a:buNone/>
            </a:pPr>
            <a:r>
              <a:t/>
            </a:r>
            <a:endParaRPr sz="2100"/>
          </a:p>
          <a:p>
            <a:pPr indent="0" lvl="0" marL="0" rtl="0" algn="l">
              <a:spcBef>
                <a:spcPts val="360"/>
              </a:spcBef>
              <a:spcAft>
                <a:spcPts val="0"/>
              </a:spcAft>
              <a:buClr>
                <a:schemeClr val="dk1"/>
              </a:buClr>
              <a:buSzPts val="1100"/>
              <a:buFont typeface="Arial"/>
              <a:buNone/>
            </a:pPr>
            <a:r>
              <a:rPr lang="en-ZA" sz="2100"/>
              <a:t>Transactional Writing is inherently a creative and intelligent act. Students need to be aware of WHO they are writing to (audience), WHO they are writing as (their persona), WHY they are writing (purpose) and, therefore HOW they should curate their language (STYLE).</a:t>
            </a:r>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c9e831a6b8_0_29"/>
          <p:cNvSpPr txBox="1"/>
          <p:nvPr>
            <p:ph type="title"/>
          </p:nvPr>
        </p:nvSpPr>
        <p:spPr>
          <a:xfrm>
            <a:off x="457200" y="-3176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Transactional Writing</a:t>
            </a:r>
            <a:endParaRPr i="1"/>
          </a:p>
        </p:txBody>
      </p:sp>
      <p:sp>
        <p:nvSpPr>
          <p:cNvPr id="255" name="Google Shape;255;g3c9e831a6b8_0_29"/>
          <p:cNvSpPr txBox="1"/>
          <p:nvPr>
            <p:ph idx="1" type="body"/>
          </p:nvPr>
        </p:nvSpPr>
        <p:spPr>
          <a:xfrm>
            <a:off x="457200" y="1111250"/>
            <a:ext cx="8229600" cy="6176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sz="2100">
              <a:solidFill>
                <a:srgbClr val="000000"/>
              </a:solidFill>
            </a:endParaRPr>
          </a:p>
          <a:p>
            <a:pPr indent="-361950" lvl="0" marL="457200" rtl="0" algn="l">
              <a:spcBef>
                <a:spcPts val="360"/>
              </a:spcBef>
              <a:spcAft>
                <a:spcPts val="0"/>
              </a:spcAft>
              <a:buClr>
                <a:srgbClr val="134F5C"/>
              </a:buClr>
              <a:buSzPts val="2100"/>
              <a:buAutoNum type="arabicPeriod"/>
            </a:pPr>
            <a:r>
              <a:rPr lang="en-ZA" sz="2100">
                <a:solidFill>
                  <a:srgbClr val="000000"/>
                </a:solidFill>
              </a:rPr>
              <a:t>The transactional responses were strong on the whole. </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Fewer students seemed to struggle with time-management, and this is perhaps credit to the shorter stimuli (less reading).</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Greater original responses on the whole - again, perhaps a result of students relying less a shorter stimulus passage.</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Passionate responses (both in support of hip hop and criticising hip hop’s inclusion in the Pulitzer Prize’s music category).</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Students will always be given an ‘escape hatch’</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Of the choice options, the eulogy (Q8) was the strongest response. This speaks to students ability to draw on their own lives and a much more accessible style (melancholy, lament, nostalgia). These were a delight to read and mark!</a:t>
            </a:r>
            <a:endParaRPr sz="2100">
              <a:solidFill>
                <a:srgbClr val="000000"/>
              </a:solidFill>
            </a:endParaRPr>
          </a:p>
          <a:p>
            <a:pPr indent="-361950" lvl="0" marL="457200" rtl="0" algn="l">
              <a:spcBef>
                <a:spcPts val="0"/>
              </a:spcBef>
              <a:spcAft>
                <a:spcPts val="0"/>
              </a:spcAft>
              <a:buClr>
                <a:srgbClr val="000000"/>
              </a:buClr>
              <a:buSzPts val="2100"/>
              <a:buAutoNum type="arabicPeriod"/>
            </a:pPr>
            <a:r>
              <a:rPr lang="en-ZA" sz="2100">
                <a:solidFill>
                  <a:srgbClr val="000000"/>
                </a:solidFill>
              </a:rPr>
              <a:t>Please encourage students to write with control and </a:t>
            </a:r>
            <a:r>
              <a:rPr lang="en-ZA" sz="2100">
                <a:solidFill>
                  <a:srgbClr val="000000"/>
                </a:solidFill>
              </a:rPr>
              <a:t>subtlety</a:t>
            </a:r>
            <a:r>
              <a:rPr lang="en-ZA" sz="2100">
                <a:solidFill>
                  <a:srgbClr val="000000"/>
                </a:solidFill>
              </a:rPr>
              <a:t>. No need to magnify trauma for effect.</a:t>
            </a:r>
            <a:endParaRPr sz="2100">
              <a:solidFill>
                <a:srgbClr val="000000"/>
              </a:solidFill>
            </a:endParaRPr>
          </a:p>
          <a:p>
            <a:pPr indent="0" lvl="0" marL="0" rtl="0" algn="l">
              <a:spcBef>
                <a:spcPts val="360"/>
              </a:spcBef>
              <a:spcAft>
                <a:spcPts val="0"/>
              </a:spcAft>
              <a:buNone/>
            </a:pPr>
            <a:r>
              <a:t/>
            </a:r>
            <a:endParaRPr sz="2100"/>
          </a:p>
          <a:p>
            <a:pPr indent="0" lvl="0" marL="0" rtl="0" algn="l">
              <a:spcBef>
                <a:spcPts val="360"/>
              </a:spcBef>
              <a:spcAft>
                <a:spcPts val="0"/>
              </a:spcAft>
              <a:buNone/>
            </a:pPr>
            <a:r>
              <a:t/>
            </a:r>
            <a:endParaRPr sz="2100"/>
          </a:p>
          <a:p>
            <a:pPr indent="0" lvl="0" marL="914400" rtl="0" algn="l">
              <a:spcBef>
                <a:spcPts val="360"/>
              </a:spcBef>
              <a:spcAft>
                <a:spcPts val="0"/>
              </a:spcAft>
              <a:buNone/>
            </a:pPr>
            <a:r>
              <a:t/>
            </a:r>
            <a:endParaRPr sz="2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c9e831a6b8_0_8"/>
          <p:cNvSpPr txBox="1"/>
          <p:nvPr>
            <p:ph idx="1" type="body"/>
          </p:nvPr>
        </p:nvSpPr>
        <p:spPr>
          <a:xfrm>
            <a:off x="457200" y="539750"/>
            <a:ext cx="8229600" cy="4526100"/>
          </a:xfrm>
          <a:prstGeom prst="rect">
            <a:avLst/>
          </a:prstGeom>
        </p:spPr>
        <p:txBody>
          <a:bodyPr anchorCtr="0" anchor="t" bIns="45700" lIns="91425" spcFirstLastPara="1" rIns="91425" wrap="square" tIns="45700">
            <a:noAutofit/>
          </a:bodyPr>
          <a:lstStyle/>
          <a:p>
            <a:pPr indent="0" lvl="0" marL="228600" rtl="0" algn="l">
              <a:lnSpc>
                <a:spcPct val="115000"/>
              </a:lnSpc>
              <a:spcBef>
                <a:spcPts val="1200"/>
              </a:spcBef>
              <a:spcAft>
                <a:spcPts val="0"/>
              </a:spcAft>
              <a:buClr>
                <a:schemeClr val="dk1"/>
              </a:buClr>
              <a:buSzPts val="1100"/>
              <a:buFont typeface="Arial"/>
              <a:buNone/>
            </a:pPr>
            <a:r>
              <a:rPr lang="en-ZA" sz="2100"/>
              <a:t>Students should choose transactional writing based on the topic, and their own ability to provide depth and voice, rather than their anxieties around format.</a:t>
            </a:r>
            <a:endParaRPr sz="2100"/>
          </a:p>
          <a:p>
            <a:pPr indent="0" lvl="0" marL="228600" rtl="0" algn="l">
              <a:lnSpc>
                <a:spcPct val="115000"/>
              </a:lnSpc>
              <a:spcBef>
                <a:spcPts val="1200"/>
              </a:spcBef>
              <a:spcAft>
                <a:spcPts val="0"/>
              </a:spcAft>
              <a:buClr>
                <a:schemeClr val="dk1"/>
              </a:buClr>
              <a:buSzPts val="1100"/>
              <a:buFont typeface="Arial"/>
              <a:buNone/>
            </a:pPr>
            <a:r>
              <a:rPr lang="en-ZA" sz="2100"/>
              <a:t>Voice is determined by being attentive to, and utilising:</a:t>
            </a:r>
            <a:endParaRPr sz="2100"/>
          </a:p>
          <a:p>
            <a:pPr indent="-228600" lvl="0" marL="685800" rtl="0" algn="l">
              <a:lnSpc>
                <a:spcPct val="115000"/>
              </a:lnSpc>
              <a:spcBef>
                <a:spcPts val="1200"/>
              </a:spcBef>
              <a:spcAft>
                <a:spcPts val="0"/>
              </a:spcAft>
              <a:buClr>
                <a:schemeClr val="dk1"/>
              </a:buClr>
              <a:buSzPts val="1100"/>
              <a:buFont typeface="Arial"/>
              <a:buNone/>
            </a:pPr>
            <a:r>
              <a:rPr lang="en-ZA" sz="2100"/>
              <a:t>·</a:t>
            </a:r>
            <a:r>
              <a:rPr lang="en-ZA" sz="2100">
                <a:latin typeface="Times New Roman"/>
                <a:ea typeface="Times New Roman"/>
                <a:cs typeface="Times New Roman"/>
                <a:sym typeface="Times New Roman"/>
              </a:rPr>
              <a:t>        </a:t>
            </a:r>
            <a:r>
              <a:rPr lang="en-ZA" sz="2100"/>
              <a:t>Punctuation for meaning</a:t>
            </a:r>
            <a:endParaRPr sz="2100"/>
          </a:p>
          <a:p>
            <a:pPr indent="-228600" lvl="0" marL="685800" rtl="0" algn="l">
              <a:lnSpc>
                <a:spcPct val="115000"/>
              </a:lnSpc>
              <a:spcBef>
                <a:spcPts val="1200"/>
              </a:spcBef>
              <a:spcAft>
                <a:spcPts val="0"/>
              </a:spcAft>
              <a:buClr>
                <a:schemeClr val="dk1"/>
              </a:buClr>
              <a:buSzPts val="1100"/>
              <a:buFont typeface="Arial"/>
              <a:buNone/>
            </a:pPr>
            <a:r>
              <a:rPr lang="en-ZA" sz="2100"/>
              <a:t>·</a:t>
            </a:r>
            <a:r>
              <a:rPr lang="en-ZA" sz="2100">
                <a:latin typeface="Times New Roman"/>
                <a:ea typeface="Times New Roman"/>
                <a:cs typeface="Times New Roman"/>
                <a:sym typeface="Times New Roman"/>
              </a:rPr>
              <a:t>        </a:t>
            </a:r>
            <a:r>
              <a:rPr lang="en-ZA" sz="2100"/>
              <a:t>Paragraphing</a:t>
            </a:r>
            <a:endParaRPr sz="2100"/>
          </a:p>
          <a:p>
            <a:pPr indent="-228600" lvl="0" marL="685800" rtl="0" algn="l">
              <a:lnSpc>
                <a:spcPct val="115000"/>
              </a:lnSpc>
              <a:spcBef>
                <a:spcPts val="1200"/>
              </a:spcBef>
              <a:spcAft>
                <a:spcPts val="0"/>
              </a:spcAft>
              <a:buNone/>
            </a:pPr>
            <a:r>
              <a:rPr lang="en-ZA" sz="2100"/>
              <a:t>·</a:t>
            </a:r>
            <a:r>
              <a:rPr lang="en-ZA" sz="2100">
                <a:latin typeface="Times New Roman"/>
                <a:ea typeface="Times New Roman"/>
                <a:cs typeface="Times New Roman"/>
                <a:sym typeface="Times New Roman"/>
              </a:rPr>
              <a:t>        </a:t>
            </a:r>
            <a:r>
              <a:rPr lang="en-ZA" sz="2100"/>
              <a:t>Format</a:t>
            </a:r>
            <a:endParaRPr sz="2100"/>
          </a:p>
          <a:p>
            <a:pPr indent="-228600" lvl="0" marL="685800" rtl="0" algn="l">
              <a:lnSpc>
                <a:spcPct val="115000"/>
              </a:lnSpc>
              <a:spcBef>
                <a:spcPts val="1200"/>
              </a:spcBef>
              <a:spcAft>
                <a:spcPts val="0"/>
              </a:spcAft>
              <a:buClr>
                <a:schemeClr val="dk1"/>
              </a:buClr>
              <a:buSzPts val="1100"/>
              <a:buFont typeface="Arial"/>
              <a:buNone/>
            </a:pPr>
            <a:r>
              <a:rPr lang="en-ZA" sz="2100"/>
              <a:t>        Humour, authentic anecdote, clever analogies</a:t>
            </a:r>
            <a:endParaRPr sz="2100"/>
          </a:p>
          <a:p>
            <a:pPr indent="-228600" lvl="0" marL="685800" rtl="0" algn="l">
              <a:lnSpc>
                <a:spcPct val="115000"/>
              </a:lnSpc>
              <a:spcBef>
                <a:spcPts val="1200"/>
              </a:spcBef>
              <a:spcAft>
                <a:spcPts val="0"/>
              </a:spcAft>
              <a:buClr>
                <a:schemeClr val="dk1"/>
              </a:buClr>
              <a:buSzPts val="1100"/>
              <a:buFont typeface="Arial"/>
              <a:buNone/>
            </a:pPr>
            <a:r>
              <a:rPr lang="en-ZA" sz="2100"/>
              <a:t>·</a:t>
            </a:r>
            <a:r>
              <a:rPr lang="en-ZA" sz="2100">
                <a:latin typeface="Times New Roman"/>
                <a:ea typeface="Times New Roman"/>
                <a:cs typeface="Times New Roman"/>
                <a:sym typeface="Times New Roman"/>
              </a:rPr>
              <a:t>        </a:t>
            </a:r>
            <a:r>
              <a:rPr lang="en-ZA" sz="2100"/>
              <a:t>Diction</a:t>
            </a:r>
            <a:endParaRPr sz="2100"/>
          </a:p>
          <a:p>
            <a:pPr indent="-228600" lvl="0" marL="685800" rtl="0" algn="l">
              <a:lnSpc>
                <a:spcPct val="115000"/>
              </a:lnSpc>
              <a:spcBef>
                <a:spcPts val="1200"/>
              </a:spcBef>
              <a:spcAft>
                <a:spcPts val="0"/>
              </a:spcAft>
              <a:buNone/>
            </a:pPr>
            <a:r>
              <a:rPr lang="en-ZA" sz="2100"/>
              <a:t>·</a:t>
            </a:r>
            <a:r>
              <a:rPr lang="en-ZA" sz="2100">
                <a:latin typeface="Times New Roman"/>
                <a:ea typeface="Times New Roman"/>
                <a:cs typeface="Times New Roman"/>
                <a:sym typeface="Times New Roman"/>
              </a:rPr>
              <a:t>        </a:t>
            </a:r>
            <a:r>
              <a:rPr lang="en-ZA" sz="2100"/>
              <a:t>Imagery</a:t>
            </a:r>
            <a:endParaRPr sz="2100"/>
          </a:p>
          <a:p>
            <a:pPr indent="-228600" lvl="0" marL="685800" rtl="0" algn="l">
              <a:lnSpc>
                <a:spcPct val="115000"/>
              </a:lnSpc>
              <a:spcBef>
                <a:spcPts val="1200"/>
              </a:spcBef>
              <a:spcAft>
                <a:spcPts val="0"/>
              </a:spcAft>
              <a:buNone/>
            </a:pPr>
            <a:r>
              <a:rPr lang="en-ZA" sz="2100"/>
              <a:t>        Tone</a:t>
            </a:r>
            <a:endParaRPr sz="2100"/>
          </a:p>
          <a:p>
            <a:pPr indent="-228600" lvl="0" marL="685800" rtl="0" algn="l">
              <a:lnSpc>
                <a:spcPct val="115000"/>
              </a:lnSpc>
              <a:spcBef>
                <a:spcPts val="1200"/>
              </a:spcBef>
              <a:spcAft>
                <a:spcPts val="0"/>
              </a:spcAft>
              <a:buClr>
                <a:schemeClr val="dk1"/>
              </a:buClr>
              <a:buSzPts val="1100"/>
              <a:buFont typeface="Arial"/>
              <a:buNone/>
            </a:pPr>
            <a:r>
              <a:rPr lang="en-ZA" sz="2100"/>
              <a:t>·</a:t>
            </a:r>
            <a:r>
              <a:rPr lang="en-ZA" sz="2100">
                <a:latin typeface="Times New Roman"/>
                <a:ea typeface="Times New Roman"/>
                <a:cs typeface="Times New Roman"/>
                <a:sym typeface="Times New Roman"/>
              </a:rPr>
              <a:t>        </a:t>
            </a:r>
            <a:r>
              <a:rPr lang="en-ZA" sz="2100"/>
              <a:t>Rhetorical device</a:t>
            </a:r>
            <a:endParaRPr sz="2100"/>
          </a:p>
          <a:p>
            <a:pPr indent="0" lvl="0" marL="0" rtl="0" algn="l">
              <a:spcBef>
                <a:spcPts val="12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2bc7bd1c4a_0_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ZA"/>
              <a:t>Recommendations for Teachers</a:t>
            </a:r>
            <a:endParaRPr i="1"/>
          </a:p>
        </p:txBody>
      </p:sp>
      <p:sp>
        <p:nvSpPr>
          <p:cNvPr id="268" name="Google Shape;268;g32bc7bd1c4a_0_3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400050" lvl="1" marL="914400" rtl="0" algn="l">
              <a:lnSpc>
                <a:spcPct val="115000"/>
              </a:lnSpc>
              <a:spcBef>
                <a:spcPts val="0"/>
              </a:spcBef>
              <a:spcAft>
                <a:spcPts val="0"/>
              </a:spcAft>
              <a:buSzPts val="2700"/>
              <a:buChar char="○"/>
            </a:pPr>
            <a:r>
              <a:rPr lang="en-ZA"/>
              <a:t>Please attend marking</a:t>
            </a:r>
            <a:endParaRPr/>
          </a:p>
          <a:p>
            <a:pPr indent="-342900" lvl="1" marL="914400" rtl="0" algn="l">
              <a:lnSpc>
                <a:spcPct val="115000"/>
              </a:lnSpc>
              <a:spcBef>
                <a:spcPts val="0"/>
              </a:spcBef>
              <a:spcAft>
                <a:spcPts val="0"/>
              </a:spcAft>
              <a:buSzPts val="1800"/>
              <a:buChar char="○"/>
            </a:pPr>
            <a:r>
              <a:rPr lang="en-ZA"/>
              <a:t>Attend cluster meetings</a:t>
            </a:r>
            <a:endParaRPr/>
          </a:p>
          <a:p>
            <a:pPr indent="-342900" lvl="1" marL="914400" rtl="0" algn="l">
              <a:lnSpc>
                <a:spcPct val="115000"/>
              </a:lnSpc>
              <a:spcBef>
                <a:spcPts val="0"/>
              </a:spcBef>
              <a:spcAft>
                <a:spcPts val="0"/>
              </a:spcAft>
              <a:buSzPts val="1800"/>
              <a:buChar char="○"/>
            </a:pPr>
            <a:r>
              <a:rPr lang="en-ZA"/>
              <a:t>Ask for moderation from experienced teacher friends</a:t>
            </a:r>
            <a:endParaRPr/>
          </a:p>
          <a:p>
            <a:pPr indent="-342900" lvl="1" marL="914400" rtl="0" algn="l">
              <a:lnSpc>
                <a:spcPct val="115000"/>
              </a:lnSpc>
              <a:spcBef>
                <a:spcPts val="0"/>
              </a:spcBef>
              <a:spcAft>
                <a:spcPts val="0"/>
              </a:spcAft>
              <a:buSzPts val="1800"/>
              <a:buChar char="○"/>
            </a:pPr>
            <a:r>
              <a:rPr lang="en-ZA"/>
              <a:t>Sign up to be Oral or SBA moderators</a:t>
            </a:r>
            <a:endParaRPr/>
          </a:p>
          <a:p>
            <a:pPr indent="-342900" lvl="1" marL="914400" rtl="0" algn="l">
              <a:lnSpc>
                <a:spcPct val="115000"/>
              </a:lnSpc>
              <a:spcBef>
                <a:spcPts val="0"/>
              </a:spcBef>
              <a:spcAft>
                <a:spcPts val="0"/>
              </a:spcAft>
              <a:buSzPts val="1800"/>
              <a:buChar char="○"/>
            </a:pPr>
            <a:r>
              <a:rPr lang="en-ZA"/>
              <a:t>Keep reading</a:t>
            </a:r>
            <a:endParaRPr/>
          </a:p>
          <a:p>
            <a:pPr indent="-342900" lvl="1" marL="914400" rtl="0" algn="l">
              <a:lnSpc>
                <a:spcPct val="115000"/>
              </a:lnSpc>
              <a:spcBef>
                <a:spcPts val="0"/>
              </a:spcBef>
              <a:spcAft>
                <a:spcPts val="0"/>
              </a:spcAft>
              <a:buSzPts val="1800"/>
              <a:buChar char="○"/>
            </a:pPr>
            <a:r>
              <a:rPr lang="en-ZA"/>
              <a:t>Keep sharing</a:t>
            </a:r>
            <a:endParaRPr/>
          </a:p>
          <a:p>
            <a:pPr indent="-342900" lvl="1" marL="914400" rtl="0" algn="l">
              <a:lnSpc>
                <a:spcPct val="115000"/>
              </a:lnSpc>
              <a:spcBef>
                <a:spcPts val="0"/>
              </a:spcBef>
              <a:spcAft>
                <a:spcPts val="0"/>
              </a:spcAft>
              <a:buSzPts val="1800"/>
              <a:buChar char="○"/>
            </a:pPr>
            <a:r>
              <a:rPr lang="en-ZA"/>
              <a:t>Find time to rest</a:t>
            </a:r>
            <a:endParaRPr/>
          </a:p>
          <a:p>
            <a:pPr indent="0" lvl="0" marL="914400" rtl="0" algn="l">
              <a:lnSpc>
                <a:spcPct val="115000"/>
              </a:lnSpc>
              <a:spcBef>
                <a:spcPts val="1200"/>
              </a:spcBef>
              <a:spcAft>
                <a:spcPts val="1200"/>
              </a:spcAft>
              <a:buSzPts val="1800"/>
              <a:buNone/>
            </a:pPr>
            <a:r>
              <a:t/>
            </a:r>
            <a:endParaRPr b="1"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c8f9ee3441_0_63"/>
          <p:cNvSpPr txBox="1"/>
          <p:nvPr/>
        </p:nvSpPr>
        <p:spPr>
          <a:xfrm>
            <a:off x="-209400" y="473700"/>
            <a:ext cx="9562800" cy="591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ZA" sz="12400">
                <a:solidFill>
                  <a:srgbClr val="BF9000"/>
                </a:solidFill>
                <a:latin typeface="Amatic SC"/>
                <a:ea typeface="Amatic SC"/>
                <a:cs typeface="Amatic SC"/>
                <a:sym typeface="Amatic SC"/>
              </a:rPr>
              <a:t>Thank you</a:t>
            </a:r>
            <a:br>
              <a:rPr lang="en-ZA" sz="12400">
                <a:solidFill>
                  <a:srgbClr val="BF9000"/>
                </a:solidFill>
                <a:latin typeface="Amatic SC"/>
                <a:ea typeface="Amatic SC"/>
                <a:cs typeface="Amatic SC"/>
                <a:sym typeface="Amatic SC"/>
              </a:rPr>
            </a:br>
            <a:r>
              <a:rPr lang="en-ZA" sz="12400">
                <a:solidFill>
                  <a:srgbClr val="BF9000"/>
                </a:solidFill>
                <a:latin typeface="Amatic SC"/>
                <a:ea typeface="Amatic SC"/>
                <a:cs typeface="Amatic SC"/>
                <a:sym typeface="Amatic SC"/>
              </a:rPr>
              <a:t>&amp;</a:t>
            </a:r>
            <a:br>
              <a:rPr lang="en-ZA" sz="12400">
                <a:solidFill>
                  <a:srgbClr val="BF9000"/>
                </a:solidFill>
                <a:latin typeface="Amatic SC"/>
                <a:ea typeface="Amatic SC"/>
                <a:cs typeface="Amatic SC"/>
                <a:sym typeface="Amatic SC"/>
              </a:rPr>
            </a:br>
            <a:r>
              <a:rPr lang="en-ZA" sz="12400">
                <a:solidFill>
                  <a:srgbClr val="BF9000"/>
                </a:solidFill>
                <a:latin typeface="Amatic SC"/>
                <a:ea typeface="Amatic SC"/>
                <a:cs typeface="Amatic SC"/>
                <a:sym typeface="Amatic SC"/>
              </a:rPr>
              <a:t>Farewell</a:t>
            </a:r>
            <a:endParaRPr sz="12400">
              <a:solidFill>
                <a:srgbClr val="BF9000"/>
              </a:solidFill>
              <a:latin typeface="Amatic SC"/>
              <a:ea typeface="Amatic SC"/>
              <a:cs typeface="Amatic SC"/>
              <a:sym typeface="Amatic SC"/>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2011-01-10T08:36:20Z</dcterms:created>
  <dc:creator>Anne Oberholzer</dc:creator>
</cp:coreProperties>
</file>