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More Sugar Thin" charset="1" panose="00000000000000000000"/>
      <p:regular r:id="rId32"/>
    </p:embeddedFont>
    <p:embeddedFont>
      <p:font typeface="More Sugar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gif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gif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4.gif" Type="http://schemas.openxmlformats.org/officeDocument/2006/relationships/image"/><Relationship Id="rId6" Target="../media/image5.gif" Type="http://schemas.openxmlformats.org/officeDocument/2006/relationships/image"/><Relationship Id="rId7" Target="../media/image6.gif" Type="http://schemas.openxmlformats.org/officeDocument/2006/relationships/image"/><Relationship Id="rId8" Target="../media/image7.gif" Type="http://schemas.openxmlformats.org/officeDocument/2006/relationships/image"/><Relationship Id="rId9" Target="../media/image8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gif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gif" Type="http://schemas.openxmlformats.org/officeDocument/2006/relationships/image"/><Relationship Id="rId20" Target="../media/image19.svg" Type="http://schemas.openxmlformats.org/officeDocument/2006/relationships/image"/><Relationship Id="rId21" Target="../media/image26.png" Type="http://schemas.openxmlformats.org/officeDocument/2006/relationships/image"/><Relationship Id="rId22" Target="../media/image27.svg" Type="http://schemas.openxmlformats.org/officeDocument/2006/relationships/image"/><Relationship Id="rId23" Target="../media/image28.png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4.gif" Type="http://schemas.openxmlformats.org/officeDocument/2006/relationships/image"/><Relationship Id="rId6" Target="../media/image5.gif" Type="http://schemas.openxmlformats.org/officeDocument/2006/relationships/image"/><Relationship Id="rId7" Target="../media/image6.gif" Type="http://schemas.openxmlformats.org/officeDocument/2006/relationships/image"/><Relationship Id="rId8" Target="../media/image7.gif" Type="http://schemas.openxmlformats.org/officeDocument/2006/relationships/image"/><Relationship Id="rId9" Target="../media/image8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42.png" Type="http://schemas.openxmlformats.org/officeDocument/2006/relationships/image"/><Relationship Id="rId2" Target="../media/image39.gif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50.png" Type="http://schemas.openxmlformats.org/officeDocument/2006/relationships/image"/><Relationship Id="rId2" Target="../media/image39.gif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gif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gif" Type="http://schemas.openxmlformats.org/officeDocument/2006/relationships/image"/><Relationship Id="rId20" Target="../media/image19.svg" Type="http://schemas.openxmlformats.org/officeDocument/2006/relationships/image"/><Relationship Id="rId21" Target="../media/image26.png" Type="http://schemas.openxmlformats.org/officeDocument/2006/relationships/image"/><Relationship Id="rId22" Target="../media/image27.svg" Type="http://schemas.openxmlformats.org/officeDocument/2006/relationships/image"/><Relationship Id="rId23" Target="../media/image55.png" Type="http://schemas.openxmlformats.org/officeDocument/2006/relationships/image"/><Relationship Id="rId3" Target="../media/image2.gif" Type="http://schemas.openxmlformats.org/officeDocument/2006/relationships/image"/><Relationship Id="rId4" Target="../media/image3.gif" Type="http://schemas.openxmlformats.org/officeDocument/2006/relationships/image"/><Relationship Id="rId5" Target="../media/image4.gif" Type="http://schemas.openxmlformats.org/officeDocument/2006/relationships/image"/><Relationship Id="rId6" Target="../media/image5.gif" Type="http://schemas.openxmlformats.org/officeDocument/2006/relationships/image"/><Relationship Id="rId7" Target="../media/image6.gif" Type="http://schemas.openxmlformats.org/officeDocument/2006/relationships/image"/><Relationship Id="rId8" Target="../media/image7.gif" Type="http://schemas.openxmlformats.org/officeDocument/2006/relationships/image"/><Relationship Id="rId9" Target="../media/image8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56.png" Type="http://schemas.openxmlformats.org/officeDocument/2006/relationships/image"/><Relationship Id="rId2" Target="../media/image39.gif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60.png" Type="http://schemas.openxmlformats.org/officeDocument/2006/relationships/image"/><Relationship Id="rId13" Target="../media/image61.svg" Type="http://schemas.openxmlformats.org/officeDocument/2006/relationships/image"/><Relationship Id="rId14" Target="../media/image10.png" Type="http://schemas.openxmlformats.org/officeDocument/2006/relationships/image"/><Relationship Id="rId15" Target="../media/image11.svg" Type="http://schemas.openxmlformats.org/officeDocument/2006/relationships/image"/><Relationship Id="rId16" Target="../media/image62.png" Type="http://schemas.openxmlformats.org/officeDocument/2006/relationships/image"/><Relationship Id="rId17" Target="../media/image63.svg" Type="http://schemas.openxmlformats.org/officeDocument/2006/relationships/image"/><Relationship Id="rId18" Target="../media/image64.png" Type="http://schemas.openxmlformats.org/officeDocument/2006/relationships/image"/><Relationship Id="rId19" Target="../media/image65.svg" Type="http://schemas.openxmlformats.org/officeDocument/2006/relationships/image"/><Relationship Id="rId2" Target="../media/image58.png" Type="http://schemas.openxmlformats.org/officeDocument/2006/relationships/image"/><Relationship Id="rId20" Target="../media/image18.png" Type="http://schemas.openxmlformats.org/officeDocument/2006/relationships/image"/><Relationship Id="rId21" Target="../media/image19.svg" Type="http://schemas.openxmlformats.org/officeDocument/2006/relationships/image"/><Relationship Id="rId22" Target="../media/image16.png" Type="http://schemas.openxmlformats.org/officeDocument/2006/relationships/image"/><Relationship Id="rId23" Target="../media/image17.svg" Type="http://schemas.openxmlformats.org/officeDocument/2006/relationships/image"/><Relationship Id="rId24" Target="../media/image66.png" Type="http://schemas.openxmlformats.org/officeDocument/2006/relationships/image"/><Relationship Id="rId3" Target="../media/image59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590094" y="1406320"/>
            <a:ext cx="3047668" cy="68572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46104" y="1439752"/>
            <a:ext cx="2996191" cy="618861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-777794" y="6524574"/>
            <a:ext cx="2830237" cy="196483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-429311">
            <a:off x="-383718" y="9304178"/>
            <a:ext cx="3459645" cy="41515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6688975" y="1564017"/>
            <a:ext cx="2603134" cy="98919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-1252235" y="3216239"/>
            <a:ext cx="3123813" cy="84343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6439448" y="4314162"/>
            <a:ext cx="2479131" cy="272704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6235556" y="5769930"/>
            <a:ext cx="3509972" cy="754644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9769454" y="9732024"/>
            <a:ext cx="4013564" cy="842848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-5400000">
            <a:off x="15783562" y="7066470"/>
            <a:ext cx="1311773" cy="2192934"/>
          </a:xfrm>
          <a:custGeom>
            <a:avLst/>
            <a:gdLst/>
            <a:ahLst/>
            <a:cxnLst/>
            <a:rect r="r" b="b" t="t" l="l"/>
            <a:pathLst>
              <a:path h="2192934" w="1311773">
                <a:moveTo>
                  <a:pt x="0" y="0"/>
                </a:moveTo>
                <a:lnTo>
                  <a:pt x="1311773" y="0"/>
                </a:lnTo>
                <a:lnTo>
                  <a:pt x="1311773" y="2192934"/>
                </a:lnTo>
                <a:lnTo>
                  <a:pt x="0" y="21929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968484">
            <a:off x="5226076" y="9410589"/>
            <a:ext cx="2023735" cy="2328566"/>
          </a:xfrm>
          <a:custGeom>
            <a:avLst/>
            <a:gdLst/>
            <a:ahLst/>
            <a:cxnLst/>
            <a:rect r="r" b="b" t="t" l="l"/>
            <a:pathLst>
              <a:path h="2328566" w="2023735">
                <a:moveTo>
                  <a:pt x="0" y="0"/>
                </a:moveTo>
                <a:lnTo>
                  <a:pt x="2023735" y="0"/>
                </a:lnTo>
                <a:lnTo>
                  <a:pt x="2023735" y="2328566"/>
                </a:lnTo>
                <a:lnTo>
                  <a:pt x="0" y="23285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671625">
            <a:off x="6303885" y="144012"/>
            <a:ext cx="2830725" cy="555852"/>
          </a:xfrm>
          <a:custGeom>
            <a:avLst/>
            <a:gdLst/>
            <a:ahLst/>
            <a:cxnLst/>
            <a:rect r="r" b="b" t="t" l="l"/>
            <a:pathLst>
              <a:path h="555852" w="2830725">
                <a:moveTo>
                  <a:pt x="0" y="0"/>
                </a:moveTo>
                <a:lnTo>
                  <a:pt x="2830726" y="0"/>
                </a:lnTo>
                <a:lnTo>
                  <a:pt x="2830726" y="555851"/>
                </a:lnTo>
                <a:lnTo>
                  <a:pt x="0" y="55585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93159">
            <a:off x="3314286" y="-904648"/>
            <a:ext cx="2056019" cy="1809297"/>
          </a:xfrm>
          <a:custGeom>
            <a:avLst/>
            <a:gdLst/>
            <a:ahLst/>
            <a:cxnLst/>
            <a:rect r="r" b="b" t="t" l="l"/>
            <a:pathLst>
              <a:path h="1809297" w="2056019">
                <a:moveTo>
                  <a:pt x="0" y="0"/>
                </a:moveTo>
                <a:lnTo>
                  <a:pt x="2056019" y="0"/>
                </a:lnTo>
                <a:lnTo>
                  <a:pt x="2056019" y="1809296"/>
                </a:lnTo>
                <a:lnTo>
                  <a:pt x="0" y="1809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09601">
            <a:off x="14825676" y="9388873"/>
            <a:ext cx="2819761" cy="733138"/>
          </a:xfrm>
          <a:custGeom>
            <a:avLst/>
            <a:gdLst/>
            <a:ahLst/>
            <a:cxnLst/>
            <a:rect r="r" b="b" t="t" l="l"/>
            <a:pathLst>
              <a:path h="733138" w="2819761">
                <a:moveTo>
                  <a:pt x="0" y="0"/>
                </a:moveTo>
                <a:lnTo>
                  <a:pt x="2819760" y="0"/>
                </a:lnTo>
                <a:lnTo>
                  <a:pt x="2819760" y="733138"/>
                </a:lnTo>
                <a:lnTo>
                  <a:pt x="0" y="73313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80372">
            <a:off x="11806413" y="-253737"/>
            <a:ext cx="4882562" cy="772333"/>
          </a:xfrm>
          <a:custGeom>
            <a:avLst/>
            <a:gdLst/>
            <a:ahLst/>
            <a:cxnLst/>
            <a:rect r="r" b="b" t="t" l="l"/>
            <a:pathLst>
              <a:path h="772333" w="4882562">
                <a:moveTo>
                  <a:pt x="0" y="0"/>
                </a:moveTo>
                <a:lnTo>
                  <a:pt x="4882562" y="0"/>
                </a:lnTo>
                <a:lnTo>
                  <a:pt x="4882562" y="772332"/>
                </a:lnTo>
                <a:lnTo>
                  <a:pt x="0" y="77233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21208" y="800136"/>
            <a:ext cx="3650180" cy="1898093"/>
          </a:xfrm>
          <a:custGeom>
            <a:avLst/>
            <a:gdLst/>
            <a:ahLst/>
            <a:cxnLst/>
            <a:rect r="r" b="b" t="t" l="l"/>
            <a:pathLst>
              <a:path h="1898093" w="3650180">
                <a:moveTo>
                  <a:pt x="0" y="0"/>
                </a:moveTo>
                <a:lnTo>
                  <a:pt x="3650180" y="0"/>
                </a:lnTo>
                <a:lnTo>
                  <a:pt x="3650180" y="1898093"/>
                </a:lnTo>
                <a:lnTo>
                  <a:pt x="0" y="189809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728147" y="4314162"/>
            <a:ext cx="2343240" cy="3583037"/>
          </a:xfrm>
          <a:custGeom>
            <a:avLst/>
            <a:gdLst/>
            <a:ahLst/>
            <a:cxnLst/>
            <a:rect r="r" b="b" t="t" l="l"/>
            <a:pathLst>
              <a:path h="3583037" w="2343240">
                <a:moveTo>
                  <a:pt x="0" y="0"/>
                </a:moveTo>
                <a:lnTo>
                  <a:pt x="2343241" y="0"/>
                </a:lnTo>
                <a:lnTo>
                  <a:pt x="2343241" y="3583036"/>
                </a:lnTo>
                <a:lnTo>
                  <a:pt x="0" y="35830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-16809" r="0" b="-1710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46104" y="1977745"/>
            <a:ext cx="16189811" cy="2145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  <a:spcBef>
                <a:spcPct val="0"/>
              </a:spcBef>
            </a:pPr>
            <a:r>
              <a:rPr lang="en-US" sz="6017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No Soma Required: Helping Students Navigate ‘Brave New World’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36380" y="8115312"/>
            <a:ext cx="5939856" cy="85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7"/>
              </a:lnSpc>
            </a:pPr>
            <a:r>
              <a:rPr lang="en-US" sz="2462" spc="15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FIONA KAMPMANN</a:t>
            </a:r>
          </a:p>
          <a:p>
            <a:pPr algn="ctr">
              <a:lnSpc>
                <a:spcPts val="3447"/>
              </a:lnSpc>
              <a:spcBef>
                <a:spcPct val="0"/>
              </a:spcBef>
            </a:pPr>
            <a:r>
              <a:rPr lang="en-US" sz="2462" spc="15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ST JOHN’S COLLEGE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4698" y="1494090"/>
            <a:ext cx="4334602" cy="2430704"/>
          </a:xfrm>
          <a:custGeom>
            <a:avLst/>
            <a:gdLst/>
            <a:ahLst/>
            <a:cxnLst/>
            <a:rect r="r" b="b" t="t" l="l"/>
            <a:pathLst>
              <a:path h="2430704" w="4334602">
                <a:moveTo>
                  <a:pt x="0" y="0"/>
                </a:moveTo>
                <a:lnTo>
                  <a:pt x="4334602" y="0"/>
                </a:lnTo>
                <a:lnTo>
                  <a:pt x="4334602" y="2430704"/>
                </a:lnTo>
                <a:lnTo>
                  <a:pt x="0" y="2430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0464" y="1766407"/>
            <a:ext cx="10947395" cy="105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3"/>
              </a:lnSpc>
              <a:spcBef>
                <a:spcPct val="0"/>
              </a:spcBef>
            </a:pPr>
            <a:r>
              <a:rPr lang="en-US" sz="602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How do we navigate the novel?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9440" y="4107133"/>
            <a:ext cx="16829121" cy="581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One of the most frequently censored books in history.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Examine it through the lens of a dystopian genre.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Begin with an overview of the issues in the novel.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This provides students with an idea of what to expect. and pre-empts the sensationalism.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Make students read the novel authentically.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Initial discussion before teaching the novel.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Ask students to draw parallels between the society in which we live and that of New London AF 632.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5134" y="-1376800"/>
            <a:ext cx="7088920" cy="12286673"/>
            <a:chOff x="0" y="0"/>
            <a:chExt cx="9451893" cy="1638223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0" r="0" b="0"/>
            <a:stretch>
              <a:fillRect/>
            </a:stretch>
          </p:blipFill>
          <p:spPr>
            <a:xfrm flipH="false" flipV="false" rot="0">
              <a:off x="0" y="3622535"/>
              <a:ext cx="4063558" cy="9143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0" r="0" b="0"/>
            <a:stretch>
              <a:fillRect/>
            </a:stretch>
          </p:blipFill>
          <p:spPr>
            <a:xfrm flipH="false" flipV="false" rot="0">
              <a:off x="437433" y="7026561"/>
              <a:ext cx="3994922" cy="825148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0" t="0" r="0" b="0"/>
            <a:stretch>
              <a:fillRect/>
            </a:stretch>
          </p:blipFill>
          <p:spPr>
            <a:xfrm flipH="false" flipV="false" rot="0">
              <a:off x="658705" y="8530322"/>
              <a:ext cx="3773650" cy="2619784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0" r="0" b="0"/>
            <a:stretch>
              <a:fillRect/>
            </a:stretch>
          </p:blipFill>
          <p:spPr>
            <a:xfrm flipH="false" flipV="false" rot="-429311">
              <a:off x="80012" y="12033925"/>
              <a:ext cx="4612860" cy="553543"/>
            </a:xfrm>
            <a:prstGeom prst="rect">
              <a:avLst/>
            </a:prstGeom>
          </p:spPr>
        </p:pic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6"/>
            <a:srcRect l="0" t="0" r="0" b="0"/>
            <a:stretch>
              <a:fillRect/>
            </a:stretch>
          </p:blipFill>
          <p:spPr>
            <a:xfrm flipH="false" flipV="false" rot="0">
              <a:off x="5191796" y="3731324"/>
              <a:ext cx="3470846" cy="1318921"/>
            </a:xfrm>
            <a:prstGeom prst="rect">
              <a:avLst/>
            </a:prstGeom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7"/>
            <a:srcRect l="0" t="0" r="0" b="0"/>
            <a:stretch>
              <a:fillRect/>
            </a:stretch>
          </p:blipFill>
          <p:spPr>
            <a:xfrm flipH="false" flipV="false" rot="0">
              <a:off x="5040088" y="5790471"/>
              <a:ext cx="4165084" cy="1124573"/>
            </a:xfrm>
            <a:prstGeom prst="rect">
              <a:avLst/>
            </a:prstGeom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8"/>
            <a:srcRect l="0" t="0" r="0" b="0"/>
            <a:stretch>
              <a:fillRect/>
            </a:stretch>
          </p:blipFill>
          <p:spPr>
            <a:xfrm flipH="false" flipV="false" rot="0">
              <a:off x="5357134" y="7499658"/>
              <a:ext cx="3305507" cy="363606"/>
            </a:xfrm>
            <a:prstGeom prst="rect">
              <a:avLst/>
            </a:prstGeom>
          </p:spPr>
        </p:pic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9"/>
            <a:srcRect l="0" t="0" r="0" b="0"/>
            <a:stretch>
              <a:fillRect/>
            </a:stretch>
          </p:blipFill>
          <p:spPr>
            <a:xfrm flipH="false" flipV="false" rot="0">
              <a:off x="4178108" y="8541877"/>
              <a:ext cx="4679962" cy="1006192"/>
            </a:xfrm>
            <a:prstGeom prst="rect">
              <a:avLst/>
            </a:prstGeom>
          </p:spPr>
        </p:pic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10"/>
            <a:srcRect l="0" t="0" r="0" b="0"/>
            <a:stretch>
              <a:fillRect/>
            </a:stretch>
          </p:blipFill>
          <p:spPr>
            <a:xfrm flipH="false" flipV="false" rot="0">
              <a:off x="5298767" y="13066658"/>
              <a:ext cx="3422241" cy="718671"/>
            </a:xfrm>
            <a:prstGeom prst="rect">
              <a:avLst/>
            </a:prstGeom>
          </p:spPr>
        </p:pic>
        <p:sp>
          <p:nvSpPr>
            <p:cNvPr name="Freeform 12" id="12"/>
            <p:cNvSpPr/>
            <p:nvPr/>
          </p:nvSpPr>
          <p:spPr>
            <a:xfrm flipH="false" flipV="false" rot="-5400000">
              <a:off x="6135372" y="10057087"/>
              <a:ext cx="1749031" cy="2923912"/>
            </a:xfrm>
            <a:custGeom>
              <a:avLst/>
              <a:gdLst/>
              <a:ahLst/>
              <a:cxnLst/>
              <a:rect r="r" b="b" t="t" l="l"/>
              <a:pathLst>
                <a:path h="2923912" w="1749031">
                  <a:moveTo>
                    <a:pt x="0" y="0"/>
                  </a:moveTo>
                  <a:lnTo>
                    <a:pt x="1749031" y="0"/>
                  </a:lnTo>
                  <a:lnTo>
                    <a:pt x="1749031" y="2923912"/>
                  </a:lnTo>
                  <a:lnTo>
                    <a:pt x="0" y="2923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1968484">
              <a:off x="827576" y="12794086"/>
              <a:ext cx="2698314" cy="3104754"/>
            </a:xfrm>
            <a:custGeom>
              <a:avLst/>
              <a:gdLst/>
              <a:ahLst/>
              <a:cxnLst/>
              <a:rect r="r" b="b" t="t" l="l"/>
              <a:pathLst>
                <a:path h="3104754" w="2698314">
                  <a:moveTo>
                    <a:pt x="0" y="0"/>
                  </a:moveTo>
                  <a:lnTo>
                    <a:pt x="2698314" y="0"/>
                  </a:lnTo>
                  <a:lnTo>
                    <a:pt x="2698314" y="3104754"/>
                  </a:lnTo>
                  <a:lnTo>
                    <a:pt x="0" y="310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671625">
              <a:off x="391288" y="5203932"/>
              <a:ext cx="3774300" cy="741135"/>
            </a:xfrm>
            <a:custGeom>
              <a:avLst/>
              <a:gdLst/>
              <a:ahLst/>
              <a:cxnLst/>
              <a:rect r="r" b="b" t="t" l="l"/>
              <a:pathLst>
                <a:path h="741135" w="3774300">
                  <a:moveTo>
                    <a:pt x="0" y="0"/>
                  </a:moveTo>
                  <a:lnTo>
                    <a:pt x="3774301" y="0"/>
                  </a:lnTo>
                  <a:lnTo>
                    <a:pt x="3774301" y="741135"/>
                  </a:lnTo>
                  <a:lnTo>
                    <a:pt x="0" y="741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293159">
              <a:off x="476524" y="941016"/>
              <a:ext cx="2741358" cy="2412395"/>
            </a:xfrm>
            <a:custGeom>
              <a:avLst/>
              <a:gdLst/>
              <a:ahLst/>
              <a:cxnLst/>
              <a:rect r="r" b="b" t="t" l="l"/>
              <a:pathLst>
                <a:path h="2412395" w="2741358">
                  <a:moveTo>
                    <a:pt x="0" y="0"/>
                  </a:moveTo>
                  <a:lnTo>
                    <a:pt x="2741358" y="0"/>
                  </a:lnTo>
                  <a:lnTo>
                    <a:pt x="2741358" y="2412395"/>
                  </a:lnTo>
                  <a:lnTo>
                    <a:pt x="0" y="2412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409601">
              <a:off x="5647443" y="14649769"/>
              <a:ext cx="3759681" cy="977517"/>
            </a:xfrm>
            <a:custGeom>
              <a:avLst/>
              <a:gdLst/>
              <a:ahLst/>
              <a:cxnLst/>
              <a:rect r="r" b="b" t="t" l="l"/>
              <a:pathLst>
                <a:path h="977517" w="3759681">
                  <a:moveTo>
                    <a:pt x="0" y="0"/>
                  </a:moveTo>
                  <a:lnTo>
                    <a:pt x="3759680" y="0"/>
                  </a:lnTo>
                  <a:lnTo>
                    <a:pt x="3759680" y="977517"/>
                  </a:lnTo>
                  <a:lnTo>
                    <a:pt x="0" y="977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602673" y="0"/>
              <a:ext cx="2869171" cy="3058224"/>
            </a:xfrm>
            <a:custGeom>
              <a:avLst/>
              <a:gdLst/>
              <a:ahLst/>
              <a:cxnLst/>
              <a:rect r="r" b="b" t="t" l="l"/>
              <a:pathLst>
                <a:path h="3058224" w="2869171">
                  <a:moveTo>
                    <a:pt x="0" y="0"/>
                  </a:moveTo>
                  <a:lnTo>
                    <a:pt x="2869171" y="0"/>
                  </a:lnTo>
                  <a:lnTo>
                    <a:pt x="2869171" y="3058224"/>
                  </a:lnTo>
                  <a:lnTo>
                    <a:pt x="0" y="3058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580712" y="6643591"/>
            <a:ext cx="4165482" cy="3643409"/>
          </a:xfrm>
          <a:custGeom>
            <a:avLst/>
            <a:gdLst/>
            <a:ahLst/>
            <a:cxnLst/>
            <a:rect r="r" b="b" t="t" l="l"/>
            <a:pathLst>
              <a:path h="3643409" w="4165482">
                <a:moveTo>
                  <a:pt x="0" y="0"/>
                </a:moveTo>
                <a:lnTo>
                  <a:pt x="4165482" y="0"/>
                </a:lnTo>
                <a:lnTo>
                  <a:pt x="4165482" y="3643409"/>
                </a:lnTo>
                <a:lnTo>
                  <a:pt x="0" y="364340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9951" y="623618"/>
            <a:ext cx="8597617" cy="83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60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Utopia vs Dystopia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9241" y="1925357"/>
            <a:ext cx="11149667" cy="474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468" indent="-366734" lvl="1">
              <a:lnSpc>
                <a:spcPts val="4756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 utopia is a society where everything is perfect (eu + topos - means ‘a good place’.</a:t>
            </a:r>
          </a:p>
          <a:p>
            <a:pPr algn="l" marL="733468" indent="-366734" lvl="1">
              <a:lnSpc>
                <a:spcPts val="4756"/>
              </a:lnSpc>
              <a:buFont typeface="Arial"/>
              <a:buChar char="•"/>
            </a:pPr>
            <a:r>
              <a:rPr lang="en-US" sz="339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 dystopia is a futuristic, imagined universe in which oppressive societal control and the illusion of a perfect society are maintained through totalitarian control. Dystopias, through an exaggerated worst-case scenario, make a criticism about a current trend, societal norm, or political system.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4698" y="1494090"/>
            <a:ext cx="4334602" cy="2430704"/>
          </a:xfrm>
          <a:custGeom>
            <a:avLst/>
            <a:gdLst/>
            <a:ahLst/>
            <a:cxnLst/>
            <a:rect r="r" b="b" t="t" l="l"/>
            <a:pathLst>
              <a:path h="2430704" w="4334602">
                <a:moveTo>
                  <a:pt x="0" y="0"/>
                </a:moveTo>
                <a:lnTo>
                  <a:pt x="4334602" y="0"/>
                </a:lnTo>
                <a:lnTo>
                  <a:pt x="4334602" y="2430704"/>
                </a:lnTo>
                <a:lnTo>
                  <a:pt x="0" y="2430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0464" y="1766407"/>
            <a:ext cx="10947395" cy="215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3"/>
              </a:lnSpc>
              <a:spcBef>
                <a:spcPct val="0"/>
              </a:spcBef>
            </a:pPr>
            <a:r>
              <a:rPr lang="en-US" sz="602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Why can the novel be considered contentious?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9440" y="4399853"/>
            <a:ext cx="16829121" cy="516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Set in A.F. 632 in a futuristic society very different to our own.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Employs Eugenics - planned breeding and production of cloned humans.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 Society is stratified and based on a hierarchical caste system.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Traditional religion has been replaced by the worship of Consumerism.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Social conditioning is used to dictate the citizens’ behaviour. 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Promiscuous behaviour is encouraged.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Philosophy of ‘Everyone Belongs to everyone else’.</a:t>
            </a:r>
          </a:p>
          <a:p>
            <a:pPr algn="just" marL="794781" indent="-397391" lvl="1">
              <a:lnSpc>
                <a:spcPts val="5153"/>
              </a:lnSpc>
              <a:buFont typeface="Arial"/>
              <a:buChar char="•"/>
            </a:pPr>
            <a:r>
              <a:rPr lang="en-US" sz="36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Use of Soma to ensure that the citizens remain happy at all times.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9968" y="1896005"/>
            <a:ext cx="15589332" cy="116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16"/>
              </a:lnSpc>
              <a:spcBef>
                <a:spcPct val="0"/>
              </a:spcBef>
            </a:pPr>
            <a:r>
              <a:rPr lang="en-US" sz="66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Context in which the novel was written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9968" y="3785103"/>
            <a:ext cx="15207423" cy="547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It was written  in 1932 between the first and second world war.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social effects  of the Great War were evident.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People were beginning to question the established social and moral beliefs.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There was a desire for more equality in class and gender.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Mass production and technological innovations such as car, radios and telephones transformed daily life. 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People were concerned about the change in their daily lives and were worried about losing their indivduality.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093518" y="608351"/>
            <a:ext cx="4100965" cy="840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293634" y="1028700"/>
            <a:ext cx="3700732" cy="216492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75352" y="3477369"/>
            <a:ext cx="15483948" cy="82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6"/>
              </a:lnSpc>
              <a:spcBef>
                <a:spcPct val="0"/>
              </a:spcBef>
            </a:pPr>
            <a:r>
              <a:rPr lang="en-US" sz="47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How do world events impact on the content of the novel?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75352" y="4594853"/>
            <a:ext cx="15163508" cy="501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changing nature of the world between both wars  and the growth of consumerism because of mass production are reflected in extreme consequences.</a:t>
            </a:r>
          </a:p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Consumerism becomes a religion where the society worships Henry T Ford. </a:t>
            </a:r>
          </a:p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rise of Socialism in the 1920s is highlighted by the emergence of a totalitarian world state.</a:t>
            </a:r>
          </a:p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Family life breaks down completely.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9968" y="1934105"/>
            <a:ext cx="15589332" cy="82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6"/>
              </a:lnSpc>
              <a:spcBef>
                <a:spcPct val="0"/>
              </a:spcBef>
            </a:pPr>
            <a:r>
              <a:rPr lang="en-US" sz="47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How do Psychology and Innovation impact upon the novel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9968" y="3785103"/>
            <a:ext cx="16030689" cy="547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1879: 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first psychological laboratory opens in Germany.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1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886: 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Sigmund Freud argued that 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awareness of the unconscious mind 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is essential to understanding conscious thought and behavior.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1900: 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Gregor Mendel’s scientific studies of genetic inheritance are rediscovered. Interest in 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eugenics </a:t>
            </a: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grows.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1900-1920s: Introduction ofchewing gum,radio, movies, and advertising 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1908: The first Model T car is produced.</a:t>
            </a:r>
          </a:p>
          <a:p>
            <a:pPr algn="just" marL="746796" indent="-373398" lvl="1">
              <a:lnSpc>
                <a:spcPts val="4842"/>
              </a:lnSpc>
              <a:buFont typeface="Arial"/>
              <a:buChar char="•"/>
            </a:pPr>
            <a:r>
              <a:rPr lang="en-US" sz="345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Henry Ford’s development of an assembly line. </a:t>
            </a:r>
          </a:p>
          <a:p>
            <a:pPr algn="just">
              <a:lnSpc>
                <a:spcPts val="4842"/>
              </a:lnSpc>
            </a:pP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093518" y="608351"/>
            <a:ext cx="4100965" cy="840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1487" y="2809043"/>
            <a:ext cx="4231431" cy="2683121"/>
          </a:xfrm>
          <a:custGeom>
            <a:avLst/>
            <a:gdLst/>
            <a:ahLst/>
            <a:cxnLst/>
            <a:rect r="r" b="b" t="t" l="l"/>
            <a:pathLst>
              <a:path h="2683121" w="4231431">
                <a:moveTo>
                  <a:pt x="0" y="0"/>
                </a:moveTo>
                <a:lnTo>
                  <a:pt x="4231432" y="0"/>
                </a:lnTo>
                <a:lnTo>
                  <a:pt x="4231432" y="2683121"/>
                </a:lnTo>
                <a:lnTo>
                  <a:pt x="0" y="268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2128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3876" y="377817"/>
            <a:ext cx="7315200" cy="3803904"/>
          </a:xfrm>
          <a:custGeom>
            <a:avLst/>
            <a:gdLst/>
            <a:ahLst/>
            <a:cxnLst/>
            <a:rect r="r" b="b" t="t" l="l"/>
            <a:pathLst>
              <a:path h="3803904" w="7315200">
                <a:moveTo>
                  <a:pt x="0" y="0"/>
                </a:moveTo>
                <a:lnTo>
                  <a:pt x="7315200" y="0"/>
                </a:lnTo>
                <a:lnTo>
                  <a:pt x="7315200" y="3803904"/>
                </a:lnTo>
                <a:lnTo>
                  <a:pt x="0" y="380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21517" y="6447608"/>
            <a:ext cx="3227308" cy="2810692"/>
          </a:xfrm>
          <a:custGeom>
            <a:avLst/>
            <a:gdLst/>
            <a:ahLst/>
            <a:cxnLst/>
            <a:rect r="r" b="b" t="t" l="l"/>
            <a:pathLst>
              <a:path h="2810692" w="3227308">
                <a:moveTo>
                  <a:pt x="0" y="0"/>
                </a:moveTo>
                <a:lnTo>
                  <a:pt x="3227308" y="0"/>
                </a:lnTo>
                <a:lnTo>
                  <a:pt x="3227308" y="2810692"/>
                </a:lnTo>
                <a:lnTo>
                  <a:pt x="0" y="2810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1449" y="7550921"/>
            <a:ext cx="3592821" cy="3240071"/>
          </a:xfrm>
          <a:custGeom>
            <a:avLst/>
            <a:gdLst/>
            <a:ahLst/>
            <a:cxnLst/>
            <a:rect r="r" b="b" t="t" l="l"/>
            <a:pathLst>
              <a:path h="3240071" w="3592821">
                <a:moveTo>
                  <a:pt x="0" y="0"/>
                </a:moveTo>
                <a:lnTo>
                  <a:pt x="3592821" y="0"/>
                </a:lnTo>
                <a:lnTo>
                  <a:pt x="3592821" y="3240071"/>
                </a:lnTo>
                <a:lnTo>
                  <a:pt x="0" y="3240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555124"/>
            <a:ext cx="9718069" cy="6945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Predestination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Social conditioning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Stability of Society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Consumerism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Commodification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Marginalisation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Promiscuity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Individual vs the Community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Freedom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Happiness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High Art</a:t>
            </a:r>
          </a:p>
          <a:p>
            <a:pPr algn="l">
              <a:lnSpc>
                <a:spcPts val="460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617640" y="1690126"/>
            <a:ext cx="6670360" cy="7080559"/>
          </a:xfrm>
          <a:custGeom>
            <a:avLst/>
            <a:gdLst/>
            <a:ahLst/>
            <a:cxnLst/>
            <a:rect r="r" b="b" t="t" l="l"/>
            <a:pathLst>
              <a:path h="7080559" w="6670360">
                <a:moveTo>
                  <a:pt x="0" y="0"/>
                </a:moveTo>
                <a:lnTo>
                  <a:pt x="6670360" y="0"/>
                </a:lnTo>
                <a:lnTo>
                  <a:pt x="6670360" y="7080559"/>
                </a:lnTo>
                <a:lnTo>
                  <a:pt x="0" y="7080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6156" r="0" b="-1643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9964" y="1143000"/>
            <a:ext cx="11997743" cy="82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4"/>
              </a:lnSpc>
            </a:pPr>
            <a:r>
              <a:rPr lang="en-US" sz="59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Themes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0106" y="2345298"/>
            <a:ext cx="10002943" cy="692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6139" indent="-423070" lvl="1">
              <a:lnSpc>
                <a:spcPts val="5486"/>
              </a:lnSpc>
              <a:buFont typeface="Arial"/>
              <a:buChar char="•"/>
            </a:pPr>
            <a:r>
              <a:rPr lang="en-US" sz="39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Irony of the title which has connotations of hopefulness and beauty.</a:t>
            </a:r>
          </a:p>
          <a:p>
            <a:pPr algn="l" marL="846139" indent="-423070" lvl="1">
              <a:lnSpc>
                <a:spcPts val="5486"/>
              </a:lnSpc>
              <a:buFont typeface="Arial"/>
              <a:buChar char="•"/>
            </a:pPr>
            <a:r>
              <a:rPr lang="en-US" sz="39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It is taken from ‘The Tempest’ where Miranda anticipates a world of promise.</a:t>
            </a:r>
          </a:p>
          <a:p>
            <a:pPr algn="l" marL="846139" indent="-423070" lvl="1">
              <a:lnSpc>
                <a:spcPts val="5486"/>
              </a:lnSpc>
              <a:buFont typeface="Arial"/>
              <a:buChar char="•"/>
            </a:pPr>
            <a:r>
              <a:rPr lang="en-US" sz="39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Instead, we are presented with a sterile, controlled society where progress has not brought fulfillment.</a:t>
            </a:r>
          </a:p>
          <a:p>
            <a:pPr algn="l" marL="846139" indent="-423070" lvl="1">
              <a:lnSpc>
                <a:spcPts val="5486"/>
              </a:lnSpc>
              <a:buFont typeface="Arial"/>
              <a:buChar char="•"/>
            </a:pPr>
            <a:r>
              <a:rPr lang="en-US" sz="39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World State is not the utopia that the title suggests.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48384" y="2411973"/>
            <a:ext cx="4410916" cy="6846327"/>
          </a:xfrm>
          <a:custGeom>
            <a:avLst/>
            <a:gdLst/>
            <a:ahLst/>
            <a:cxnLst/>
            <a:rect r="r" b="b" t="t" l="l"/>
            <a:pathLst>
              <a:path h="6846327" w="4410916">
                <a:moveTo>
                  <a:pt x="0" y="0"/>
                </a:moveTo>
                <a:lnTo>
                  <a:pt x="4410916" y="0"/>
                </a:lnTo>
                <a:lnTo>
                  <a:pt x="4410916" y="6846327"/>
                </a:lnTo>
                <a:lnTo>
                  <a:pt x="0" y="6846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0106" y="253421"/>
            <a:ext cx="14595218" cy="139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6"/>
              </a:lnSpc>
              <a:spcBef>
                <a:spcPct val="0"/>
              </a:spcBef>
            </a:pPr>
            <a:r>
              <a:rPr lang="en-US" sz="79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The Title - ‘Brave New World’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385" y="1882820"/>
            <a:ext cx="11789810" cy="824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603" indent="-358301" lvl="1">
              <a:lnSpc>
                <a:spcPts val="4646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Compares the ‘utopia’ of The Island to that of New London. </a:t>
            </a:r>
          </a:p>
          <a:p>
            <a:pPr algn="l" marL="716603" indent="-358301" lvl="1">
              <a:lnSpc>
                <a:spcPts val="4646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Sycorax is alone on the island ; Linda is left behind on The Savage Reservation in the midst of a storm.</a:t>
            </a:r>
          </a:p>
          <a:p>
            <a:pPr algn="l" marL="716603" indent="-358301" lvl="1">
              <a:lnSpc>
                <a:spcPts val="4646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Marginalisation of Caliban and John the Savage.</a:t>
            </a:r>
          </a:p>
          <a:p>
            <a:pPr algn="l" marL="716603" indent="-358301" lvl="1">
              <a:lnSpc>
                <a:spcPts val="4646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Caliban is marginalised by Prospero and Miranda; John is marginalised as a consequence of his mother’s lack of morality and his rejection by the Zuni Native Americans.</a:t>
            </a:r>
          </a:p>
          <a:p>
            <a:pPr algn="l" marL="716603" indent="-358301" lvl="1">
              <a:lnSpc>
                <a:spcPts val="4646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Both attempt to rebel - Caliban against Propoero; John against the ritual of dispensing soma. </a:t>
            </a:r>
          </a:p>
          <a:p>
            <a:pPr algn="l" marL="716603" indent="-358301" lvl="1">
              <a:lnSpc>
                <a:spcPts val="4646"/>
              </a:lnSpc>
              <a:buFont typeface="Arial"/>
              <a:buChar char="•"/>
            </a:pPr>
            <a:r>
              <a:rPr lang="en-US" sz="33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Prospero gives up his magic; Mustapha Mond gives up his individual happiness and serve the happiness of society. </a:t>
            </a:r>
          </a:p>
          <a:p>
            <a:pPr algn="l">
              <a:lnSpc>
                <a:spcPts val="4646"/>
              </a:lnSpc>
            </a:pPr>
          </a:p>
          <a:p>
            <a:pPr algn="l">
              <a:lnSpc>
                <a:spcPts val="3526"/>
              </a:lnSpc>
            </a:pPr>
            <a:r>
              <a:rPr lang="en-US" sz="2519" u="sng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Subversion of Drama in Huxley's Brave New World</a:t>
            </a:r>
            <a:r>
              <a:rPr lang="en-US" sz="25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 by Edward Lobb</a:t>
            </a:r>
          </a:p>
          <a:p>
            <a:pPr algn="l">
              <a:lnSpc>
                <a:spcPts val="1146"/>
              </a:lnSpc>
            </a:pPr>
            <a:r>
              <a:rPr lang="en-US" sz="8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522792" y="2574530"/>
            <a:ext cx="3765208" cy="5137939"/>
          </a:xfrm>
          <a:custGeom>
            <a:avLst/>
            <a:gdLst/>
            <a:ahLst/>
            <a:cxnLst/>
            <a:rect r="r" b="b" t="t" l="l"/>
            <a:pathLst>
              <a:path h="5137939" w="3765208">
                <a:moveTo>
                  <a:pt x="0" y="0"/>
                </a:moveTo>
                <a:lnTo>
                  <a:pt x="3765208" y="0"/>
                </a:lnTo>
                <a:lnTo>
                  <a:pt x="3765208" y="5137940"/>
                </a:lnTo>
                <a:lnTo>
                  <a:pt x="0" y="5137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90106" y="253421"/>
            <a:ext cx="14595218" cy="139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6"/>
              </a:lnSpc>
              <a:spcBef>
                <a:spcPct val="0"/>
              </a:spcBef>
            </a:pPr>
            <a:r>
              <a:rPr lang="en-US" sz="79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Parallels to ‘The Tempest’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523295" y="565549"/>
            <a:ext cx="4099729" cy="422652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996800">
            <a:off x="15300386" y="4810108"/>
            <a:ext cx="5975228" cy="616002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3903434" y="2678812"/>
            <a:ext cx="1155283" cy="1329300"/>
          </a:xfrm>
          <a:custGeom>
            <a:avLst/>
            <a:gdLst/>
            <a:ahLst/>
            <a:cxnLst/>
            <a:rect r="r" b="b" t="t" l="l"/>
            <a:pathLst>
              <a:path h="1329300" w="1155283">
                <a:moveTo>
                  <a:pt x="0" y="0"/>
                </a:moveTo>
                <a:lnTo>
                  <a:pt x="1155282" y="0"/>
                </a:lnTo>
                <a:lnTo>
                  <a:pt x="1155282" y="1329300"/>
                </a:lnTo>
                <a:lnTo>
                  <a:pt x="0" y="132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48236">
            <a:off x="12823826" y="1708922"/>
            <a:ext cx="1155283" cy="1329300"/>
          </a:xfrm>
          <a:custGeom>
            <a:avLst/>
            <a:gdLst/>
            <a:ahLst/>
            <a:cxnLst/>
            <a:rect r="r" b="b" t="t" l="l"/>
            <a:pathLst>
              <a:path h="1329300" w="1155283">
                <a:moveTo>
                  <a:pt x="0" y="0"/>
                </a:moveTo>
                <a:lnTo>
                  <a:pt x="1155283" y="0"/>
                </a:lnTo>
                <a:lnTo>
                  <a:pt x="1155283" y="1329300"/>
                </a:lnTo>
                <a:lnTo>
                  <a:pt x="0" y="132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7250260"/>
            <a:ext cx="2885497" cy="645302"/>
          </a:xfrm>
          <a:custGeom>
            <a:avLst/>
            <a:gdLst/>
            <a:ahLst/>
            <a:cxnLst/>
            <a:rect r="r" b="b" t="t" l="l"/>
            <a:pathLst>
              <a:path h="645302" w="2885497">
                <a:moveTo>
                  <a:pt x="0" y="0"/>
                </a:moveTo>
                <a:lnTo>
                  <a:pt x="2885497" y="0"/>
                </a:lnTo>
                <a:lnTo>
                  <a:pt x="2885497" y="645302"/>
                </a:lnTo>
                <a:lnTo>
                  <a:pt x="0" y="645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1688">
            <a:off x="16649451" y="9000540"/>
            <a:ext cx="2885497" cy="645302"/>
          </a:xfrm>
          <a:custGeom>
            <a:avLst/>
            <a:gdLst/>
            <a:ahLst/>
            <a:cxnLst/>
            <a:rect r="r" b="b" t="t" l="l"/>
            <a:pathLst>
              <a:path h="645302" w="2885497">
                <a:moveTo>
                  <a:pt x="0" y="0"/>
                </a:moveTo>
                <a:lnTo>
                  <a:pt x="2885497" y="0"/>
                </a:lnTo>
                <a:lnTo>
                  <a:pt x="2885497" y="645302"/>
                </a:lnTo>
                <a:lnTo>
                  <a:pt x="0" y="645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49451" y="6551291"/>
            <a:ext cx="2189044" cy="429849"/>
          </a:xfrm>
          <a:custGeom>
            <a:avLst/>
            <a:gdLst/>
            <a:ahLst/>
            <a:cxnLst/>
            <a:rect r="r" b="b" t="t" l="l"/>
            <a:pathLst>
              <a:path h="429849" w="2189044">
                <a:moveTo>
                  <a:pt x="0" y="0"/>
                </a:moveTo>
                <a:lnTo>
                  <a:pt x="2189044" y="0"/>
                </a:lnTo>
                <a:lnTo>
                  <a:pt x="2189044" y="429848"/>
                </a:lnTo>
                <a:lnTo>
                  <a:pt x="0" y="429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671625">
            <a:off x="16513004" y="8234703"/>
            <a:ext cx="2189044" cy="429849"/>
          </a:xfrm>
          <a:custGeom>
            <a:avLst/>
            <a:gdLst/>
            <a:ahLst/>
            <a:cxnLst/>
            <a:rect r="r" b="b" t="t" l="l"/>
            <a:pathLst>
              <a:path h="429849" w="2189044">
                <a:moveTo>
                  <a:pt x="0" y="0"/>
                </a:moveTo>
                <a:lnTo>
                  <a:pt x="2189044" y="0"/>
                </a:lnTo>
                <a:lnTo>
                  <a:pt x="2189044" y="429849"/>
                </a:lnTo>
                <a:lnTo>
                  <a:pt x="0" y="429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3159">
            <a:off x="9614862" y="584963"/>
            <a:ext cx="1509784" cy="1328610"/>
          </a:xfrm>
          <a:custGeom>
            <a:avLst/>
            <a:gdLst/>
            <a:ahLst/>
            <a:cxnLst/>
            <a:rect r="r" b="b" t="t" l="l"/>
            <a:pathLst>
              <a:path h="1328610" w="1509784">
                <a:moveTo>
                  <a:pt x="0" y="0"/>
                </a:moveTo>
                <a:lnTo>
                  <a:pt x="1509785" y="0"/>
                </a:lnTo>
                <a:lnTo>
                  <a:pt x="1509785" y="1328611"/>
                </a:lnTo>
                <a:lnTo>
                  <a:pt x="0" y="13286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70550" y="1975456"/>
            <a:ext cx="973423" cy="1627303"/>
          </a:xfrm>
          <a:custGeom>
            <a:avLst/>
            <a:gdLst/>
            <a:ahLst/>
            <a:cxnLst/>
            <a:rect r="r" b="b" t="t" l="l"/>
            <a:pathLst>
              <a:path h="1627303" w="973423">
                <a:moveTo>
                  <a:pt x="0" y="0"/>
                </a:moveTo>
                <a:lnTo>
                  <a:pt x="973423" y="0"/>
                </a:lnTo>
                <a:lnTo>
                  <a:pt x="973423" y="1627303"/>
                </a:lnTo>
                <a:lnTo>
                  <a:pt x="0" y="16273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09601">
            <a:off x="5654821" y="9113832"/>
            <a:ext cx="2639025" cy="686146"/>
          </a:xfrm>
          <a:custGeom>
            <a:avLst/>
            <a:gdLst/>
            <a:ahLst/>
            <a:cxnLst/>
            <a:rect r="r" b="b" t="t" l="l"/>
            <a:pathLst>
              <a:path h="686146" w="2639025">
                <a:moveTo>
                  <a:pt x="0" y="0"/>
                </a:moveTo>
                <a:lnTo>
                  <a:pt x="2639025" y="0"/>
                </a:lnTo>
                <a:lnTo>
                  <a:pt x="2639025" y="686146"/>
                </a:lnTo>
                <a:lnTo>
                  <a:pt x="0" y="686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5175" y="1478104"/>
            <a:ext cx="6032825" cy="6843875"/>
          </a:xfrm>
          <a:custGeom>
            <a:avLst/>
            <a:gdLst/>
            <a:ahLst/>
            <a:cxnLst/>
            <a:rect r="r" b="b" t="t" l="l"/>
            <a:pathLst>
              <a:path h="6843875" w="6032825">
                <a:moveTo>
                  <a:pt x="0" y="0"/>
                </a:moveTo>
                <a:lnTo>
                  <a:pt x="6032825" y="0"/>
                </a:lnTo>
                <a:lnTo>
                  <a:pt x="6032825" y="6843875"/>
                </a:lnTo>
                <a:lnTo>
                  <a:pt x="0" y="6843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8738" r="0" b="-1585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16324" y="1222774"/>
            <a:ext cx="8327676" cy="59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4"/>
              </a:lnSpc>
            </a:pPr>
            <a:r>
              <a:rPr lang="en-US" sz="43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Platform Paragraph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1275" y="1965931"/>
            <a:ext cx="9656645" cy="647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Gives students to include a world-building paragraph.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This enables students to demonstrate their knowledge of the world in which the novel is set.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For weaker students, it acts as a way to anchor themselves in an essay and demonstrate what they know.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This should not be a pre-learned/pre-prepared paragraph but should demonstrate an engagement with the question.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4444" y="5839730"/>
            <a:ext cx="8115300" cy="3418570"/>
          </a:xfrm>
          <a:custGeom>
            <a:avLst/>
            <a:gdLst/>
            <a:ahLst/>
            <a:cxnLst/>
            <a:rect r="r" b="b" t="t" l="l"/>
            <a:pathLst>
              <a:path h="3418570" w="8115300">
                <a:moveTo>
                  <a:pt x="0" y="0"/>
                </a:moveTo>
                <a:lnTo>
                  <a:pt x="8115300" y="0"/>
                </a:lnTo>
                <a:lnTo>
                  <a:pt x="8115300" y="3418570"/>
                </a:lnTo>
                <a:lnTo>
                  <a:pt x="0" y="3418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09744" y="5839730"/>
            <a:ext cx="8906259" cy="3418570"/>
          </a:xfrm>
          <a:custGeom>
            <a:avLst/>
            <a:gdLst/>
            <a:ahLst/>
            <a:cxnLst/>
            <a:rect r="r" b="b" t="t" l="l"/>
            <a:pathLst>
              <a:path h="3418570" w="8906259">
                <a:moveTo>
                  <a:pt x="0" y="0"/>
                </a:moveTo>
                <a:lnTo>
                  <a:pt x="8906259" y="0"/>
                </a:lnTo>
                <a:lnTo>
                  <a:pt x="8906259" y="3418570"/>
                </a:lnTo>
                <a:lnTo>
                  <a:pt x="0" y="341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683" r="-323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49334" y="904875"/>
            <a:ext cx="15589332" cy="116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16"/>
              </a:lnSpc>
              <a:spcBef>
                <a:spcPct val="0"/>
              </a:spcBef>
            </a:pPr>
            <a:r>
              <a:rPr lang="en-US" sz="66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Setting of ‘Brave New World’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9968" y="2397343"/>
            <a:ext cx="14948065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There are two settings which are juxtaposed in the novel.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London in A.F. 632 - a sanitised, civilised, mechanised, futuristic society.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Savage Reservation in New Mexico which is presented as uncivilised and is inhabited by Native Americans specifically the Zuni.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351" y="3202772"/>
            <a:ext cx="12176137" cy="607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430" indent="-371715" lvl="1">
              <a:lnSpc>
                <a:spcPts val="4820"/>
              </a:lnSpc>
              <a:buFont typeface="Arial"/>
              <a:buChar char="•"/>
            </a:pPr>
            <a:r>
              <a:rPr lang="en-US" sz="3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 Assign groups a specific character and/or theme.</a:t>
            </a:r>
          </a:p>
          <a:p>
            <a:pPr algn="l" marL="743430" indent="-371715" lvl="1">
              <a:lnSpc>
                <a:spcPts val="4820"/>
              </a:lnSpc>
              <a:buFont typeface="Arial"/>
              <a:buChar char="•"/>
            </a:pPr>
            <a:r>
              <a:rPr lang="en-US" sz="3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Use a Google Doc/ shared presentation for each group to populate the specific details of that character/theme.</a:t>
            </a:r>
          </a:p>
          <a:p>
            <a:pPr algn="l" marL="743430" indent="-371715" lvl="1">
              <a:lnSpc>
                <a:spcPts val="4820"/>
              </a:lnSpc>
              <a:buFont typeface="Arial"/>
              <a:buChar char="•"/>
            </a:pPr>
            <a:r>
              <a:rPr lang="en-US" sz="3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This enables students to trace the character arc in a way that makes it accessible for them to remember. </a:t>
            </a:r>
          </a:p>
          <a:p>
            <a:pPr algn="l" marL="743430" indent="-371715" lvl="1">
              <a:lnSpc>
                <a:spcPts val="4820"/>
              </a:lnSpc>
              <a:buFont typeface="Arial"/>
              <a:buChar char="•"/>
            </a:pPr>
            <a:r>
              <a:rPr lang="en-US" sz="3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Ensure students underpin their ideas with substantiation and relevant quotations.</a:t>
            </a:r>
          </a:p>
          <a:p>
            <a:pPr algn="l" marL="743430" indent="-371715" lvl="1">
              <a:lnSpc>
                <a:spcPts val="4820"/>
              </a:lnSpc>
              <a:buFont typeface="Arial"/>
              <a:buChar char="•"/>
            </a:pPr>
            <a:r>
              <a:rPr lang="en-US" sz="3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If there is sufficient time, you could put students in different castes and ask them to write hypnopaedic scripts for their predetermined caste.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258683" y="0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080" y="1339208"/>
            <a:ext cx="17505764" cy="107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5"/>
              </a:lnSpc>
            </a:pPr>
            <a:r>
              <a:rPr lang="en-US" sz="7745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Inside ‘Brave New World’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58683" y="0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284296"/>
            <a:ext cx="9531459" cy="7002704"/>
          </a:xfrm>
          <a:custGeom>
            <a:avLst/>
            <a:gdLst/>
            <a:ahLst/>
            <a:cxnLst/>
            <a:rect r="r" b="b" t="t" l="l"/>
            <a:pathLst>
              <a:path h="7002704" w="9531459">
                <a:moveTo>
                  <a:pt x="0" y="0"/>
                </a:moveTo>
                <a:lnTo>
                  <a:pt x="9531459" y="0"/>
                </a:lnTo>
                <a:lnTo>
                  <a:pt x="9531459" y="7002704"/>
                </a:lnTo>
                <a:lnTo>
                  <a:pt x="0" y="7002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080" y="1339208"/>
            <a:ext cx="17505764" cy="107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5"/>
              </a:lnSpc>
            </a:pPr>
            <a:r>
              <a:rPr lang="en-US" sz="7745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Inside ‘Brave New World’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52040" y="5198001"/>
            <a:ext cx="7967550" cy="434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352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To what extent are the psychological needs and the capacity for self-actualisation achieved in ‘Brave New World’ and the impact of this on the society of New London?</a:t>
            </a:r>
          </a:p>
          <a:p>
            <a:pPr algn="ctr">
              <a:lnSpc>
                <a:spcPts val="3541"/>
              </a:lnSpc>
            </a:pPr>
            <a:r>
              <a:rPr lang="en-US" sz="2529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Adapted from Timothy Hui</a:t>
            </a:r>
          </a:p>
          <a:p>
            <a:pPr algn="l">
              <a:lnSpc>
                <a:spcPts val="56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3467" y="5143500"/>
            <a:ext cx="6821066" cy="4544535"/>
          </a:xfrm>
          <a:custGeom>
            <a:avLst/>
            <a:gdLst/>
            <a:ahLst/>
            <a:cxnLst/>
            <a:rect r="r" b="b" t="t" l="l"/>
            <a:pathLst>
              <a:path h="4544535" w="6821066">
                <a:moveTo>
                  <a:pt x="0" y="0"/>
                </a:moveTo>
                <a:lnTo>
                  <a:pt x="6821066" y="0"/>
                </a:lnTo>
                <a:lnTo>
                  <a:pt x="6821066" y="4544535"/>
                </a:lnTo>
                <a:lnTo>
                  <a:pt x="0" y="4544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1351" y="1200150"/>
            <a:ext cx="17228493" cy="121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5"/>
              </a:lnSpc>
            </a:pPr>
            <a:r>
              <a:rPr lang="en-US" sz="8845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Individual vs Community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351" y="3193247"/>
            <a:ext cx="16929880" cy="133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788" indent="-414894" lvl="1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Ensure that students know the characters and can demonstrate the nuances of each character.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9804" y="1200150"/>
            <a:ext cx="15820039" cy="121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5"/>
              </a:lnSpc>
            </a:pPr>
            <a:r>
              <a:rPr lang="en-US" sz="8845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Social Hierarchy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1351" y="3193247"/>
            <a:ext cx="16929880" cy="606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788" indent="-414894" lvl="1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Social hierarchy is a feature of dystopian states.</a:t>
            </a:r>
          </a:p>
          <a:p>
            <a:pPr algn="l" marL="829788" indent="-414894" lvl="1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Current day concern with redressing inequality is absent because the different castes have been bred for a specific purpose.</a:t>
            </a:r>
          </a:p>
          <a:p>
            <a:pPr algn="l" marL="829788" indent="-414894" lvl="1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Citizens accept their caste because it is predetermined by eugenics. </a:t>
            </a:r>
          </a:p>
          <a:p>
            <a:pPr algn="l" marL="829788" indent="-414894" lvl="1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cloning and names distinguishing each caste is juxtaposed to our belief in democracy and equality.</a:t>
            </a:r>
          </a:p>
          <a:p>
            <a:pPr algn="l" marL="829788" indent="-414894" lvl="1">
              <a:lnSpc>
                <a:spcPts val="5380"/>
              </a:lnSpc>
              <a:buFont typeface="Arial"/>
              <a:buChar char="•"/>
            </a:pPr>
            <a:r>
              <a:rPr lang="en-US" sz="38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lowest caste does distinguish between race and consider how when this novel was written may have impacted upon this choice.</a:t>
            </a:r>
          </a:p>
          <a:p>
            <a:pPr algn="l">
              <a:lnSpc>
                <a:spcPts val="538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858076" y="345477"/>
            <a:ext cx="4356438" cy="2750001"/>
          </a:xfrm>
          <a:custGeom>
            <a:avLst/>
            <a:gdLst/>
            <a:ahLst/>
            <a:cxnLst/>
            <a:rect r="r" b="b" t="t" l="l"/>
            <a:pathLst>
              <a:path h="2750001" w="4356438">
                <a:moveTo>
                  <a:pt x="0" y="0"/>
                </a:moveTo>
                <a:lnTo>
                  <a:pt x="4356437" y="0"/>
                </a:lnTo>
                <a:lnTo>
                  <a:pt x="4356437" y="2750001"/>
                </a:lnTo>
                <a:lnTo>
                  <a:pt x="0" y="275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523295" y="565549"/>
            <a:ext cx="4099729" cy="422652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996800">
            <a:off x="15300386" y="4810108"/>
            <a:ext cx="5975228" cy="616002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3903434" y="2678812"/>
            <a:ext cx="1155283" cy="1329300"/>
          </a:xfrm>
          <a:custGeom>
            <a:avLst/>
            <a:gdLst/>
            <a:ahLst/>
            <a:cxnLst/>
            <a:rect r="r" b="b" t="t" l="l"/>
            <a:pathLst>
              <a:path h="1329300" w="1155283">
                <a:moveTo>
                  <a:pt x="0" y="0"/>
                </a:moveTo>
                <a:lnTo>
                  <a:pt x="1155282" y="0"/>
                </a:lnTo>
                <a:lnTo>
                  <a:pt x="1155282" y="1329300"/>
                </a:lnTo>
                <a:lnTo>
                  <a:pt x="0" y="132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48236">
            <a:off x="12823826" y="1708922"/>
            <a:ext cx="1155283" cy="1329300"/>
          </a:xfrm>
          <a:custGeom>
            <a:avLst/>
            <a:gdLst/>
            <a:ahLst/>
            <a:cxnLst/>
            <a:rect r="r" b="b" t="t" l="l"/>
            <a:pathLst>
              <a:path h="1329300" w="1155283">
                <a:moveTo>
                  <a:pt x="0" y="0"/>
                </a:moveTo>
                <a:lnTo>
                  <a:pt x="1155283" y="0"/>
                </a:lnTo>
                <a:lnTo>
                  <a:pt x="1155283" y="1329300"/>
                </a:lnTo>
                <a:lnTo>
                  <a:pt x="0" y="132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7250260"/>
            <a:ext cx="2885497" cy="645302"/>
          </a:xfrm>
          <a:custGeom>
            <a:avLst/>
            <a:gdLst/>
            <a:ahLst/>
            <a:cxnLst/>
            <a:rect r="r" b="b" t="t" l="l"/>
            <a:pathLst>
              <a:path h="645302" w="2885497">
                <a:moveTo>
                  <a:pt x="0" y="0"/>
                </a:moveTo>
                <a:lnTo>
                  <a:pt x="2885497" y="0"/>
                </a:lnTo>
                <a:lnTo>
                  <a:pt x="2885497" y="645302"/>
                </a:lnTo>
                <a:lnTo>
                  <a:pt x="0" y="645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01688">
            <a:off x="16649451" y="9000540"/>
            <a:ext cx="2885497" cy="645302"/>
          </a:xfrm>
          <a:custGeom>
            <a:avLst/>
            <a:gdLst/>
            <a:ahLst/>
            <a:cxnLst/>
            <a:rect r="r" b="b" t="t" l="l"/>
            <a:pathLst>
              <a:path h="645302" w="2885497">
                <a:moveTo>
                  <a:pt x="0" y="0"/>
                </a:moveTo>
                <a:lnTo>
                  <a:pt x="2885497" y="0"/>
                </a:lnTo>
                <a:lnTo>
                  <a:pt x="2885497" y="645302"/>
                </a:lnTo>
                <a:lnTo>
                  <a:pt x="0" y="6453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49451" y="6551291"/>
            <a:ext cx="2189044" cy="429849"/>
          </a:xfrm>
          <a:custGeom>
            <a:avLst/>
            <a:gdLst/>
            <a:ahLst/>
            <a:cxnLst/>
            <a:rect r="r" b="b" t="t" l="l"/>
            <a:pathLst>
              <a:path h="429849" w="2189044">
                <a:moveTo>
                  <a:pt x="0" y="0"/>
                </a:moveTo>
                <a:lnTo>
                  <a:pt x="2189044" y="0"/>
                </a:lnTo>
                <a:lnTo>
                  <a:pt x="2189044" y="429848"/>
                </a:lnTo>
                <a:lnTo>
                  <a:pt x="0" y="429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671625">
            <a:off x="16513004" y="8234703"/>
            <a:ext cx="2189044" cy="429849"/>
          </a:xfrm>
          <a:custGeom>
            <a:avLst/>
            <a:gdLst/>
            <a:ahLst/>
            <a:cxnLst/>
            <a:rect r="r" b="b" t="t" l="l"/>
            <a:pathLst>
              <a:path h="429849" w="2189044">
                <a:moveTo>
                  <a:pt x="0" y="0"/>
                </a:moveTo>
                <a:lnTo>
                  <a:pt x="2189044" y="0"/>
                </a:lnTo>
                <a:lnTo>
                  <a:pt x="2189044" y="429849"/>
                </a:lnTo>
                <a:lnTo>
                  <a:pt x="0" y="429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3159">
            <a:off x="9614862" y="584963"/>
            <a:ext cx="1509784" cy="1328610"/>
          </a:xfrm>
          <a:custGeom>
            <a:avLst/>
            <a:gdLst/>
            <a:ahLst/>
            <a:cxnLst/>
            <a:rect r="r" b="b" t="t" l="l"/>
            <a:pathLst>
              <a:path h="1328610" w="1509784">
                <a:moveTo>
                  <a:pt x="0" y="0"/>
                </a:moveTo>
                <a:lnTo>
                  <a:pt x="1509785" y="0"/>
                </a:lnTo>
                <a:lnTo>
                  <a:pt x="1509785" y="1328611"/>
                </a:lnTo>
                <a:lnTo>
                  <a:pt x="0" y="13286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70550" y="1975456"/>
            <a:ext cx="973423" cy="1627303"/>
          </a:xfrm>
          <a:custGeom>
            <a:avLst/>
            <a:gdLst/>
            <a:ahLst/>
            <a:cxnLst/>
            <a:rect r="r" b="b" t="t" l="l"/>
            <a:pathLst>
              <a:path h="1627303" w="973423">
                <a:moveTo>
                  <a:pt x="0" y="0"/>
                </a:moveTo>
                <a:lnTo>
                  <a:pt x="973423" y="0"/>
                </a:lnTo>
                <a:lnTo>
                  <a:pt x="973423" y="1627303"/>
                </a:lnTo>
                <a:lnTo>
                  <a:pt x="0" y="16273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09601">
            <a:off x="5654821" y="9113832"/>
            <a:ext cx="2639025" cy="686146"/>
          </a:xfrm>
          <a:custGeom>
            <a:avLst/>
            <a:gdLst/>
            <a:ahLst/>
            <a:cxnLst/>
            <a:rect r="r" b="b" t="t" l="l"/>
            <a:pathLst>
              <a:path h="686146" w="2639025">
                <a:moveTo>
                  <a:pt x="0" y="0"/>
                </a:moveTo>
                <a:lnTo>
                  <a:pt x="2639025" y="0"/>
                </a:lnTo>
                <a:lnTo>
                  <a:pt x="2639025" y="686146"/>
                </a:lnTo>
                <a:lnTo>
                  <a:pt x="0" y="686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06001" y="5029927"/>
            <a:ext cx="3397433" cy="4440666"/>
          </a:xfrm>
          <a:custGeom>
            <a:avLst/>
            <a:gdLst/>
            <a:ahLst/>
            <a:cxnLst/>
            <a:rect r="r" b="b" t="t" l="l"/>
            <a:pathLst>
              <a:path h="4440666" w="3397433">
                <a:moveTo>
                  <a:pt x="0" y="0"/>
                </a:moveTo>
                <a:lnTo>
                  <a:pt x="3397433" y="0"/>
                </a:lnTo>
                <a:lnTo>
                  <a:pt x="3397433" y="4440666"/>
                </a:lnTo>
                <a:lnTo>
                  <a:pt x="0" y="44406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16324" y="651274"/>
            <a:ext cx="8327676" cy="1167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4"/>
              </a:lnSpc>
            </a:pPr>
            <a:r>
              <a:rPr lang="en-US" sz="43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Social Engineering in a ‘Brave New World’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2631" y="2223962"/>
            <a:ext cx="8995442" cy="588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Relies on Eugenics.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Babies are created outside the womb in bottles.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Babies are mass produced and this reflects the culture of mass production.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Babies are produced according to the needs of society..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babies have a predestined future and are allocated according to their social caste.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1487" y="2809043"/>
            <a:ext cx="4231431" cy="2683121"/>
          </a:xfrm>
          <a:custGeom>
            <a:avLst/>
            <a:gdLst/>
            <a:ahLst/>
            <a:cxnLst/>
            <a:rect r="r" b="b" t="t" l="l"/>
            <a:pathLst>
              <a:path h="2683121" w="4231431">
                <a:moveTo>
                  <a:pt x="0" y="0"/>
                </a:moveTo>
                <a:lnTo>
                  <a:pt x="4231432" y="0"/>
                </a:lnTo>
                <a:lnTo>
                  <a:pt x="4231432" y="2683121"/>
                </a:lnTo>
                <a:lnTo>
                  <a:pt x="0" y="268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2128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3876" y="377817"/>
            <a:ext cx="7315200" cy="3803904"/>
          </a:xfrm>
          <a:custGeom>
            <a:avLst/>
            <a:gdLst/>
            <a:ahLst/>
            <a:cxnLst/>
            <a:rect r="r" b="b" t="t" l="l"/>
            <a:pathLst>
              <a:path h="3803904" w="7315200">
                <a:moveTo>
                  <a:pt x="0" y="0"/>
                </a:moveTo>
                <a:lnTo>
                  <a:pt x="7315200" y="0"/>
                </a:lnTo>
                <a:lnTo>
                  <a:pt x="7315200" y="3803904"/>
                </a:lnTo>
                <a:lnTo>
                  <a:pt x="0" y="380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21517" y="6447608"/>
            <a:ext cx="3227308" cy="2810692"/>
          </a:xfrm>
          <a:custGeom>
            <a:avLst/>
            <a:gdLst/>
            <a:ahLst/>
            <a:cxnLst/>
            <a:rect r="r" b="b" t="t" l="l"/>
            <a:pathLst>
              <a:path h="2810692" w="3227308">
                <a:moveTo>
                  <a:pt x="0" y="0"/>
                </a:moveTo>
                <a:lnTo>
                  <a:pt x="3227308" y="0"/>
                </a:lnTo>
                <a:lnTo>
                  <a:pt x="3227308" y="2810692"/>
                </a:lnTo>
                <a:lnTo>
                  <a:pt x="0" y="2810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41449" y="7550921"/>
            <a:ext cx="3592821" cy="3240071"/>
          </a:xfrm>
          <a:custGeom>
            <a:avLst/>
            <a:gdLst/>
            <a:ahLst/>
            <a:cxnLst/>
            <a:rect r="r" b="b" t="t" l="l"/>
            <a:pathLst>
              <a:path h="3240071" w="3592821">
                <a:moveTo>
                  <a:pt x="0" y="0"/>
                </a:moveTo>
                <a:lnTo>
                  <a:pt x="3592821" y="0"/>
                </a:lnTo>
                <a:lnTo>
                  <a:pt x="3592821" y="3240071"/>
                </a:lnTo>
                <a:lnTo>
                  <a:pt x="0" y="3240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48825" y="4181721"/>
            <a:ext cx="3742217" cy="5524873"/>
          </a:xfrm>
          <a:custGeom>
            <a:avLst/>
            <a:gdLst/>
            <a:ahLst/>
            <a:cxnLst/>
            <a:rect r="r" b="b" t="t" l="l"/>
            <a:pathLst>
              <a:path h="5524873" w="3742217">
                <a:moveTo>
                  <a:pt x="0" y="0"/>
                </a:moveTo>
                <a:lnTo>
                  <a:pt x="3742217" y="0"/>
                </a:lnTo>
                <a:lnTo>
                  <a:pt x="3742217" y="5524873"/>
                </a:lnTo>
                <a:lnTo>
                  <a:pt x="0" y="5524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9964" y="1143000"/>
            <a:ext cx="11997743" cy="82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4"/>
              </a:lnSpc>
            </a:pPr>
            <a:r>
              <a:rPr lang="en-US" sz="59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Role of the Family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55124"/>
            <a:ext cx="9718069" cy="52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As a consequence of genetic engineering, the family unit has broken down completely.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Community has replaced the nuclear family.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thought of physically birthing a baby is repulsive and cannot be contemplated in this sanitised society.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word, ‘mother’ has been outlawed.</a:t>
            </a:r>
          </a:p>
          <a:p>
            <a:pPr algn="l" marL="710869" indent="-355434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Emotional attachments threaten the stability and order of society.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71487" y="2809043"/>
            <a:ext cx="4231431" cy="2683121"/>
          </a:xfrm>
          <a:custGeom>
            <a:avLst/>
            <a:gdLst/>
            <a:ahLst/>
            <a:cxnLst/>
            <a:rect r="r" b="b" t="t" l="l"/>
            <a:pathLst>
              <a:path h="2683121" w="4231431">
                <a:moveTo>
                  <a:pt x="0" y="0"/>
                </a:moveTo>
                <a:lnTo>
                  <a:pt x="4231432" y="0"/>
                </a:lnTo>
                <a:lnTo>
                  <a:pt x="4231432" y="2683121"/>
                </a:lnTo>
                <a:lnTo>
                  <a:pt x="0" y="268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2128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3876" y="377817"/>
            <a:ext cx="7315200" cy="3803904"/>
          </a:xfrm>
          <a:custGeom>
            <a:avLst/>
            <a:gdLst/>
            <a:ahLst/>
            <a:cxnLst/>
            <a:rect r="r" b="b" t="t" l="l"/>
            <a:pathLst>
              <a:path h="3803904" w="7315200">
                <a:moveTo>
                  <a:pt x="0" y="0"/>
                </a:moveTo>
                <a:lnTo>
                  <a:pt x="7315200" y="0"/>
                </a:lnTo>
                <a:lnTo>
                  <a:pt x="7315200" y="3803904"/>
                </a:lnTo>
                <a:lnTo>
                  <a:pt x="0" y="3803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1449" y="7550921"/>
            <a:ext cx="3592821" cy="3240071"/>
          </a:xfrm>
          <a:custGeom>
            <a:avLst/>
            <a:gdLst/>
            <a:ahLst/>
            <a:cxnLst/>
            <a:rect r="r" b="b" t="t" l="l"/>
            <a:pathLst>
              <a:path h="3240071" w="3592821">
                <a:moveTo>
                  <a:pt x="0" y="0"/>
                </a:moveTo>
                <a:lnTo>
                  <a:pt x="3592821" y="0"/>
                </a:lnTo>
                <a:lnTo>
                  <a:pt x="3592821" y="3240071"/>
                </a:lnTo>
                <a:lnTo>
                  <a:pt x="0" y="32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9964" y="2283652"/>
            <a:ext cx="11523912" cy="627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 order to ensure a society of passive beings, social conditioning takes place.</a:t>
            </a:r>
          </a:p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Neo-Pavlovian conditioning occurs where babies are given an electric shock to ensure they hate books and flowers.</a:t>
            </a:r>
          </a:p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Hypnopaedia is used to inculcate ideas in children while they sleep such as Elementary Sex and Elementary Class Consciousness.</a:t>
            </a:r>
          </a:p>
          <a:p>
            <a:pPr algn="l" marL="769702" indent="-384851" lvl="1">
              <a:lnSpc>
                <a:spcPts val="4991"/>
              </a:lnSpc>
              <a:buFont typeface="Arial"/>
              <a:buChar char="•"/>
            </a:pPr>
            <a:r>
              <a:rPr lang="en-US" sz="35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success lies in the repetition of statements which are presented as indisputable 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183876" y="5492164"/>
            <a:ext cx="4601593" cy="3258544"/>
          </a:xfrm>
          <a:custGeom>
            <a:avLst/>
            <a:gdLst/>
            <a:ahLst/>
            <a:cxnLst/>
            <a:rect r="r" b="b" t="t" l="l"/>
            <a:pathLst>
              <a:path h="3258544" w="4601593">
                <a:moveTo>
                  <a:pt x="0" y="0"/>
                </a:moveTo>
                <a:lnTo>
                  <a:pt x="4601593" y="0"/>
                </a:lnTo>
                <a:lnTo>
                  <a:pt x="4601593" y="3258544"/>
                </a:lnTo>
                <a:lnTo>
                  <a:pt x="0" y="32585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9964" y="859170"/>
            <a:ext cx="11997743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Social Conditioning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41391"/>
            <a:ext cx="10764748" cy="718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motto of this society is ‘Community. Identity. Stability.’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Contentment ensures a stable society.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Licentious sexual behaviour is not just encouraged but enforced.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Erotic play is enocuraged from a  very young age is encouraged.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Children run naked in the garden and engage in ‘rudimentary sexual game[s].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 child who is unwilling to participate is perceived as abnormal.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People ar encouraged to have multiple sexual partners because ‘Everyone belongs to everyone else’.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People who see the same person repeatedly are judged  for becoming involved in ‘anything intense or long-drawn’.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998917" y="2202731"/>
            <a:ext cx="5260383" cy="6356958"/>
          </a:xfrm>
          <a:custGeom>
            <a:avLst/>
            <a:gdLst/>
            <a:ahLst/>
            <a:cxnLst/>
            <a:rect r="r" b="b" t="t" l="l"/>
            <a:pathLst>
              <a:path h="6356958" w="5260383">
                <a:moveTo>
                  <a:pt x="0" y="0"/>
                </a:moveTo>
                <a:lnTo>
                  <a:pt x="5260383" y="0"/>
                </a:lnTo>
                <a:lnTo>
                  <a:pt x="526038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99400" y="440430"/>
            <a:ext cx="13089200" cy="106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6"/>
              </a:lnSpc>
              <a:spcBef>
                <a:spcPct val="0"/>
              </a:spcBef>
            </a:pPr>
            <a:r>
              <a:rPr lang="en-US" sz="60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Promiscuous Behaviour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89339" y="2573528"/>
            <a:ext cx="4995985" cy="6158379"/>
          </a:xfrm>
          <a:custGeom>
            <a:avLst/>
            <a:gdLst/>
            <a:ahLst/>
            <a:cxnLst/>
            <a:rect r="r" b="b" t="t" l="l"/>
            <a:pathLst>
              <a:path h="6158379" w="4995985">
                <a:moveTo>
                  <a:pt x="0" y="0"/>
                </a:moveTo>
                <a:lnTo>
                  <a:pt x="4995985" y="0"/>
                </a:lnTo>
                <a:lnTo>
                  <a:pt x="4995985" y="6158379"/>
                </a:lnTo>
                <a:lnTo>
                  <a:pt x="0" y="6158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0106" y="904875"/>
            <a:ext cx="14595218" cy="117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6"/>
              </a:lnSpc>
              <a:spcBef>
                <a:spcPct val="0"/>
              </a:spcBef>
            </a:pPr>
            <a:r>
              <a:rPr lang="en-US" sz="67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Mass Production and Consumerism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2588" y="2506853"/>
            <a:ext cx="8276884" cy="622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6139" indent="-423070" lvl="1">
              <a:lnSpc>
                <a:spcPts val="5486"/>
              </a:lnSpc>
              <a:buFont typeface="Arial"/>
              <a:buChar char="•"/>
            </a:pPr>
            <a:r>
              <a:rPr lang="en-US" sz="39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It is a society in which consumerism drives mass production.</a:t>
            </a:r>
          </a:p>
          <a:p>
            <a:pPr algn="l" marL="846139" indent="-423070" lvl="1">
              <a:lnSpc>
                <a:spcPts val="5486"/>
              </a:lnSpc>
              <a:buFont typeface="Arial"/>
              <a:buChar char="•"/>
            </a:pPr>
            <a:r>
              <a:rPr lang="en-US" sz="39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Clothes are not repaired because ‘Ending is better than Mending’.</a:t>
            </a:r>
          </a:p>
          <a:p>
            <a:pPr algn="l" marL="846139" indent="-423070" lvl="1">
              <a:lnSpc>
                <a:spcPts val="5486"/>
              </a:lnSpc>
              <a:buFont typeface="Arial"/>
              <a:buChar char="•"/>
            </a:pPr>
            <a:r>
              <a:rPr lang="en-US" sz="39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Games are devised to ensure that maximum equipment is needed.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0854" y="-1281733"/>
            <a:ext cx="7101304" cy="12286673"/>
            <a:chOff x="0" y="0"/>
            <a:chExt cx="9468405" cy="1638223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0" r="0" b="0"/>
            <a:stretch>
              <a:fillRect/>
            </a:stretch>
          </p:blipFill>
          <p:spPr>
            <a:xfrm flipH="false" flipV="false" rot="0">
              <a:off x="16512" y="3622535"/>
              <a:ext cx="4063558" cy="9143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0" r="0" b="0"/>
            <a:stretch>
              <a:fillRect/>
            </a:stretch>
          </p:blipFill>
          <p:spPr>
            <a:xfrm flipH="false" flipV="false" rot="0">
              <a:off x="453945" y="7026561"/>
              <a:ext cx="3994922" cy="825148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0" t="0" r="0" b="0"/>
            <a:stretch>
              <a:fillRect/>
            </a:stretch>
          </p:blipFill>
          <p:spPr>
            <a:xfrm flipH="false" flipV="false" rot="0">
              <a:off x="306420" y="8530322"/>
              <a:ext cx="3773650" cy="2619784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0" r="0" b="0"/>
            <a:stretch>
              <a:fillRect/>
            </a:stretch>
          </p:blipFill>
          <p:spPr>
            <a:xfrm flipH="false" flipV="false" rot="-429311">
              <a:off x="16512" y="12033925"/>
              <a:ext cx="4612860" cy="553543"/>
            </a:xfrm>
            <a:prstGeom prst="rect">
              <a:avLst/>
            </a:prstGeom>
          </p:spPr>
        </p:pic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6"/>
            <a:srcRect l="0" t="0" r="0" b="0"/>
            <a:stretch>
              <a:fillRect/>
            </a:stretch>
          </p:blipFill>
          <p:spPr>
            <a:xfrm flipH="false" flipV="false" rot="0">
              <a:off x="5208308" y="3731324"/>
              <a:ext cx="3470846" cy="1318921"/>
            </a:xfrm>
            <a:prstGeom prst="rect">
              <a:avLst/>
            </a:prstGeom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7"/>
            <a:srcRect l="0" t="0" r="0" b="0"/>
            <a:stretch>
              <a:fillRect/>
            </a:stretch>
          </p:blipFill>
          <p:spPr>
            <a:xfrm flipH="false" flipV="false" rot="0">
              <a:off x="5056601" y="5790471"/>
              <a:ext cx="4165084" cy="1124573"/>
            </a:xfrm>
            <a:prstGeom prst="rect">
              <a:avLst/>
            </a:prstGeom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8"/>
            <a:srcRect l="0" t="0" r="0" b="0"/>
            <a:stretch>
              <a:fillRect/>
            </a:stretch>
          </p:blipFill>
          <p:spPr>
            <a:xfrm flipH="false" flipV="false" rot="0">
              <a:off x="5373647" y="7499658"/>
              <a:ext cx="3305507" cy="363606"/>
            </a:xfrm>
            <a:prstGeom prst="rect">
              <a:avLst/>
            </a:prstGeom>
          </p:spPr>
        </p:pic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9"/>
            <a:srcRect l="0" t="0" r="0" b="0"/>
            <a:stretch>
              <a:fillRect/>
            </a:stretch>
          </p:blipFill>
          <p:spPr>
            <a:xfrm flipH="false" flipV="false" rot="0">
              <a:off x="4194620" y="8541877"/>
              <a:ext cx="4679962" cy="1006192"/>
            </a:xfrm>
            <a:prstGeom prst="rect">
              <a:avLst/>
            </a:prstGeom>
          </p:spPr>
        </p:pic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10"/>
            <a:srcRect l="0" t="0" r="0" b="0"/>
            <a:stretch>
              <a:fillRect/>
            </a:stretch>
          </p:blipFill>
          <p:spPr>
            <a:xfrm flipH="false" flipV="false" rot="0">
              <a:off x="5315279" y="13066658"/>
              <a:ext cx="3422241" cy="718671"/>
            </a:xfrm>
            <a:prstGeom prst="rect">
              <a:avLst/>
            </a:prstGeom>
          </p:spPr>
        </p:pic>
        <p:sp>
          <p:nvSpPr>
            <p:cNvPr name="Freeform 12" id="12"/>
            <p:cNvSpPr/>
            <p:nvPr/>
          </p:nvSpPr>
          <p:spPr>
            <a:xfrm flipH="false" flipV="false" rot="-5400000">
              <a:off x="6151885" y="10057087"/>
              <a:ext cx="1749031" cy="2923912"/>
            </a:xfrm>
            <a:custGeom>
              <a:avLst/>
              <a:gdLst/>
              <a:ahLst/>
              <a:cxnLst/>
              <a:rect r="r" b="b" t="t" l="l"/>
              <a:pathLst>
                <a:path h="2923912" w="1749031">
                  <a:moveTo>
                    <a:pt x="0" y="0"/>
                  </a:moveTo>
                  <a:lnTo>
                    <a:pt x="1749031" y="0"/>
                  </a:lnTo>
                  <a:lnTo>
                    <a:pt x="1749031" y="2923912"/>
                  </a:lnTo>
                  <a:lnTo>
                    <a:pt x="0" y="2923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1968484">
              <a:off x="844088" y="12794086"/>
              <a:ext cx="2698314" cy="3104754"/>
            </a:xfrm>
            <a:custGeom>
              <a:avLst/>
              <a:gdLst/>
              <a:ahLst/>
              <a:cxnLst/>
              <a:rect r="r" b="b" t="t" l="l"/>
              <a:pathLst>
                <a:path h="3104754" w="2698314">
                  <a:moveTo>
                    <a:pt x="0" y="0"/>
                  </a:moveTo>
                  <a:lnTo>
                    <a:pt x="2698314" y="0"/>
                  </a:lnTo>
                  <a:lnTo>
                    <a:pt x="2698314" y="3104754"/>
                  </a:lnTo>
                  <a:lnTo>
                    <a:pt x="0" y="310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671625">
              <a:off x="407801" y="5203932"/>
              <a:ext cx="3774300" cy="741135"/>
            </a:xfrm>
            <a:custGeom>
              <a:avLst/>
              <a:gdLst/>
              <a:ahLst/>
              <a:cxnLst/>
              <a:rect r="r" b="b" t="t" l="l"/>
              <a:pathLst>
                <a:path h="741135" w="3774300">
                  <a:moveTo>
                    <a:pt x="0" y="0"/>
                  </a:moveTo>
                  <a:lnTo>
                    <a:pt x="3774300" y="0"/>
                  </a:lnTo>
                  <a:lnTo>
                    <a:pt x="3774300" y="741135"/>
                  </a:lnTo>
                  <a:lnTo>
                    <a:pt x="0" y="741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293159">
              <a:off x="493036" y="941016"/>
              <a:ext cx="2741358" cy="2412395"/>
            </a:xfrm>
            <a:custGeom>
              <a:avLst/>
              <a:gdLst/>
              <a:ahLst/>
              <a:cxnLst/>
              <a:rect r="r" b="b" t="t" l="l"/>
              <a:pathLst>
                <a:path h="2412395" w="2741358">
                  <a:moveTo>
                    <a:pt x="0" y="0"/>
                  </a:moveTo>
                  <a:lnTo>
                    <a:pt x="2741359" y="0"/>
                  </a:lnTo>
                  <a:lnTo>
                    <a:pt x="2741359" y="2412395"/>
                  </a:lnTo>
                  <a:lnTo>
                    <a:pt x="0" y="2412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409601">
              <a:off x="5663955" y="14649769"/>
              <a:ext cx="3759681" cy="977517"/>
            </a:xfrm>
            <a:custGeom>
              <a:avLst/>
              <a:gdLst/>
              <a:ahLst/>
              <a:cxnLst/>
              <a:rect r="r" b="b" t="t" l="l"/>
              <a:pathLst>
                <a:path h="977517" w="3759681">
                  <a:moveTo>
                    <a:pt x="0" y="0"/>
                  </a:moveTo>
                  <a:lnTo>
                    <a:pt x="3759681" y="0"/>
                  </a:lnTo>
                  <a:lnTo>
                    <a:pt x="3759681" y="977517"/>
                  </a:lnTo>
                  <a:lnTo>
                    <a:pt x="0" y="977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619186" y="0"/>
              <a:ext cx="2869171" cy="3058224"/>
            </a:xfrm>
            <a:custGeom>
              <a:avLst/>
              <a:gdLst/>
              <a:ahLst/>
              <a:cxnLst/>
              <a:rect r="r" b="b" t="t" l="l"/>
              <a:pathLst>
                <a:path h="3058224" w="2869171">
                  <a:moveTo>
                    <a:pt x="0" y="0"/>
                  </a:moveTo>
                  <a:lnTo>
                    <a:pt x="2869170" y="0"/>
                  </a:lnTo>
                  <a:lnTo>
                    <a:pt x="2869170" y="3058224"/>
                  </a:lnTo>
                  <a:lnTo>
                    <a:pt x="0" y="3058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3019360" y="6333039"/>
            <a:ext cx="4676949" cy="3303096"/>
          </a:xfrm>
          <a:custGeom>
            <a:avLst/>
            <a:gdLst/>
            <a:ahLst/>
            <a:cxnLst/>
            <a:rect r="r" b="b" t="t" l="l"/>
            <a:pathLst>
              <a:path h="3303096" w="4676949">
                <a:moveTo>
                  <a:pt x="0" y="0"/>
                </a:moveTo>
                <a:lnTo>
                  <a:pt x="4676950" y="0"/>
                </a:lnTo>
                <a:lnTo>
                  <a:pt x="4676950" y="3303096"/>
                </a:lnTo>
                <a:lnTo>
                  <a:pt x="0" y="330309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92301" y="654674"/>
            <a:ext cx="8597617" cy="83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sz="60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Soma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2776" y="1701557"/>
            <a:ext cx="10040538" cy="409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World State encourages its citizens to take Soma as a way of maintaining social control and regulating emotions.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Soma provides an escape mechanism from any feeling that is discomforting since ‘when the individual feels, the community reels’.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It enables people to maintain a blissful existence as ‘a gram os better than a damn’.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totalitarian state uses Soma to suppress authentic emotion so they can maintain control.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209435" y="-1437417"/>
            <a:ext cx="4099729" cy="422652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5996800">
            <a:off x="15300386" y="4810108"/>
            <a:ext cx="5975228" cy="616002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7259300" y="7250260"/>
            <a:ext cx="2885497" cy="645302"/>
          </a:xfrm>
          <a:custGeom>
            <a:avLst/>
            <a:gdLst/>
            <a:ahLst/>
            <a:cxnLst/>
            <a:rect r="r" b="b" t="t" l="l"/>
            <a:pathLst>
              <a:path h="645302" w="2885497">
                <a:moveTo>
                  <a:pt x="0" y="0"/>
                </a:moveTo>
                <a:lnTo>
                  <a:pt x="2885497" y="0"/>
                </a:lnTo>
                <a:lnTo>
                  <a:pt x="2885497" y="645302"/>
                </a:lnTo>
                <a:lnTo>
                  <a:pt x="0" y="645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701688">
            <a:off x="16649451" y="9000540"/>
            <a:ext cx="2885497" cy="645302"/>
          </a:xfrm>
          <a:custGeom>
            <a:avLst/>
            <a:gdLst/>
            <a:ahLst/>
            <a:cxnLst/>
            <a:rect r="r" b="b" t="t" l="l"/>
            <a:pathLst>
              <a:path h="645302" w="2885497">
                <a:moveTo>
                  <a:pt x="0" y="0"/>
                </a:moveTo>
                <a:lnTo>
                  <a:pt x="2885497" y="0"/>
                </a:lnTo>
                <a:lnTo>
                  <a:pt x="2885497" y="645302"/>
                </a:lnTo>
                <a:lnTo>
                  <a:pt x="0" y="645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49451" y="6551291"/>
            <a:ext cx="2189044" cy="429849"/>
          </a:xfrm>
          <a:custGeom>
            <a:avLst/>
            <a:gdLst/>
            <a:ahLst/>
            <a:cxnLst/>
            <a:rect r="r" b="b" t="t" l="l"/>
            <a:pathLst>
              <a:path h="429849" w="2189044">
                <a:moveTo>
                  <a:pt x="0" y="0"/>
                </a:moveTo>
                <a:lnTo>
                  <a:pt x="2189044" y="0"/>
                </a:lnTo>
                <a:lnTo>
                  <a:pt x="2189044" y="429848"/>
                </a:lnTo>
                <a:lnTo>
                  <a:pt x="0" y="429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671625">
            <a:off x="16513004" y="8234703"/>
            <a:ext cx="2189044" cy="429849"/>
          </a:xfrm>
          <a:custGeom>
            <a:avLst/>
            <a:gdLst/>
            <a:ahLst/>
            <a:cxnLst/>
            <a:rect r="r" b="b" t="t" l="l"/>
            <a:pathLst>
              <a:path h="429849" w="2189044">
                <a:moveTo>
                  <a:pt x="0" y="0"/>
                </a:moveTo>
                <a:lnTo>
                  <a:pt x="2189044" y="0"/>
                </a:lnTo>
                <a:lnTo>
                  <a:pt x="2189044" y="429849"/>
                </a:lnTo>
                <a:lnTo>
                  <a:pt x="0" y="4298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93159">
            <a:off x="9614862" y="584963"/>
            <a:ext cx="1509784" cy="1328610"/>
          </a:xfrm>
          <a:custGeom>
            <a:avLst/>
            <a:gdLst/>
            <a:ahLst/>
            <a:cxnLst/>
            <a:rect r="r" b="b" t="t" l="l"/>
            <a:pathLst>
              <a:path h="1328610" w="1509784">
                <a:moveTo>
                  <a:pt x="0" y="0"/>
                </a:moveTo>
                <a:lnTo>
                  <a:pt x="1509785" y="0"/>
                </a:lnTo>
                <a:lnTo>
                  <a:pt x="1509785" y="1328611"/>
                </a:lnTo>
                <a:lnTo>
                  <a:pt x="0" y="1328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72588" y="215049"/>
            <a:ext cx="973423" cy="1627303"/>
          </a:xfrm>
          <a:custGeom>
            <a:avLst/>
            <a:gdLst/>
            <a:ahLst/>
            <a:cxnLst/>
            <a:rect r="r" b="b" t="t" l="l"/>
            <a:pathLst>
              <a:path h="1627303" w="973423">
                <a:moveTo>
                  <a:pt x="0" y="0"/>
                </a:moveTo>
                <a:lnTo>
                  <a:pt x="973424" y="0"/>
                </a:lnTo>
                <a:lnTo>
                  <a:pt x="973424" y="1627302"/>
                </a:lnTo>
                <a:lnTo>
                  <a:pt x="0" y="16273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2631" y="3045964"/>
            <a:ext cx="9824117" cy="647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Traditional religion and worship has been replaced by the worship of ‘Our Ford’.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His intention was not to be blasphemous but to provide a warning of the consequences of mass production and consumerism.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subversion of Christian religious iconography highlights the slavish devotion of Consumerism.</a:t>
            </a:r>
          </a:p>
          <a:p>
            <a:pPr algn="l" marL="726523" indent="-363262" lvl="1">
              <a:lnSpc>
                <a:spcPts val="4711"/>
              </a:lnSpc>
              <a:buFont typeface="Arial"/>
              <a:buChar char="•"/>
            </a:pPr>
            <a:r>
              <a:rPr lang="en-US" sz="3365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rituals associated with the Solidarity Service ensure a contented community.</a:t>
            </a:r>
          </a:p>
          <a:p>
            <a:pPr algn="l">
              <a:lnSpc>
                <a:spcPts val="4711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78485" y="3334829"/>
            <a:ext cx="4007264" cy="5114799"/>
          </a:xfrm>
          <a:custGeom>
            <a:avLst/>
            <a:gdLst/>
            <a:ahLst/>
            <a:cxnLst/>
            <a:rect r="r" b="b" t="t" l="l"/>
            <a:pathLst>
              <a:path h="5114799" w="4007264">
                <a:moveTo>
                  <a:pt x="0" y="0"/>
                </a:moveTo>
                <a:lnTo>
                  <a:pt x="4007263" y="0"/>
                </a:lnTo>
                <a:lnTo>
                  <a:pt x="4007263" y="5114799"/>
                </a:lnTo>
                <a:lnTo>
                  <a:pt x="0" y="51147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03334" y="745753"/>
            <a:ext cx="8323914" cy="193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48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The Gospel of Consumption: Religion and Consumerism in Huxley's World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5698" y="2894825"/>
            <a:ext cx="6120621" cy="6120621"/>
          </a:xfrm>
          <a:custGeom>
            <a:avLst/>
            <a:gdLst/>
            <a:ahLst/>
            <a:cxnLst/>
            <a:rect r="r" b="b" t="t" l="l"/>
            <a:pathLst>
              <a:path h="6120621" w="6120621">
                <a:moveTo>
                  <a:pt x="0" y="0"/>
                </a:moveTo>
                <a:lnTo>
                  <a:pt x="6120621" y="0"/>
                </a:lnTo>
                <a:lnTo>
                  <a:pt x="6120621" y="6120620"/>
                </a:lnTo>
                <a:lnTo>
                  <a:pt x="0" y="6120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3980" y="1519203"/>
            <a:ext cx="16589312" cy="83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6046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Technological Innovation in a ‘Brave New World’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9060" y="2809100"/>
            <a:ext cx="9336638" cy="387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9325" indent="-479662" lvl="1">
              <a:lnSpc>
                <a:spcPts val="62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Genetic engineering </a:t>
            </a:r>
          </a:p>
          <a:p>
            <a:pPr algn="l" marL="959325" indent="-479662" lvl="1">
              <a:lnSpc>
                <a:spcPts val="62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Private helicopters</a:t>
            </a:r>
          </a:p>
          <a:p>
            <a:pPr algn="l" marL="959325" indent="-479662" lvl="1">
              <a:lnSpc>
                <a:spcPts val="62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Synthetic music</a:t>
            </a:r>
          </a:p>
          <a:p>
            <a:pPr algn="l" marL="959325" indent="-479662" lvl="1">
              <a:lnSpc>
                <a:spcPts val="6220"/>
              </a:lnSpc>
              <a:buFont typeface="Arial"/>
              <a:buChar char="•"/>
            </a:pPr>
            <a:r>
              <a:rPr lang="en-US" sz="444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Rockets that have replaced aeroplanes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9968" y="7149259"/>
            <a:ext cx="4428845" cy="1643244"/>
          </a:xfrm>
          <a:custGeom>
            <a:avLst/>
            <a:gdLst/>
            <a:ahLst/>
            <a:cxnLst/>
            <a:rect r="r" b="b" t="t" l="l"/>
            <a:pathLst>
              <a:path h="1643244" w="4428845">
                <a:moveTo>
                  <a:pt x="0" y="0"/>
                </a:moveTo>
                <a:lnTo>
                  <a:pt x="4428845" y="0"/>
                </a:lnTo>
                <a:lnTo>
                  <a:pt x="4428845" y="1643244"/>
                </a:lnTo>
                <a:lnTo>
                  <a:pt x="0" y="164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040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9577" y="7149259"/>
            <a:ext cx="4428845" cy="1643244"/>
          </a:xfrm>
          <a:custGeom>
            <a:avLst/>
            <a:gdLst/>
            <a:ahLst/>
            <a:cxnLst/>
            <a:rect r="r" b="b" t="t" l="l"/>
            <a:pathLst>
              <a:path h="1643244" w="4428845">
                <a:moveTo>
                  <a:pt x="0" y="0"/>
                </a:moveTo>
                <a:lnTo>
                  <a:pt x="4428846" y="0"/>
                </a:lnTo>
                <a:lnTo>
                  <a:pt x="4428846" y="1643244"/>
                </a:lnTo>
                <a:lnTo>
                  <a:pt x="0" y="164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040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25362" y="7149259"/>
            <a:ext cx="4428845" cy="1643244"/>
          </a:xfrm>
          <a:custGeom>
            <a:avLst/>
            <a:gdLst/>
            <a:ahLst/>
            <a:cxnLst/>
            <a:rect r="r" b="b" t="t" l="l"/>
            <a:pathLst>
              <a:path h="1643244" w="4428845">
                <a:moveTo>
                  <a:pt x="0" y="0"/>
                </a:moveTo>
                <a:lnTo>
                  <a:pt x="4428845" y="0"/>
                </a:lnTo>
                <a:lnTo>
                  <a:pt x="4428845" y="1643244"/>
                </a:lnTo>
                <a:lnTo>
                  <a:pt x="0" y="164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50407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41626" y="6970671"/>
            <a:ext cx="642764" cy="685117"/>
          </a:xfrm>
          <a:custGeom>
            <a:avLst/>
            <a:gdLst/>
            <a:ahLst/>
            <a:cxnLst/>
            <a:rect r="r" b="b" t="t" l="l"/>
            <a:pathLst>
              <a:path h="685117" w="642764">
                <a:moveTo>
                  <a:pt x="0" y="0"/>
                </a:moveTo>
                <a:lnTo>
                  <a:pt x="642764" y="0"/>
                </a:lnTo>
                <a:lnTo>
                  <a:pt x="642764" y="685117"/>
                </a:lnTo>
                <a:lnTo>
                  <a:pt x="0" y="685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196030">
            <a:off x="2453492" y="6628112"/>
            <a:ext cx="642764" cy="685117"/>
          </a:xfrm>
          <a:custGeom>
            <a:avLst/>
            <a:gdLst/>
            <a:ahLst/>
            <a:cxnLst/>
            <a:rect r="r" b="b" t="t" l="l"/>
            <a:pathLst>
              <a:path h="685117" w="642764">
                <a:moveTo>
                  <a:pt x="0" y="0"/>
                </a:moveTo>
                <a:lnTo>
                  <a:pt x="642765" y="0"/>
                </a:lnTo>
                <a:lnTo>
                  <a:pt x="642765" y="685117"/>
                </a:lnTo>
                <a:lnTo>
                  <a:pt x="0" y="685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98794">
            <a:off x="2453492" y="7553003"/>
            <a:ext cx="642764" cy="685117"/>
          </a:xfrm>
          <a:custGeom>
            <a:avLst/>
            <a:gdLst/>
            <a:ahLst/>
            <a:cxnLst/>
            <a:rect r="r" b="b" t="t" l="l"/>
            <a:pathLst>
              <a:path h="685117" w="642764">
                <a:moveTo>
                  <a:pt x="0" y="0"/>
                </a:moveTo>
                <a:lnTo>
                  <a:pt x="642765" y="0"/>
                </a:lnTo>
                <a:lnTo>
                  <a:pt x="642765" y="685117"/>
                </a:lnTo>
                <a:lnTo>
                  <a:pt x="0" y="685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44972" y="6258372"/>
            <a:ext cx="774261" cy="890886"/>
          </a:xfrm>
          <a:custGeom>
            <a:avLst/>
            <a:gdLst/>
            <a:ahLst/>
            <a:cxnLst/>
            <a:rect r="r" b="b" t="t" l="l"/>
            <a:pathLst>
              <a:path h="890886" w="774261">
                <a:moveTo>
                  <a:pt x="0" y="0"/>
                </a:moveTo>
                <a:lnTo>
                  <a:pt x="774261" y="0"/>
                </a:lnTo>
                <a:lnTo>
                  <a:pt x="774261" y="890887"/>
                </a:lnTo>
                <a:lnTo>
                  <a:pt x="0" y="89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448236">
            <a:off x="9021428" y="5608360"/>
            <a:ext cx="774261" cy="890886"/>
          </a:xfrm>
          <a:custGeom>
            <a:avLst/>
            <a:gdLst/>
            <a:ahLst/>
            <a:cxnLst/>
            <a:rect r="r" b="b" t="t" l="l"/>
            <a:pathLst>
              <a:path h="890886" w="774261">
                <a:moveTo>
                  <a:pt x="0" y="0"/>
                </a:moveTo>
                <a:lnTo>
                  <a:pt x="774261" y="0"/>
                </a:lnTo>
                <a:lnTo>
                  <a:pt x="774261" y="890886"/>
                </a:lnTo>
                <a:lnTo>
                  <a:pt x="0" y="890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78930" y="6953849"/>
            <a:ext cx="1360854" cy="304337"/>
          </a:xfrm>
          <a:custGeom>
            <a:avLst/>
            <a:gdLst/>
            <a:ahLst/>
            <a:cxnLst/>
            <a:rect r="r" b="b" t="t" l="l"/>
            <a:pathLst>
              <a:path h="304337" w="1360854">
                <a:moveTo>
                  <a:pt x="0" y="0"/>
                </a:moveTo>
                <a:lnTo>
                  <a:pt x="1360855" y="0"/>
                </a:lnTo>
                <a:lnTo>
                  <a:pt x="1360855" y="304337"/>
                </a:lnTo>
                <a:lnTo>
                  <a:pt x="0" y="304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701688">
            <a:off x="12991314" y="7779314"/>
            <a:ext cx="1360854" cy="304337"/>
          </a:xfrm>
          <a:custGeom>
            <a:avLst/>
            <a:gdLst/>
            <a:ahLst/>
            <a:cxnLst/>
            <a:rect r="r" b="b" t="t" l="l"/>
            <a:pathLst>
              <a:path h="304337" w="1360854">
                <a:moveTo>
                  <a:pt x="0" y="0"/>
                </a:moveTo>
                <a:lnTo>
                  <a:pt x="1360854" y="0"/>
                </a:lnTo>
                <a:lnTo>
                  <a:pt x="1360854" y="304337"/>
                </a:lnTo>
                <a:lnTo>
                  <a:pt x="0" y="304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91314" y="6624202"/>
            <a:ext cx="1032394" cy="202725"/>
          </a:xfrm>
          <a:custGeom>
            <a:avLst/>
            <a:gdLst/>
            <a:ahLst/>
            <a:cxnLst/>
            <a:rect r="r" b="b" t="t" l="l"/>
            <a:pathLst>
              <a:path h="202725" w="1032394">
                <a:moveTo>
                  <a:pt x="0" y="0"/>
                </a:moveTo>
                <a:lnTo>
                  <a:pt x="1032394" y="0"/>
                </a:lnTo>
                <a:lnTo>
                  <a:pt x="1032394" y="202725"/>
                </a:lnTo>
                <a:lnTo>
                  <a:pt x="0" y="20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671625">
            <a:off x="12926963" y="7418131"/>
            <a:ext cx="1032394" cy="202725"/>
          </a:xfrm>
          <a:custGeom>
            <a:avLst/>
            <a:gdLst/>
            <a:ahLst/>
            <a:cxnLst/>
            <a:rect r="r" b="b" t="t" l="l"/>
            <a:pathLst>
              <a:path h="202725" w="1032394">
                <a:moveTo>
                  <a:pt x="0" y="0"/>
                </a:moveTo>
                <a:lnTo>
                  <a:pt x="1032395" y="0"/>
                </a:lnTo>
                <a:lnTo>
                  <a:pt x="1032395" y="202725"/>
                </a:lnTo>
                <a:lnTo>
                  <a:pt x="0" y="202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6233120">
            <a:off x="14673786" y="6559899"/>
            <a:ext cx="1556295" cy="1092236"/>
          </a:xfrm>
          <a:custGeom>
            <a:avLst/>
            <a:gdLst/>
            <a:ahLst/>
            <a:cxnLst/>
            <a:rect r="r" b="b" t="t" l="l"/>
            <a:pathLst>
              <a:path h="1092236" w="1556295">
                <a:moveTo>
                  <a:pt x="0" y="0"/>
                </a:moveTo>
                <a:lnTo>
                  <a:pt x="1556295" y="0"/>
                </a:lnTo>
                <a:lnTo>
                  <a:pt x="1556295" y="1092237"/>
                </a:lnTo>
                <a:lnTo>
                  <a:pt x="0" y="109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786914" y="7058364"/>
            <a:ext cx="735924" cy="1230269"/>
          </a:xfrm>
          <a:custGeom>
            <a:avLst/>
            <a:gdLst/>
            <a:ahLst/>
            <a:cxnLst/>
            <a:rect r="r" b="b" t="t" l="l"/>
            <a:pathLst>
              <a:path h="1230269" w="735924">
                <a:moveTo>
                  <a:pt x="0" y="0"/>
                </a:moveTo>
                <a:lnTo>
                  <a:pt x="735924" y="0"/>
                </a:lnTo>
                <a:lnTo>
                  <a:pt x="735924" y="1230269"/>
                </a:lnTo>
                <a:lnTo>
                  <a:pt x="0" y="12302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22618" y="7714344"/>
            <a:ext cx="1443177" cy="556279"/>
          </a:xfrm>
          <a:custGeom>
            <a:avLst/>
            <a:gdLst/>
            <a:ahLst/>
            <a:cxnLst/>
            <a:rect r="r" b="b" t="t" l="l"/>
            <a:pathLst>
              <a:path h="556279" w="1443177">
                <a:moveTo>
                  <a:pt x="0" y="0"/>
                </a:moveTo>
                <a:lnTo>
                  <a:pt x="1443177" y="0"/>
                </a:lnTo>
                <a:lnTo>
                  <a:pt x="1443177" y="556279"/>
                </a:lnTo>
                <a:lnTo>
                  <a:pt x="0" y="556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60570" y="7970881"/>
            <a:ext cx="1340232" cy="365518"/>
          </a:xfrm>
          <a:custGeom>
            <a:avLst/>
            <a:gdLst/>
            <a:ahLst/>
            <a:cxnLst/>
            <a:rect r="r" b="b" t="t" l="l"/>
            <a:pathLst>
              <a:path h="365518" w="1340232">
                <a:moveTo>
                  <a:pt x="0" y="0"/>
                </a:moveTo>
                <a:lnTo>
                  <a:pt x="1340232" y="0"/>
                </a:lnTo>
                <a:lnTo>
                  <a:pt x="1340232" y="365518"/>
                </a:lnTo>
                <a:lnTo>
                  <a:pt x="0" y="36551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662472">
            <a:off x="3960570" y="7433116"/>
            <a:ext cx="1340232" cy="365518"/>
          </a:xfrm>
          <a:custGeom>
            <a:avLst/>
            <a:gdLst/>
            <a:ahLst/>
            <a:cxnLst/>
            <a:rect r="r" b="b" t="t" l="l"/>
            <a:pathLst>
              <a:path h="365518" w="1340232">
                <a:moveTo>
                  <a:pt x="0" y="0"/>
                </a:moveTo>
                <a:lnTo>
                  <a:pt x="1340232" y="0"/>
                </a:lnTo>
                <a:lnTo>
                  <a:pt x="1340232" y="365518"/>
                </a:lnTo>
                <a:lnTo>
                  <a:pt x="0" y="36551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783319">
            <a:off x="3966042" y="6777995"/>
            <a:ext cx="1719525" cy="468961"/>
          </a:xfrm>
          <a:custGeom>
            <a:avLst/>
            <a:gdLst/>
            <a:ahLst/>
            <a:cxnLst/>
            <a:rect r="r" b="b" t="t" l="l"/>
            <a:pathLst>
              <a:path h="468961" w="1719525">
                <a:moveTo>
                  <a:pt x="0" y="0"/>
                </a:moveTo>
                <a:lnTo>
                  <a:pt x="1719526" y="0"/>
                </a:lnTo>
                <a:lnTo>
                  <a:pt x="1719526" y="468961"/>
                </a:lnTo>
                <a:lnTo>
                  <a:pt x="0" y="4689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818174" y="5580184"/>
            <a:ext cx="1821611" cy="473619"/>
          </a:xfrm>
          <a:custGeom>
            <a:avLst/>
            <a:gdLst/>
            <a:ahLst/>
            <a:cxnLst/>
            <a:rect r="r" b="b" t="t" l="l"/>
            <a:pathLst>
              <a:path h="473619" w="1821611">
                <a:moveTo>
                  <a:pt x="0" y="0"/>
                </a:moveTo>
                <a:lnTo>
                  <a:pt x="1821611" y="0"/>
                </a:lnTo>
                <a:lnTo>
                  <a:pt x="1821611" y="473619"/>
                </a:lnTo>
                <a:lnTo>
                  <a:pt x="0" y="4736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409601">
            <a:off x="13278930" y="4912004"/>
            <a:ext cx="1821611" cy="473619"/>
          </a:xfrm>
          <a:custGeom>
            <a:avLst/>
            <a:gdLst/>
            <a:ahLst/>
            <a:cxnLst/>
            <a:rect r="r" b="b" t="t" l="l"/>
            <a:pathLst>
              <a:path h="473619" w="1821611">
                <a:moveTo>
                  <a:pt x="0" y="0"/>
                </a:moveTo>
                <a:lnTo>
                  <a:pt x="1821611" y="0"/>
                </a:lnTo>
                <a:lnTo>
                  <a:pt x="1821611" y="473619"/>
                </a:lnTo>
                <a:lnTo>
                  <a:pt x="0" y="4736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563008" y="5261232"/>
            <a:ext cx="1509784" cy="1328610"/>
          </a:xfrm>
          <a:custGeom>
            <a:avLst/>
            <a:gdLst/>
            <a:ahLst/>
            <a:cxnLst/>
            <a:rect r="r" b="b" t="t" l="l"/>
            <a:pathLst>
              <a:path h="1328610" w="1509784">
                <a:moveTo>
                  <a:pt x="0" y="0"/>
                </a:moveTo>
                <a:lnTo>
                  <a:pt x="1509784" y="0"/>
                </a:lnTo>
                <a:lnTo>
                  <a:pt x="1509784" y="1328610"/>
                </a:lnTo>
                <a:lnTo>
                  <a:pt x="0" y="13286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14106" y="1677802"/>
            <a:ext cx="13859789" cy="7804765"/>
          </a:xfrm>
          <a:custGeom>
            <a:avLst/>
            <a:gdLst/>
            <a:ahLst/>
            <a:cxnLst/>
            <a:rect r="r" b="b" t="t" l="l"/>
            <a:pathLst>
              <a:path h="7804765" w="13859789">
                <a:moveTo>
                  <a:pt x="0" y="0"/>
                </a:moveTo>
                <a:lnTo>
                  <a:pt x="13859788" y="0"/>
                </a:lnTo>
                <a:lnTo>
                  <a:pt x="13859788" y="7804765"/>
                </a:lnTo>
                <a:lnTo>
                  <a:pt x="0" y="780476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599400" y="222726"/>
            <a:ext cx="13089200" cy="136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56"/>
              </a:lnSpc>
              <a:spcBef>
                <a:spcPct val="0"/>
              </a:spcBef>
            </a:pPr>
            <a:r>
              <a:rPr lang="en-US" sz="77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Characters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50001" y="2012646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0106" y="904875"/>
            <a:ext cx="14595218" cy="117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6"/>
              </a:lnSpc>
              <a:spcBef>
                <a:spcPct val="0"/>
              </a:spcBef>
            </a:pPr>
            <a:r>
              <a:rPr lang="en-US" sz="6754">
                <a:solidFill>
                  <a:srgbClr val="FFFFFF"/>
                </a:solidFill>
                <a:latin typeface="More Sugar Thin"/>
                <a:ea typeface="More Sugar Thin"/>
                <a:cs typeface="More Sugar Thin"/>
                <a:sym typeface="More Sugar Thin"/>
              </a:rPr>
              <a:t>Individual vs Community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1506" y="2533258"/>
            <a:ext cx="9910202" cy="523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960" indent="-401480" lvl="1">
              <a:lnSpc>
                <a:spcPts val="5206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 World State is based solely on Community.</a:t>
            </a:r>
          </a:p>
          <a:p>
            <a:pPr algn="l" marL="802960" indent="-401480" lvl="1">
              <a:lnSpc>
                <a:spcPts val="5206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There can be no individuals or non-conformists to threaten the stability of society.</a:t>
            </a:r>
          </a:p>
          <a:p>
            <a:pPr algn="l" marL="802960" indent="-401480" lvl="1">
              <a:lnSpc>
                <a:spcPts val="5206"/>
              </a:lnSpc>
              <a:buFont typeface="Arial"/>
              <a:buChar char="•"/>
            </a:pPr>
            <a:r>
              <a:rPr lang="en-US" sz="371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Demonstrating individuality in society results in exile to one of the islands to avoid influencing or tainting the masses.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DAHB19s8slg</dc:identifier>
  <dcterms:modified xsi:type="dcterms:W3CDTF">2011-08-01T06:04:30Z</dcterms:modified>
  <cp:revision>1</cp:revision>
  <dc:title>'No Soma Required: Helping Students Navigate 'Brave New World' version 1</dc:title>
</cp:coreProperties>
</file>