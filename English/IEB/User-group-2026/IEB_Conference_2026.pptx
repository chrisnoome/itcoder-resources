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40">
          <p15:clr>
            <a:srgbClr val="A4A3A4"/>
          </p15:clr>
        </p15:guide>
        <p15:guide id="2" pos="5613">
          <p15:clr>
            <a:srgbClr val="A4A3A4"/>
          </p15:clr>
        </p15:guide>
        <p15:guide id="3" orient="horz" pos="283">
          <p15:clr>
            <a:srgbClr val="9AA0A6"/>
          </p15:clr>
        </p15:guide>
      </p15:sldGuideLst>
    </p:ext>
    <p:ext uri="GoogleSlidesCustomDataVersion2">
      <go:slidesCustomData xmlns:go="http://customooxmlschemas.google.com/" r:id="rId28" roundtripDataSignature="AMtx7mi4ODJHHzhRVAqIbNEjCfTgFr0t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40" orient="horz"/>
        <p:guide pos="5613"/>
        <p:guide pos="28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Z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f13ff12706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g1f13ff12706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2b3309a57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2b3309a57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g32b3309a57c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f0e48d8a5_2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3bf0e48d8a5_2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g3bf0e48d8a5_2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41898466e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g3941898466e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41898466e_0_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g3941898466e_0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41898466e_0_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g3941898466e_0_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2bc7bd1c4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2bc7bd1c4a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2bc7bd1c4a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2bc7bd1c4a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2bc7bd1c4a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32bc7bd1c4a_0_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2bc7bd1c4a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2bc7bd1c4a_0_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32bc7bd1c4a_0_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2bc7bd1c4a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2bc7bd1c4a_0_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32bc7bd1c4a_0_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2bc7bd1c4a_0_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2bc7bd1c4a_0_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g32bc7bd1c4a_0_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2bc7bd1c4a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2bc7bd1c4a_0_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32bc7bd1c4a_0_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 name="Shape 19"/>
        <p:cNvGrpSpPr/>
        <p:nvPr/>
      </p:nvGrpSpPr>
      <p:grpSpPr>
        <a:xfrm>
          <a:off x="0" y="0"/>
          <a:ext cx="0" cy="0"/>
          <a:chOff x="0" y="0"/>
          <a:chExt cx="0" cy="0"/>
        </a:xfrm>
      </p:grpSpPr>
      <p:sp>
        <p:nvSpPr>
          <p:cNvPr id="20" name="Google Shape;2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 name="Google Shape;21;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22" name="Google Shape;22;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23" name="Google Shape;23;p3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 name="Google Shape;28;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 name="Google Shape;29;p3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 name="Google Shape;34;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p:txBody>
      </p:sp>
      <p:sp>
        <p:nvSpPr>
          <p:cNvPr id="35" name="Google Shape;35;p3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 name="Google Shape;40;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41" name="Google Shape;41;p3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 name="Google Shape;46;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47" name="Google Shape;47;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48" name="Google Shape;48;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49" name="Google Shape;49;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50" name="Google Shape;50;p3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 name="Google Shape;55;p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61" name="Google Shape;61;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62" name="Google Shape;62;p3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38"/>
          <p:cNvSpPr/>
          <p:nvPr>
            <p:ph idx="2" type="pic"/>
          </p:nvPr>
        </p:nvSpPr>
        <p:spPr>
          <a:xfrm>
            <a:off x="1792288" y="612775"/>
            <a:ext cx="5486400" cy="4114800"/>
          </a:xfrm>
          <a:prstGeom prst="rect">
            <a:avLst/>
          </a:prstGeom>
          <a:noFill/>
          <a:ln>
            <a:noFill/>
          </a:ln>
        </p:spPr>
      </p:sp>
      <p:sp>
        <p:nvSpPr>
          <p:cNvPr id="68" name="Google Shape;68;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69" name="Google Shape;69;p3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9pPr>
          </a:lstStyle>
          <a:p/>
        </p:txBody>
      </p:sp>
      <p:sp>
        <p:nvSpPr>
          <p:cNvPr id="11" name="Google Shape;1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1f13ff12706_0_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Common Assessment Task</a:t>
            </a:r>
            <a:endParaRPr/>
          </a:p>
        </p:txBody>
      </p:sp>
      <p:sp>
        <p:nvSpPr>
          <p:cNvPr id="93" name="Google Shape;93;g1f13ff12706_0_34"/>
          <p:cNvSpPr txBox="1"/>
          <p:nvPr>
            <p:ph idx="2" type="body"/>
          </p:nvPr>
        </p:nvSpPr>
        <p:spPr>
          <a:xfrm>
            <a:off x="457200" y="1614475"/>
            <a:ext cx="8120400" cy="5028000"/>
          </a:xfrm>
          <a:prstGeom prst="rect">
            <a:avLst/>
          </a:prstGeom>
          <a:noFill/>
          <a:ln>
            <a:noFill/>
          </a:ln>
        </p:spPr>
        <p:txBody>
          <a:bodyPr anchorCtr="0" anchor="t" bIns="45700" lIns="91425" spcFirstLastPara="1" rIns="91425" wrap="square" tIns="45700">
            <a:noAutofit/>
          </a:bodyPr>
          <a:lstStyle/>
          <a:p>
            <a:pPr indent="-406400" lvl="0" marL="457200" rtl="0" algn="l">
              <a:lnSpc>
                <a:spcPct val="100000"/>
              </a:lnSpc>
              <a:spcBef>
                <a:spcPts val="0"/>
              </a:spcBef>
              <a:spcAft>
                <a:spcPts val="0"/>
              </a:spcAft>
              <a:buSzPts val="2800"/>
              <a:buChar char="•"/>
            </a:pPr>
            <a:r>
              <a:rPr lang="en-ZA"/>
              <a:t>The focus of the CAT for 2026 is on Poetry Skills.</a:t>
            </a:r>
            <a:endParaRPr/>
          </a:p>
          <a:p>
            <a:pPr indent="-406400" lvl="0" marL="457200" rtl="0" algn="l">
              <a:lnSpc>
                <a:spcPct val="100000"/>
              </a:lnSpc>
              <a:spcBef>
                <a:spcPts val="0"/>
              </a:spcBef>
              <a:spcAft>
                <a:spcPts val="0"/>
              </a:spcAft>
              <a:buSzPts val="2800"/>
              <a:buChar char="•"/>
            </a:pPr>
            <a:r>
              <a:rPr lang="en-ZA"/>
              <a:t>The following overarching questions should be explored:</a:t>
            </a:r>
            <a:endParaRPr/>
          </a:p>
          <a:p>
            <a:pPr indent="-381000" lvl="1" marL="914400" rtl="0" algn="l">
              <a:lnSpc>
                <a:spcPct val="100000"/>
              </a:lnSpc>
              <a:spcBef>
                <a:spcPts val="0"/>
              </a:spcBef>
              <a:spcAft>
                <a:spcPts val="0"/>
              </a:spcAft>
              <a:buSzPts val="2400"/>
              <a:buChar char="–"/>
            </a:pPr>
            <a:r>
              <a:rPr lang="en-ZA"/>
              <a:t>How does poetry speak to the human condition?</a:t>
            </a:r>
            <a:endParaRPr/>
          </a:p>
          <a:p>
            <a:pPr indent="-381000" lvl="1" marL="914400" rtl="0" algn="l">
              <a:lnSpc>
                <a:spcPct val="100000"/>
              </a:lnSpc>
              <a:spcBef>
                <a:spcPts val="0"/>
              </a:spcBef>
              <a:spcAft>
                <a:spcPts val="0"/>
              </a:spcAft>
              <a:buSzPts val="2400"/>
              <a:buChar char="–"/>
            </a:pPr>
            <a:r>
              <a:rPr lang="en-ZA"/>
              <a:t>What was the poet’s intention in writing a certain poem?</a:t>
            </a:r>
            <a:endParaRPr/>
          </a:p>
          <a:p>
            <a:pPr indent="-381000" lvl="1" marL="914400" rtl="0" algn="l">
              <a:lnSpc>
                <a:spcPct val="100000"/>
              </a:lnSpc>
              <a:spcBef>
                <a:spcPts val="0"/>
              </a:spcBef>
              <a:spcAft>
                <a:spcPts val="0"/>
              </a:spcAft>
              <a:buSzPts val="2400"/>
              <a:buChar char="–"/>
            </a:pPr>
            <a:r>
              <a:rPr lang="en-ZA"/>
              <a:t>What poetic techniques have been used?</a:t>
            </a:r>
            <a:endParaRPr/>
          </a:p>
          <a:p>
            <a:pPr indent="-381000" lvl="1" marL="914400" rtl="0" algn="l">
              <a:lnSpc>
                <a:spcPct val="100000"/>
              </a:lnSpc>
              <a:spcBef>
                <a:spcPts val="0"/>
              </a:spcBef>
              <a:spcAft>
                <a:spcPts val="0"/>
              </a:spcAft>
              <a:buSzPts val="2400"/>
              <a:buChar char="–"/>
            </a:pPr>
            <a:r>
              <a:rPr lang="en-ZA"/>
              <a:t>How do these techniques feed into the intention? </a:t>
            </a:r>
            <a:endParaRPr/>
          </a:p>
          <a:p>
            <a:pPr indent="0" lvl="0" marL="0" rtl="0" algn="l">
              <a:lnSpc>
                <a:spcPct val="100000"/>
              </a:lnSpc>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2b3309a57c_0_0"/>
          <p:cNvSpPr txBox="1"/>
          <p:nvPr>
            <p:ph idx="1" type="body"/>
          </p:nvPr>
        </p:nvSpPr>
        <p:spPr>
          <a:xfrm>
            <a:off x="371200" y="260900"/>
            <a:ext cx="8379900" cy="6395700"/>
          </a:xfrm>
          <a:prstGeom prst="rect">
            <a:avLst/>
          </a:prstGeom>
          <a:noFill/>
          <a:ln>
            <a:noFill/>
          </a:ln>
        </p:spPr>
        <p:txBody>
          <a:bodyPr anchorCtr="0" anchor="t" bIns="45700" lIns="91425" spcFirstLastPara="1" rIns="91425" wrap="square" tIns="45700">
            <a:noAutofit/>
          </a:bodyPr>
          <a:lstStyle/>
          <a:p>
            <a:pPr indent="-406400" lvl="0" marL="457200" rtl="0" algn="l">
              <a:lnSpc>
                <a:spcPct val="100000"/>
              </a:lnSpc>
              <a:spcBef>
                <a:spcPts val="560"/>
              </a:spcBef>
              <a:spcAft>
                <a:spcPts val="0"/>
              </a:spcAft>
              <a:buSzPts val="2800"/>
              <a:buChar char="•"/>
            </a:pPr>
            <a:r>
              <a:rPr lang="en-ZA"/>
              <a:t>Learners will need to select one poem from the </a:t>
            </a:r>
            <a:r>
              <a:rPr b="1" lang="en-ZA"/>
              <a:t>seen poetry syllabus </a:t>
            </a:r>
            <a:r>
              <a:rPr lang="en-ZA"/>
              <a:t>as their anchor text that refers to an aspect of the human condition.</a:t>
            </a:r>
            <a:endParaRPr/>
          </a:p>
          <a:p>
            <a:pPr indent="-406400" lvl="0" marL="457200" rtl="0" algn="l">
              <a:lnSpc>
                <a:spcPct val="100000"/>
              </a:lnSpc>
              <a:spcBef>
                <a:spcPts val="0"/>
              </a:spcBef>
              <a:spcAft>
                <a:spcPts val="0"/>
              </a:spcAft>
              <a:buSzPts val="2800"/>
              <a:buChar char="•"/>
            </a:pPr>
            <a:r>
              <a:rPr lang="en-ZA"/>
              <a:t>They will then identify </a:t>
            </a:r>
            <a:r>
              <a:rPr b="1" lang="en-ZA"/>
              <a:t>three additional poems </a:t>
            </a:r>
            <a:r>
              <a:rPr lang="en-ZA"/>
              <a:t>that “talk to” the themes, the intention and the techniques of this chosen poem.</a:t>
            </a:r>
            <a:r>
              <a:rPr lang="en-ZA"/>
              <a:t> </a:t>
            </a:r>
            <a:endParaRPr/>
          </a:p>
          <a:p>
            <a:pPr indent="-406400" lvl="0" marL="457200" rtl="0" algn="l">
              <a:lnSpc>
                <a:spcPct val="100000"/>
              </a:lnSpc>
              <a:spcBef>
                <a:spcPts val="0"/>
              </a:spcBef>
              <a:spcAft>
                <a:spcPts val="0"/>
              </a:spcAft>
              <a:buSzPts val="2800"/>
              <a:buChar char="•"/>
            </a:pPr>
            <a:r>
              <a:rPr lang="en-ZA"/>
              <a:t>These may be </a:t>
            </a:r>
            <a:r>
              <a:rPr b="1" lang="en-ZA"/>
              <a:t>published poems, AI-created poems, poems written by the learners themselves</a:t>
            </a:r>
            <a:r>
              <a:rPr lang="en-ZA"/>
              <a:t>, or repurposed versions of the seen poem.</a:t>
            </a:r>
            <a:endParaRPr/>
          </a:p>
          <a:p>
            <a:pPr indent="-406400" lvl="0" marL="457200" rtl="0" algn="l">
              <a:lnSpc>
                <a:spcPct val="100000"/>
              </a:lnSpc>
              <a:spcBef>
                <a:spcPts val="0"/>
              </a:spcBef>
              <a:spcAft>
                <a:spcPts val="0"/>
              </a:spcAft>
              <a:buSzPts val="2800"/>
              <a:buChar char="•"/>
            </a:pPr>
            <a:r>
              <a:rPr b="1" lang="en-ZA"/>
              <a:t>Songs are not allowed for this task</a:t>
            </a:r>
            <a:r>
              <a:rPr lang="en-ZA"/>
              <a:t> - meaning must be analysed through poetic choices, without reliance on musical or performance elements</a:t>
            </a:r>
            <a:endParaRPr/>
          </a:p>
          <a:p>
            <a:pPr indent="0" lvl="0" marL="457200" rtl="0" algn="l">
              <a:lnSpc>
                <a:spcPct val="100000"/>
              </a:lnSpc>
              <a:spcBef>
                <a:spcPts val="0"/>
              </a:spcBef>
              <a:spcAft>
                <a:spcPts val="0"/>
              </a:spcAft>
              <a:buNone/>
            </a:pPr>
            <a:r>
              <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bf0e48d8a5_2_8"/>
          <p:cNvSpPr txBox="1"/>
          <p:nvPr>
            <p:ph idx="1" type="body"/>
          </p:nvPr>
        </p:nvSpPr>
        <p:spPr>
          <a:xfrm>
            <a:off x="371200" y="260900"/>
            <a:ext cx="8379900" cy="6395700"/>
          </a:xfrm>
          <a:prstGeom prst="rect">
            <a:avLst/>
          </a:prstGeom>
          <a:noFill/>
          <a:ln>
            <a:noFill/>
          </a:ln>
        </p:spPr>
        <p:txBody>
          <a:bodyPr anchorCtr="0" anchor="t" bIns="45700" lIns="91425" spcFirstLastPara="1" rIns="91425" wrap="square" tIns="45700">
            <a:noAutofit/>
          </a:bodyPr>
          <a:lstStyle/>
          <a:p>
            <a:pPr indent="-406400" lvl="0" marL="457200" rtl="0" algn="l">
              <a:lnSpc>
                <a:spcPct val="100000"/>
              </a:lnSpc>
              <a:spcBef>
                <a:spcPts val="560"/>
              </a:spcBef>
              <a:spcAft>
                <a:spcPts val="0"/>
              </a:spcAft>
              <a:buSzPts val="2800"/>
              <a:buChar char="•"/>
            </a:pPr>
            <a:r>
              <a:rPr lang="en-ZA"/>
              <a:t>Learners will write a </a:t>
            </a:r>
            <a:r>
              <a:rPr b="1" lang="en-ZA"/>
              <a:t>formal analytical essay</a:t>
            </a:r>
            <a:r>
              <a:rPr lang="en-ZA"/>
              <a:t> in which they </a:t>
            </a:r>
            <a:r>
              <a:rPr b="1" lang="en-ZA"/>
              <a:t>evaluate </a:t>
            </a:r>
            <a:r>
              <a:rPr lang="en-ZA"/>
              <a:t>how one of their chosen poems and one of two unseen poems supplied by the school </a:t>
            </a:r>
            <a:r>
              <a:rPr b="1" lang="en-ZA"/>
              <a:t>use poetic techniques more effectively to raise awareness of the human condition</a:t>
            </a:r>
            <a:r>
              <a:rPr lang="en-ZA"/>
              <a:t>.</a:t>
            </a:r>
            <a:endParaRPr/>
          </a:p>
          <a:p>
            <a:pPr indent="-406400" lvl="0" marL="457200" rtl="0" algn="l">
              <a:lnSpc>
                <a:spcPct val="100000"/>
              </a:lnSpc>
              <a:spcBef>
                <a:spcPts val="0"/>
              </a:spcBef>
              <a:spcAft>
                <a:spcPts val="0"/>
              </a:spcAft>
              <a:buSzPts val="2800"/>
              <a:buChar char="•"/>
            </a:pPr>
            <a:r>
              <a:rPr lang="en-ZA"/>
              <a:t>Speech - </a:t>
            </a:r>
            <a:r>
              <a:rPr lang="en-ZA"/>
              <a:t>Explain </a:t>
            </a:r>
            <a:r>
              <a:rPr b="1" lang="en-ZA"/>
              <a:t>how poetry evokes emotion in readers</a:t>
            </a:r>
            <a:r>
              <a:rPr lang="en-ZA"/>
              <a:t>, using a line chosen from the seen poetry syllabus as the starting point</a:t>
            </a:r>
            <a:r>
              <a:rPr lang="en-ZA"/>
              <a:t>. </a:t>
            </a:r>
            <a:endParaRPr/>
          </a:p>
          <a:p>
            <a:pPr indent="-406400" lvl="0" marL="457200" rtl="0" algn="l">
              <a:lnSpc>
                <a:spcPct val="100000"/>
              </a:lnSpc>
              <a:spcBef>
                <a:spcPts val="0"/>
              </a:spcBef>
              <a:spcAft>
                <a:spcPts val="0"/>
              </a:spcAft>
              <a:buSzPts val="2800"/>
              <a:buChar char="•"/>
            </a:pPr>
            <a:r>
              <a:rPr b="1" lang="en-ZA"/>
              <a:t>A powerpoint presentation is not compulsory.</a:t>
            </a:r>
            <a:endParaRPr b="1"/>
          </a:p>
          <a:p>
            <a:pPr indent="-406400" lvl="0" marL="457200" rtl="0" algn="l">
              <a:lnSpc>
                <a:spcPct val="100000"/>
              </a:lnSpc>
              <a:spcBef>
                <a:spcPts val="0"/>
              </a:spcBef>
              <a:spcAft>
                <a:spcPts val="0"/>
              </a:spcAft>
              <a:buSzPts val="2800"/>
              <a:buChar char="•"/>
            </a:pPr>
            <a:r>
              <a:rPr lang="en-ZA"/>
              <a:t>There will be no compulsory 10-mark discussion, but the </a:t>
            </a:r>
            <a:r>
              <a:rPr b="1" lang="en-ZA"/>
              <a:t>Integrated Listening &amp; Speaking task</a:t>
            </a:r>
            <a:r>
              <a:rPr lang="en-ZA"/>
              <a:t> will remain.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0"/>
          <p:cNvSpPr/>
          <p:nvPr/>
        </p:nvSpPr>
        <p:spPr>
          <a:xfrm>
            <a:off x="2771800" y="2852936"/>
            <a:ext cx="3312367"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ZA" sz="4400" u="none" cap="none" strike="noStrike">
                <a:solidFill>
                  <a:schemeClr val="dk1"/>
                </a:solidFill>
                <a:latin typeface="Arial"/>
                <a:ea typeface="Arial"/>
                <a:cs typeface="Arial"/>
                <a:sym typeface="Arial"/>
              </a:rPr>
              <a:t>PAPER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1"/>
          <p:cNvSpPr/>
          <p:nvPr/>
        </p:nvSpPr>
        <p:spPr>
          <a:xfrm>
            <a:off x="695593" y="351984"/>
            <a:ext cx="7560900" cy="375600"/>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Clr>
                <a:srgbClr val="000000"/>
              </a:buClr>
              <a:buSzPts val="1800"/>
              <a:buFont typeface="Arial"/>
              <a:buNone/>
            </a:pPr>
            <a:r>
              <a:rPr b="1" i="0" lang="en-ZA" sz="1800" u="none" cap="none" strike="noStrike">
                <a:solidFill>
                  <a:schemeClr val="dk1"/>
                </a:solidFill>
                <a:latin typeface="Calibri"/>
                <a:ea typeface="Calibri"/>
                <a:cs typeface="Calibri"/>
                <a:sym typeface="Calibri"/>
              </a:rPr>
              <a:t>Opening remarks</a:t>
            </a:r>
            <a:endParaRPr b="0" i="0" sz="1400" u="none" cap="none" strike="noStrike">
              <a:solidFill>
                <a:srgbClr val="000000"/>
              </a:solidFill>
              <a:latin typeface="Arial"/>
              <a:ea typeface="Arial"/>
              <a:cs typeface="Arial"/>
              <a:sym typeface="Arial"/>
            </a:endParaRPr>
          </a:p>
        </p:txBody>
      </p:sp>
      <p:sp>
        <p:nvSpPr>
          <p:cNvPr id="116" name="Google Shape;116;p11"/>
          <p:cNvSpPr txBox="1"/>
          <p:nvPr/>
        </p:nvSpPr>
        <p:spPr>
          <a:xfrm>
            <a:off x="349250" y="942925"/>
            <a:ext cx="8356500" cy="52743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15000"/>
              </a:lnSpc>
              <a:spcBef>
                <a:spcPts val="1200"/>
              </a:spcBef>
              <a:spcAft>
                <a:spcPts val="0"/>
              </a:spcAft>
              <a:buClr>
                <a:schemeClr val="dk1"/>
              </a:buClr>
              <a:buSzPts val="2000"/>
              <a:buFont typeface="Arial"/>
              <a:buChar char="●"/>
            </a:pPr>
            <a:r>
              <a:rPr b="0" i="0" lang="en-ZA" sz="1900" u="none" cap="none" strike="noStrike">
                <a:solidFill>
                  <a:schemeClr val="dk1"/>
                </a:solidFill>
                <a:latin typeface="Arial"/>
                <a:ea typeface="Arial"/>
                <a:cs typeface="Arial"/>
                <a:sym typeface="Arial"/>
              </a:rPr>
              <a:t>The 202</a:t>
            </a:r>
            <a:r>
              <a:rPr lang="en-ZA" sz="1900">
                <a:solidFill>
                  <a:schemeClr val="dk1"/>
                </a:solidFill>
              </a:rPr>
              <a:t>5</a:t>
            </a:r>
            <a:r>
              <a:rPr b="0" i="0" lang="en-ZA" sz="1900" u="none" cap="none" strike="noStrike">
                <a:solidFill>
                  <a:schemeClr val="dk1"/>
                </a:solidFill>
                <a:latin typeface="Arial"/>
                <a:ea typeface="Arial"/>
                <a:cs typeface="Arial"/>
                <a:sym typeface="Arial"/>
              </a:rPr>
              <a:t> marking session ran smoothly, and we are very proud of the processes we have put in place to ensure that each candidate's script receives fair and consistent attention. </a:t>
            </a:r>
            <a:endParaRPr b="0" i="0" sz="1900" u="none" cap="none" strike="noStrike">
              <a:solidFill>
                <a:schemeClr val="dk1"/>
              </a:solidFill>
              <a:latin typeface="Arial"/>
              <a:ea typeface="Arial"/>
              <a:cs typeface="Arial"/>
              <a:sym typeface="Arial"/>
            </a:endParaRPr>
          </a:p>
          <a:p>
            <a:pPr indent="-355600" lvl="0" marL="457200" marR="0" rtl="0" algn="just">
              <a:lnSpc>
                <a:spcPct val="115000"/>
              </a:lnSpc>
              <a:spcBef>
                <a:spcPts val="0"/>
              </a:spcBef>
              <a:spcAft>
                <a:spcPts val="0"/>
              </a:spcAft>
              <a:buClr>
                <a:schemeClr val="dk1"/>
              </a:buClr>
              <a:buSzPts val="2000"/>
              <a:buFont typeface="Arial"/>
              <a:buChar char="●"/>
            </a:pPr>
            <a:r>
              <a:rPr b="0" i="0" lang="en-ZA" sz="1900" u="none" cap="none" strike="noStrike">
                <a:solidFill>
                  <a:schemeClr val="dk1"/>
                </a:solidFill>
                <a:latin typeface="Arial"/>
                <a:ea typeface="Arial"/>
                <a:cs typeface="Arial"/>
                <a:sym typeface="Arial"/>
              </a:rPr>
              <a:t>The examiner, the internal moderator, 2</a:t>
            </a:r>
            <a:r>
              <a:rPr lang="en-ZA" sz="1900">
                <a:solidFill>
                  <a:schemeClr val="dk1"/>
                </a:solidFill>
              </a:rPr>
              <a:t>8</a:t>
            </a:r>
            <a:r>
              <a:rPr b="0" i="0" lang="en-ZA" sz="1900" u="none" cap="none" strike="noStrike">
                <a:solidFill>
                  <a:schemeClr val="dk1"/>
                </a:solidFill>
                <a:latin typeface="Arial"/>
                <a:ea typeface="Arial"/>
                <a:cs typeface="Arial"/>
                <a:sym typeface="Arial"/>
              </a:rPr>
              <a:t> senior markers, and Umalusi spent much time on the pre-standardisation and standardisation process, and this led to the Marking Guidelines being implemented consistently throughout the marking and moderation process. </a:t>
            </a:r>
            <a:endParaRPr b="0" i="0" sz="1900" u="none" cap="none" strike="noStrike">
              <a:solidFill>
                <a:schemeClr val="dk1"/>
              </a:solidFill>
              <a:latin typeface="Arial"/>
              <a:ea typeface="Arial"/>
              <a:cs typeface="Arial"/>
              <a:sym typeface="Arial"/>
            </a:endParaRPr>
          </a:p>
          <a:p>
            <a:pPr indent="-355600" lvl="0" marL="457200" marR="0" rtl="0" algn="just">
              <a:lnSpc>
                <a:spcPct val="115000"/>
              </a:lnSpc>
              <a:spcBef>
                <a:spcPts val="0"/>
              </a:spcBef>
              <a:spcAft>
                <a:spcPts val="0"/>
              </a:spcAft>
              <a:buClr>
                <a:schemeClr val="dk1"/>
              </a:buClr>
              <a:buSzPts val="2000"/>
              <a:buFont typeface="Arial"/>
              <a:buChar char="●"/>
            </a:pPr>
            <a:r>
              <a:rPr b="0" i="0" lang="en-ZA" sz="1900" u="none" cap="none" strike="noStrike">
                <a:solidFill>
                  <a:schemeClr val="dk1"/>
                </a:solidFill>
                <a:latin typeface="Arial"/>
                <a:ea typeface="Arial"/>
                <a:cs typeface="Arial"/>
                <a:sym typeface="Arial"/>
              </a:rPr>
              <a:t>The guidelines were opened during the standardisation process, which allowed for a range of responses to be considered. </a:t>
            </a:r>
            <a:endParaRPr sz="19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Arial"/>
              <a:buChar char="●"/>
            </a:pPr>
            <a:r>
              <a:rPr lang="en-ZA" sz="1900">
                <a:solidFill>
                  <a:schemeClr val="dk1"/>
                </a:solidFill>
              </a:rPr>
              <a:t>The guidelines were opened during the standardisation process, which allowed for a range of responses to be considered. This was particularly evident in the language section, where we allowed for ½ marks. </a:t>
            </a:r>
            <a:endParaRPr sz="1900">
              <a:solidFill>
                <a:schemeClr val="dk1"/>
              </a:solidFill>
            </a:endParaRPr>
          </a:p>
          <a:p>
            <a:pPr indent="-355600" lvl="0" marL="457200" marR="0" rtl="0" algn="just">
              <a:lnSpc>
                <a:spcPct val="115000"/>
              </a:lnSpc>
              <a:spcBef>
                <a:spcPts val="0"/>
              </a:spcBef>
              <a:spcAft>
                <a:spcPts val="0"/>
              </a:spcAft>
              <a:buClr>
                <a:schemeClr val="dk1"/>
              </a:buClr>
              <a:buSzPts val="2000"/>
              <a:buFont typeface="Arial"/>
              <a:buChar char="●"/>
            </a:pPr>
            <a:r>
              <a:rPr b="0" i="0" lang="en-ZA" sz="1900" u="none" cap="none" strike="noStrike">
                <a:solidFill>
                  <a:schemeClr val="dk1"/>
                </a:solidFill>
                <a:latin typeface="Arial"/>
                <a:ea typeface="Arial"/>
                <a:cs typeface="Arial"/>
                <a:sym typeface="Arial"/>
              </a:rPr>
              <a:t>As a Paper 1 marking committee, we are very proud of the whole process, and we are confident that the utmost care has been taken to ensure the fair and consistent treatment of each candidate. </a:t>
            </a:r>
            <a:endParaRPr b="0" i="0" sz="27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2"/>
          <p:cNvSpPr/>
          <p:nvPr/>
        </p:nvSpPr>
        <p:spPr>
          <a:xfrm>
            <a:off x="467557" y="271429"/>
            <a:ext cx="7920900" cy="7746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1" i="0" lang="en-ZA" sz="1800" u="none" cap="none" strike="noStrike">
                <a:solidFill>
                  <a:schemeClr val="dk1"/>
                </a:solidFill>
                <a:latin typeface="Calibri"/>
                <a:ea typeface="Calibri"/>
                <a:cs typeface="Calibri"/>
                <a:sym typeface="Calibri"/>
              </a:rPr>
              <a:t>Question 1—Comprehension:</a:t>
            </a:r>
            <a:endParaRPr b="0" i="0" sz="1800" u="none" cap="none" strike="noStrike">
              <a:solidFill>
                <a:schemeClr val="dk1"/>
              </a:solidFill>
              <a:latin typeface="Calibri"/>
              <a:ea typeface="Calibri"/>
              <a:cs typeface="Calibri"/>
              <a:sym typeface="Calibri"/>
            </a:endParaRPr>
          </a:p>
          <a:p>
            <a:pPr indent="-57150" lvl="0" marL="171450" marR="0" rtl="0" algn="l">
              <a:lnSpc>
                <a:spcPct val="107000"/>
              </a:lnSpc>
              <a:spcBef>
                <a:spcPts val="80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12"/>
          <p:cNvSpPr txBox="1"/>
          <p:nvPr/>
        </p:nvSpPr>
        <p:spPr>
          <a:xfrm>
            <a:off x="-27000" y="630250"/>
            <a:ext cx="9085500" cy="5878200"/>
          </a:xfrm>
          <a:prstGeom prst="rect">
            <a:avLst/>
          </a:prstGeom>
          <a:noFill/>
          <a:ln>
            <a:noFill/>
          </a:ln>
        </p:spPr>
        <p:txBody>
          <a:bodyPr anchorCtr="0" anchor="t" bIns="91425" lIns="91425" spcFirstLastPara="1" rIns="91425" wrap="square" tIns="91425">
            <a:spAutoFit/>
          </a:bodyPr>
          <a:lstStyle/>
          <a:p>
            <a:pPr indent="-330200" lvl="0" marL="457200" rtl="0" algn="just">
              <a:lnSpc>
                <a:spcPct val="115000"/>
              </a:lnSpc>
              <a:spcBef>
                <a:spcPts val="1200"/>
              </a:spcBef>
              <a:spcAft>
                <a:spcPts val="0"/>
              </a:spcAft>
              <a:buClr>
                <a:srgbClr val="202124"/>
              </a:buClr>
              <a:buSzPts val="1600"/>
              <a:buChar char="●"/>
            </a:pPr>
            <a:r>
              <a:rPr lang="en-ZA" sz="1800">
                <a:solidFill>
                  <a:schemeClr val="dk1"/>
                </a:solidFill>
              </a:rPr>
              <a:t>Candidates dealt with this section extremely well.   It was particularly clear that many candidates spent more time on the comprehension than any other question.</a:t>
            </a:r>
            <a:endParaRPr sz="1800">
              <a:solidFill>
                <a:schemeClr val="dk1"/>
              </a:solidFill>
            </a:endParaRPr>
          </a:p>
          <a:p>
            <a:pPr indent="-342900" lvl="0" marL="457200" rtl="0" algn="just">
              <a:lnSpc>
                <a:spcPct val="115000"/>
              </a:lnSpc>
              <a:spcBef>
                <a:spcPts val="0"/>
              </a:spcBef>
              <a:spcAft>
                <a:spcPts val="0"/>
              </a:spcAft>
              <a:buClr>
                <a:srgbClr val="202124"/>
              </a:buClr>
              <a:buSzPts val="1800"/>
              <a:buChar char="●"/>
            </a:pPr>
            <a:r>
              <a:rPr lang="en-ZA" sz="1800">
                <a:solidFill>
                  <a:schemeClr val="dk1"/>
                </a:solidFill>
              </a:rPr>
              <a:t>The marks for the comprehension seemed higher than other sections of the paper as candidates over-wrote in places and did not spend as much time on other questions.</a:t>
            </a:r>
            <a:endParaRPr sz="1800">
              <a:solidFill>
                <a:schemeClr val="dk1"/>
              </a:solidFill>
            </a:endParaRPr>
          </a:p>
          <a:p>
            <a:pPr indent="-342900" lvl="0" marL="457200" rtl="0" algn="just">
              <a:lnSpc>
                <a:spcPct val="115000"/>
              </a:lnSpc>
              <a:spcBef>
                <a:spcPts val="0"/>
              </a:spcBef>
              <a:spcAft>
                <a:spcPts val="0"/>
              </a:spcAft>
              <a:buClr>
                <a:srgbClr val="202124"/>
              </a:buClr>
              <a:buSzPts val="1800"/>
              <a:buChar char="●"/>
            </a:pPr>
            <a:r>
              <a:rPr lang="en-ZA" sz="1800">
                <a:solidFill>
                  <a:schemeClr val="dk1"/>
                </a:solidFill>
              </a:rPr>
              <a:t>Candidates are reminded to use specific attitude and positioning words when answering these questions. The same applies to tone and mood in later questions across the examination paper.</a:t>
            </a:r>
            <a:endParaRPr sz="1800">
              <a:solidFill>
                <a:schemeClr val="dk1"/>
              </a:solidFill>
            </a:endParaRPr>
          </a:p>
          <a:p>
            <a:pPr indent="-342900" lvl="0" marL="457200" rtl="0" algn="just">
              <a:lnSpc>
                <a:spcPct val="115000"/>
              </a:lnSpc>
              <a:spcBef>
                <a:spcPts val="0"/>
              </a:spcBef>
              <a:spcAft>
                <a:spcPts val="0"/>
              </a:spcAft>
              <a:buClr>
                <a:srgbClr val="202124"/>
              </a:buClr>
              <a:buSzPts val="1800"/>
              <a:buChar char="●"/>
            </a:pPr>
            <a:r>
              <a:rPr lang="en-ZA" sz="1800">
                <a:solidFill>
                  <a:schemeClr val="dk1"/>
                </a:solidFill>
              </a:rPr>
              <a:t>When dealing with the effectiveness of specific elements (figures of speech etc.) candidates must unpack the figure of speech being discussed and place it in context of the passage. Ultimately, candidates must reflect on its effectiveness.</a:t>
            </a:r>
            <a:endParaRPr sz="1800">
              <a:solidFill>
                <a:schemeClr val="dk1"/>
              </a:solidFill>
            </a:endParaRPr>
          </a:p>
          <a:p>
            <a:pPr indent="-342900" lvl="0" marL="457200" rtl="0" algn="just">
              <a:lnSpc>
                <a:spcPct val="115000"/>
              </a:lnSpc>
              <a:spcBef>
                <a:spcPts val="0"/>
              </a:spcBef>
              <a:spcAft>
                <a:spcPts val="0"/>
              </a:spcAft>
              <a:buClr>
                <a:srgbClr val="202124"/>
              </a:buClr>
              <a:buSzPts val="1800"/>
              <a:buChar char="●"/>
            </a:pPr>
            <a:r>
              <a:rPr lang="en-ZA" sz="1800">
                <a:solidFill>
                  <a:schemeClr val="dk1"/>
                </a:solidFill>
              </a:rPr>
              <a:t>When dealing with rhetorical questions, candidates are encouraged to move beyond stating the function of rhetorical questions. Candidates must link the function to the content in the passage.</a:t>
            </a:r>
            <a:endParaRPr sz="1800">
              <a:solidFill>
                <a:schemeClr val="dk1"/>
              </a:solidFill>
            </a:endParaRPr>
          </a:p>
          <a:p>
            <a:pPr indent="-342900" lvl="0" marL="457200" marR="0" rtl="0" algn="just">
              <a:lnSpc>
                <a:spcPct val="115000"/>
              </a:lnSpc>
              <a:spcBef>
                <a:spcPts val="0"/>
              </a:spcBef>
              <a:spcAft>
                <a:spcPts val="0"/>
              </a:spcAft>
              <a:buClr>
                <a:srgbClr val="202124"/>
              </a:buClr>
              <a:buSzPts val="1800"/>
              <a:buFont typeface="Arial"/>
              <a:buChar char="●"/>
            </a:pPr>
            <a:r>
              <a:rPr lang="en-ZA" sz="1800">
                <a:solidFill>
                  <a:schemeClr val="dk1"/>
                </a:solidFill>
              </a:rPr>
              <a:t>Candidates responded well to the seen poem ‘nobody loses all the time’ and its link to the comprehension passage. Candidates should expect to see poetry throughout the paper and respond to the questions in the context of the question. </a:t>
            </a:r>
            <a:endParaRPr sz="1800">
              <a:solidFill>
                <a:schemeClr val="dk1"/>
              </a:solidFill>
            </a:endParaRPr>
          </a:p>
          <a:p>
            <a:pPr indent="-342900" lvl="0" marL="457200" marR="0" rtl="0" algn="just">
              <a:lnSpc>
                <a:spcPct val="115000"/>
              </a:lnSpc>
              <a:spcBef>
                <a:spcPts val="0"/>
              </a:spcBef>
              <a:spcAft>
                <a:spcPts val="0"/>
              </a:spcAft>
              <a:buClr>
                <a:srgbClr val="0000FF"/>
              </a:buClr>
              <a:buSzPts val="1800"/>
              <a:buFont typeface="Arial"/>
              <a:buChar char="●"/>
            </a:pPr>
            <a:r>
              <a:rPr b="1" i="0" lang="en-ZA" sz="1800" u="none" cap="none" strike="noStrike">
                <a:solidFill>
                  <a:srgbClr val="0000FF"/>
                </a:solidFill>
                <a:latin typeface="Arial"/>
                <a:ea typeface="Arial"/>
                <a:cs typeface="Arial"/>
                <a:sym typeface="Arial"/>
              </a:rPr>
              <a:t>Refer to SAGS for appropriate word length.</a:t>
            </a:r>
            <a:r>
              <a:rPr b="0" i="0" lang="en-ZA" sz="1800" u="none" cap="none" strike="noStrike">
                <a:solidFill>
                  <a:srgbClr val="0000FF"/>
                </a:solidFill>
                <a:latin typeface="Arial"/>
                <a:ea typeface="Arial"/>
                <a:cs typeface="Arial"/>
                <a:sym typeface="Arial"/>
              </a:rPr>
              <a:t> </a:t>
            </a:r>
            <a:endParaRPr b="0" i="0" sz="1800" u="none" cap="none" strike="noStrike">
              <a:solidFill>
                <a:srgbClr val="0000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3"/>
          <p:cNvSpPr/>
          <p:nvPr/>
        </p:nvSpPr>
        <p:spPr>
          <a:xfrm>
            <a:off x="791676" y="261496"/>
            <a:ext cx="7272900" cy="3756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1" i="0" lang="en-ZA" sz="1800" u="none" cap="none" strike="noStrike">
                <a:solidFill>
                  <a:schemeClr val="dk1"/>
                </a:solidFill>
                <a:latin typeface="Calibri"/>
                <a:ea typeface="Calibri"/>
                <a:cs typeface="Calibri"/>
                <a:sym typeface="Calibri"/>
              </a:rPr>
              <a:t>Question 2 – Summary:</a:t>
            </a:r>
            <a:endParaRPr b="0" i="0" sz="1800" u="none" cap="none" strike="noStrike">
              <a:solidFill>
                <a:schemeClr val="dk1"/>
              </a:solidFill>
              <a:latin typeface="Calibri"/>
              <a:ea typeface="Calibri"/>
              <a:cs typeface="Calibri"/>
              <a:sym typeface="Calibri"/>
            </a:endParaRPr>
          </a:p>
        </p:txBody>
      </p:sp>
      <p:sp>
        <p:nvSpPr>
          <p:cNvPr id="128" name="Google Shape;128;p13"/>
          <p:cNvSpPr txBox="1"/>
          <p:nvPr/>
        </p:nvSpPr>
        <p:spPr>
          <a:xfrm>
            <a:off x="192500" y="702850"/>
            <a:ext cx="8831100" cy="6727200"/>
          </a:xfrm>
          <a:prstGeom prst="rect">
            <a:avLst/>
          </a:prstGeom>
          <a:noFill/>
          <a:ln>
            <a:noFill/>
          </a:ln>
        </p:spPr>
        <p:txBody>
          <a:bodyPr anchorCtr="0" anchor="t" bIns="91425" lIns="91425" spcFirstLastPara="1" rIns="91425" wrap="square" tIns="91425">
            <a:spAutoFit/>
          </a:bodyPr>
          <a:lstStyle/>
          <a:p>
            <a:pPr indent="-323850" lvl="0" marL="457200" marR="0" rtl="0" algn="just">
              <a:lnSpc>
                <a:spcPct val="115000"/>
              </a:lnSpc>
              <a:spcBef>
                <a:spcPts val="0"/>
              </a:spcBef>
              <a:spcAft>
                <a:spcPts val="0"/>
              </a:spcAft>
              <a:buClr>
                <a:srgbClr val="0000FF"/>
              </a:buClr>
              <a:buSzPts val="1500"/>
              <a:buFont typeface="Arial"/>
              <a:buChar char="●"/>
            </a:pPr>
            <a:r>
              <a:rPr b="1" i="0" lang="en-ZA" sz="1500" u="none" cap="none" strike="noStrike">
                <a:solidFill>
                  <a:srgbClr val="0000FF"/>
                </a:solidFill>
                <a:latin typeface="Arial"/>
                <a:ea typeface="Arial"/>
                <a:cs typeface="Arial"/>
                <a:sym typeface="Arial"/>
              </a:rPr>
              <a:t>The summary skill being assessed is the selection of appropriate information (occasionally from multiple texts/infographics) and synthesising it in a manner that is fit-for-purpose or a new context.  Candidates are encouraged to note the difference between transactional writing (creation of content using the sources as inspiration) vs the summary (summary and synthesis of the sources)</a:t>
            </a:r>
            <a:endParaRPr b="1" i="0" sz="1500" u="none" cap="none" strike="noStrike">
              <a:solidFill>
                <a:srgbClr val="0000FF"/>
              </a:solidFill>
              <a:latin typeface="Arial"/>
              <a:ea typeface="Arial"/>
              <a:cs typeface="Arial"/>
              <a:sym typeface="Arial"/>
            </a:endParaRPr>
          </a:p>
          <a:p>
            <a:pPr indent="-330200" lvl="0" marL="457200" rtl="0" algn="just">
              <a:lnSpc>
                <a:spcPct val="115000"/>
              </a:lnSpc>
              <a:spcBef>
                <a:spcPts val="0"/>
              </a:spcBef>
              <a:spcAft>
                <a:spcPts val="0"/>
              </a:spcAft>
              <a:buClr>
                <a:schemeClr val="dk1"/>
              </a:buClr>
              <a:buSzPts val="1600"/>
              <a:buChar char="●"/>
            </a:pPr>
            <a:r>
              <a:rPr lang="en-ZA" sz="1600">
                <a:solidFill>
                  <a:schemeClr val="dk1"/>
                </a:solidFill>
              </a:rPr>
              <a:t>The purpose of the summary is not to simply shorten a large section of text; candidates must learn how to select appropriate information and present it in a manner that is fit- for-purpose. The summary task in the 2025 question paper asked the candidates to synthesise three texts about the importance of a phone-free academic day.</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lang="en-ZA" sz="1600">
                <a:solidFill>
                  <a:schemeClr val="dk1"/>
                </a:solidFill>
              </a:rPr>
              <a:t>An awareness of audience, context, intention, and voice are key when engaging with this question. The candidates dealt well with the ‘speech to junior grades’ nature of the task. Given the nature of the task, candidates were able to decide for themselves the register of the speech – all options were accepted.</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lang="en-ZA" sz="1600">
                <a:solidFill>
                  <a:schemeClr val="dk1"/>
                </a:solidFill>
              </a:rPr>
              <a:t>Candidates are encouraged to practise/develop a fluid and succinct style after extracting only the relevant information and conveying it in their own words. </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lang="en-ZA" sz="1600">
                <a:solidFill>
                  <a:schemeClr val="dk1"/>
                </a:solidFill>
              </a:rPr>
              <a:t>Teachers are encouraged to use the various summary tasks on the IEB portal as part of their students’ preparation. The format is not the focus but rather register of the proposed format.</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lang="en-ZA" sz="1600">
                <a:solidFill>
                  <a:schemeClr val="dk1"/>
                </a:solidFill>
              </a:rPr>
              <a:t>·</a:t>
            </a:r>
            <a:r>
              <a:rPr lang="en-ZA" sz="1600">
                <a:solidFill>
                  <a:schemeClr val="dk1"/>
                </a:solidFill>
                <a:latin typeface="Times New Roman"/>
                <a:ea typeface="Times New Roman"/>
                <a:cs typeface="Times New Roman"/>
                <a:sym typeface="Times New Roman"/>
              </a:rPr>
              <a:t>   	</a:t>
            </a:r>
            <a:r>
              <a:rPr lang="en-ZA" sz="1600">
                <a:solidFill>
                  <a:schemeClr val="dk1"/>
                </a:solidFill>
              </a:rPr>
              <a:t>Please remind candidates to ensure that they put an ‘exact word count’ and they should not lie.  </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lang="en-ZA" sz="1600">
                <a:solidFill>
                  <a:schemeClr val="dk1"/>
                </a:solidFill>
              </a:rPr>
              <a:t>·</a:t>
            </a:r>
            <a:r>
              <a:rPr lang="en-ZA" sz="1600">
                <a:solidFill>
                  <a:schemeClr val="dk1"/>
                </a:solidFill>
                <a:latin typeface="Times New Roman"/>
                <a:ea typeface="Times New Roman"/>
                <a:cs typeface="Times New Roman"/>
                <a:sym typeface="Times New Roman"/>
              </a:rPr>
              <a:t>   	</a:t>
            </a:r>
            <a:r>
              <a:rPr lang="en-ZA" sz="1600">
                <a:solidFill>
                  <a:schemeClr val="dk1"/>
                </a:solidFill>
              </a:rPr>
              <a:t>Similarly, candidates should not include additional or new information that is not included in the original texts. </a:t>
            </a:r>
            <a:endParaRPr sz="1600">
              <a:solidFill>
                <a:schemeClr val="dk1"/>
              </a:solidFill>
            </a:endParaRPr>
          </a:p>
          <a:p>
            <a:pPr indent="0" lvl="0" marL="457200" marR="0" rtl="0" algn="just">
              <a:lnSpc>
                <a:spcPct val="115000"/>
              </a:lnSpc>
              <a:spcBef>
                <a:spcPts val="1200"/>
              </a:spcBef>
              <a:spcAft>
                <a:spcPts val="0"/>
              </a:spcAft>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941898466e_0_5"/>
          <p:cNvSpPr/>
          <p:nvPr/>
        </p:nvSpPr>
        <p:spPr>
          <a:xfrm>
            <a:off x="791676" y="261496"/>
            <a:ext cx="7272900" cy="37560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Clr>
                <a:srgbClr val="000000"/>
              </a:buClr>
              <a:buSzPts val="1800"/>
              <a:buFont typeface="Arial"/>
              <a:buNone/>
            </a:pPr>
            <a:r>
              <a:rPr b="1" i="0" lang="en-ZA" sz="1800" u="none" cap="none" strike="noStrike">
                <a:solidFill>
                  <a:schemeClr val="dk1"/>
                </a:solidFill>
                <a:latin typeface="Calibri"/>
                <a:ea typeface="Calibri"/>
                <a:cs typeface="Calibri"/>
                <a:sym typeface="Calibri"/>
              </a:rPr>
              <a:t>Question 2 – Summary</a:t>
            </a:r>
            <a:r>
              <a:rPr b="1" lang="en-ZA" sz="1800">
                <a:solidFill>
                  <a:schemeClr val="dk1"/>
                </a:solidFill>
                <a:latin typeface="Calibri"/>
                <a:ea typeface="Calibri"/>
                <a:cs typeface="Calibri"/>
                <a:sym typeface="Calibri"/>
              </a:rPr>
              <a:t> PROPOSED NEW RUBRIC</a:t>
            </a:r>
            <a:endParaRPr b="0" i="0" sz="1800" u="none" cap="none" strike="noStrike">
              <a:solidFill>
                <a:schemeClr val="dk1"/>
              </a:solidFill>
              <a:latin typeface="Calibri"/>
              <a:ea typeface="Calibri"/>
              <a:cs typeface="Calibri"/>
              <a:sym typeface="Calibri"/>
            </a:endParaRPr>
          </a:p>
        </p:txBody>
      </p:sp>
      <p:sp>
        <p:nvSpPr>
          <p:cNvPr id="134" name="Google Shape;134;g3941898466e_0_5"/>
          <p:cNvSpPr txBox="1"/>
          <p:nvPr/>
        </p:nvSpPr>
        <p:spPr>
          <a:xfrm>
            <a:off x="192500" y="702850"/>
            <a:ext cx="8831100" cy="2805300"/>
          </a:xfrm>
          <a:prstGeom prst="rect">
            <a:avLst/>
          </a:prstGeom>
          <a:noFill/>
          <a:ln>
            <a:noFill/>
          </a:ln>
        </p:spPr>
        <p:txBody>
          <a:bodyPr anchorCtr="0" anchor="t" bIns="91425" lIns="91425" spcFirstLastPara="1" rIns="91425" wrap="square" tIns="91425">
            <a:spAutoFit/>
          </a:bodyPr>
          <a:lstStyle/>
          <a:p>
            <a:pPr indent="-323850" lvl="0" marL="457200" marR="0" rtl="0" algn="just">
              <a:lnSpc>
                <a:spcPct val="115000"/>
              </a:lnSpc>
              <a:spcBef>
                <a:spcPts val="0"/>
              </a:spcBef>
              <a:spcAft>
                <a:spcPts val="0"/>
              </a:spcAft>
              <a:buClr>
                <a:srgbClr val="0000FF"/>
              </a:buClr>
              <a:buSzPts val="1500"/>
              <a:buFont typeface="Arial"/>
              <a:buChar char="●"/>
            </a:pPr>
            <a:r>
              <a:rPr b="1" lang="en-ZA" sz="1500">
                <a:solidFill>
                  <a:srgbClr val="0000FF"/>
                </a:solidFill>
              </a:rPr>
              <a:t>Proposed removal of the ½ marks in the rubric. </a:t>
            </a:r>
            <a:endParaRPr b="1" sz="1500">
              <a:solidFill>
                <a:srgbClr val="0000FF"/>
              </a:solidFill>
            </a:endParaRPr>
          </a:p>
          <a:p>
            <a:pPr indent="-323850" lvl="0" marL="457200" marR="0" rtl="0" algn="just">
              <a:lnSpc>
                <a:spcPct val="115000"/>
              </a:lnSpc>
              <a:spcBef>
                <a:spcPts val="0"/>
              </a:spcBef>
              <a:spcAft>
                <a:spcPts val="0"/>
              </a:spcAft>
              <a:buClr>
                <a:srgbClr val="0000FF"/>
              </a:buClr>
              <a:buSzPts val="1500"/>
              <a:buChar char="●"/>
            </a:pPr>
            <a:r>
              <a:rPr b="1" lang="en-ZA" sz="1500">
                <a:solidFill>
                  <a:srgbClr val="0000FF"/>
                </a:solidFill>
              </a:rPr>
              <a:t>Benefits:</a:t>
            </a:r>
            <a:endParaRPr b="1" sz="1500">
              <a:solidFill>
                <a:srgbClr val="0000FF"/>
              </a:solidFill>
            </a:endParaRPr>
          </a:p>
          <a:p>
            <a:pPr indent="-323850" lvl="1" marL="914400" marR="0" rtl="0" algn="just">
              <a:lnSpc>
                <a:spcPct val="115000"/>
              </a:lnSpc>
              <a:spcBef>
                <a:spcPts val="0"/>
              </a:spcBef>
              <a:spcAft>
                <a:spcPts val="0"/>
              </a:spcAft>
              <a:buClr>
                <a:srgbClr val="0000FF"/>
              </a:buClr>
              <a:buSzPts val="1500"/>
              <a:buChar char="○"/>
            </a:pPr>
            <a:r>
              <a:rPr b="1" lang="en-ZA" sz="1500">
                <a:solidFill>
                  <a:srgbClr val="0000FF"/>
                </a:solidFill>
              </a:rPr>
              <a:t>Enhance the reliability of the mark for the summary.  (7, 7.5, 8, etc.)</a:t>
            </a:r>
            <a:endParaRPr b="1" sz="1500">
              <a:solidFill>
                <a:srgbClr val="0000FF"/>
              </a:solidFill>
            </a:endParaRPr>
          </a:p>
          <a:p>
            <a:pPr indent="-323850" lvl="1" marL="914400" marR="0" rtl="0" algn="just">
              <a:lnSpc>
                <a:spcPct val="115000"/>
              </a:lnSpc>
              <a:spcBef>
                <a:spcPts val="0"/>
              </a:spcBef>
              <a:spcAft>
                <a:spcPts val="0"/>
              </a:spcAft>
              <a:buClr>
                <a:srgbClr val="0000FF"/>
              </a:buClr>
              <a:buSzPts val="1500"/>
              <a:buChar char="○"/>
            </a:pPr>
            <a:r>
              <a:rPr b="1" lang="en-ZA" sz="1500">
                <a:solidFill>
                  <a:srgbClr val="0000FF"/>
                </a:solidFill>
              </a:rPr>
              <a:t>Encourages clearer rubric design: (Descriptors are sharper and more decisive.)</a:t>
            </a:r>
            <a:endParaRPr b="1" sz="1500">
              <a:solidFill>
                <a:srgbClr val="0000FF"/>
              </a:solidFill>
            </a:endParaRPr>
          </a:p>
          <a:p>
            <a:pPr indent="-323850" lvl="1" marL="914400" marR="0" rtl="0" algn="just">
              <a:lnSpc>
                <a:spcPct val="115000"/>
              </a:lnSpc>
              <a:spcBef>
                <a:spcPts val="0"/>
              </a:spcBef>
              <a:spcAft>
                <a:spcPts val="0"/>
              </a:spcAft>
              <a:buClr>
                <a:srgbClr val="0000FF"/>
              </a:buClr>
              <a:buSzPts val="1500"/>
              <a:buChar char="○"/>
            </a:pPr>
            <a:r>
              <a:rPr b="1" lang="en-ZA" sz="1500">
                <a:solidFill>
                  <a:srgbClr val="0000FF"/>
                </a:solidFill>
              </a:rPr>
              <a:t>Aligns with the nature of the summary skills: fundamentally about selection, precision, and clarity.</a:t>
            </a:r>
            <a:endParaRPr b="1" sz="1500">
              <a:solidFill>
                <a:srgbClr val="0000FF"/>
              </a:solidFill>
            </a:endParaRPr>
          </a:p>
          <a:p>
            <a:pPr indent="-323850" lvl="1" marL="914400" marR="0" rtl="0" algn="just">
              <a:lnSpc>
                <a:spcPct val="115000"/>
              </a:lnSpc>
              <a:spcBef>
                <a:spcPts val="0"/>
              </a:spcBef>
              <a:spcAft>
                <a:spcPts val="0"/>
              </a:spcAft>
              <a:buClr>
                <a:srgbClr val="0000FF"/>
              </a:buClr>
              <a:buSzPts val="1500"/>
              <a:buChar char="○"/>
            </a:pPr>
            <a:r>
              <a:rPr b="1" lang="en-ZA" sz="1500">
                <a:solidFill>
                  <a:srgbClr val="0000FF"/>
                </a:solidFill>
              </a:rPr>
              <a:t>Half marks in the summary means markers may award ½ marks at an additional 10 places in the rubric (beyond the whole numbers).</a:t>
            </a:r>
            <a:endParaRPr b="1" sz="1500">
              <a:solidFill>
                <a:srgbClr val="0000FF"/>
              </a:solidFill>
            </a:endParaRPr>
          </a:p>
          <a:p>
            <a:pPr indent="-323850" lvl="1" marL="914400" marR="0" rtl="0" algn="just">
              <a:lnSpc>
                <a:spcPct val="115000"/>
              </a:lnSpc>
              <a:spcBef>
                <a:spcPts val="0"/>
              </a:spcBef>
              <a:spcAft>
                <a:spcPts val="0"/>
              </a:spcAft>
              <a:buClr>
                <a:srgbClr val="0000FF"/>
              </a:buClr>
              <a:buSzPts val="1500"/>
              <a:buChar char="○"/>
            </a:pPr>
            <a:r>
              <a:rPr b="1" lang="en-ZA" sz="1500">
                <a:solidFill>
                  <a:srgbClr val="0000FF"/>
                </a:solidFill>
              </a:rPr>
              <a:t>It will strengthen moderation discussions and simplify marker training.</a:t>
            </a:r>
            <a:endParaRPr b="1" sz="1500">
              <a:solidFill>
                <a:srgbClr val="0000FF"/>
              </a:solidFill>
            </a:endParaRPr>
          </a:p>
          <a:p>
            <a:pPr indent="-323850" lvl="1" marL="914400" marR="0" rtl="0" algn="just">
              <a:lnSpc>
                <a:spcPct val="115000"/>
              </a:lnSpc>
              <a:spcBef>
                <a:spcPts val="0"/>
              </a:spcBef>
              <a:spcAft>
                <a:spcPts val="0"/>
              </a:spcAft>
              <a:buClr>
                <a:srgbClr val="0000FF"/>
              </a:buClr>
              <a:buSzPts val="1500"/>
              <a:buChar char="○"/>
            </a:pPr>
            <a:r>
              <a:rPr b="1" lang="en-ZA" sz="1500">
                <a:solidFill>
                  <a:srgbClr val="0000FF"/>
                </a:solidFill>
              </a:rPr>
              <a:t>Clarify </a:t>
            </a:r>
            <a:r>
              <a:rPr b="1" lang="en-ZA" sz="1500">
                <a:solidFill>
                  <a:srgbClr val="0000FF"/>
                </a:solidFill>
              </a:rPr>
              <a:t>expectations</a:t>
            </a:r>
            <a:r>
              <a:rPr b="1" lang="en-ZA" sz="1500">
                <a:solidFill>
                  <a:srgbClr val="0000FF"/>
                </a:solidFill>
              </a:rPr>
              <a:t> for candidates. </a:t>
            </a:r>
            <a:endParaRPr b="1" sz="1500">
              <a:solidFill>
                <a:srgbClr val="0000FF"/>
              </a:solidFill>
            </a:endParaRPr>
          </a:p>
        </p:txBody>
      </p:sp>
      <p:pic>
        <p:nvPicPr>
          <p:cNvPr id="135" name="Google Shape;135;g3941898466e_0_5"/>
          <p:cNvPicPr preferRelativeResize="0"/>
          <p:nvPr/>
        </p:nvPicPr>
        <p:blipFill>
          <a:blip r:embed="rId3">
            <a:alphaModFix/>
          </a:blip>
          <a:stretch>
            <a:fillRect/>
          </a:stretch>
        </p:blipFill>
        <p:spPr>
          <a:xfrm>
            <a:off x="152400" y="3508150"/>
            <a:ext cx="8839200" cy="1944152"/>
          </a:xfrm>
          <a:prstGeom prst="rect">
            <a:avLst/>
          </a:prstGeom>
          <a:noFill/>
          <a:ln>
            <a:noFill/>
          </a:ln>
        </p:spPr>
      </p:pic>
      <p:pic>
        <p:nvPicPr>
          <p:cNvPr id="136" name="Google Shape;136;g3941898466e_0_5"/>
          <p:cNvPicPr preferRelativeResize="0"/>
          <p:nvPr/>
        </p:nvPicPr>
        <p:blipFill>
          <a:blip r:embed="rId4">
            <a:alphaModFix/>
          </a:blip>
          <a:stretch>
            <a:fillRect/>
          </a:stretch>
        </p:blipFill>
        <p:spPr>
          <a:xfrm>
            <a:off x="2431088" y="5562174"/>
            <a:ext cx="3994074" cy="1295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941898466e_0_23"/>
          <p:cNvSpPr/>
          <p:nvPr/>
        </p:nvSpPr>
        <p:spPr>
          <a:xfrm>
            <a:off x="791676" y="261496"/>
            <a:ext cx="7272900" cy="37560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Clr>
                <a:srgbClr val="000000"/>
              </a:buClr>
              <a:buSzPts val="1800"/>
              <a:buFont typeface="Arial"/>
              <a:buNone/>
            </a:pPr>
            <a:r>
              <a:rPr b="1" i="0" lang="en-ZA" sz="1800" u="none" cap="none" strike="noStrike">
                <a:solidFill>
                  <a:schemeClr val="dk1"/>
                </a:solidFill>
                <a:latin typeface="Calibri"/>
                <a:ea typeface="Calibri"/>
                <a:cs typeface="Calibri"/>
                <a:sym typeface="Calibri"/>
              </a:rPr>
              <a:t>Question 2 – Summary</a:t>
            </a:r>
            <a:r>
              <a:rPr b="1" lang="en-ZA" sz="1800">
                <a:solidFill>
                  <a:schemeClr val="dk1"/>
                </a:solidFill>
                <a:latin typeface="Calibri"/>
                <a:ea typeface="Calibri"/>
                <a:cs typeface="Calibri"/>
                <a:sym typeface="Calibri"/>
              </a:rPr>
              <a:t> PROPOSED NEW RUBRIC</a:t>
            </a:r>
            <a:endParaRPr b="0" i="0" sz="1800" u="none" cap="none" strike="noStrike">
              <a:solidFill>
                <a:schemeClr val="dk1"/>
              </a:solidFill>
              <a:latin typeface="Calibri"/>
              <a:ea typeface="Calibri"/>
              <a:cs typeface="Calibri"/>
              <a:sym typeface="Calibri"/>
            </a:endParaRPr>
          </a:p>
        </p:txBody>
      </p:sp>
      <p:pic>
        <p:nvPicPr>
          <p:cNvPr id="142" name="Google Shape;142;g3941898466e_0_23"/>
          <p:cNvPicPr preferRelativeResize="0"/>
          <p:nvPr/>
        </p:nvPicPr>
        <p:blipFill>
          <a:blip r:embed="rId3">
            <a:alphaModFix/>
          </a:blip>
          <a:stretch>
            <a:fillRect/>
          </a:stretch>
        </p:blipFill>
        <p:spPr>
          <a:xfrm>
            <a:off x="152400" y="789496"/>
            <a:ext cx="8621061" cy="59161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4"/>
          <p:cNvSpPr/>
          <p:nvPr/>
        </p:nvSpPr>
        <p:spPr>
          <a:xfrm>
            <a:off x="803150" y="29795"/>
            <a:ext cx="7704900" cy="8388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000"/>
              <a:buFont typeface="Arial"/>
              <a:buNone/>
            </a:pPr>
            <a:r>
              <a:rPr b="1" i="0" lang="en-ZA" sz="2000" u="none" cap="none" strike="noStrike">
                <a:solidFill>
                  <a:schemeClr val="dk1"/>
                </a:solidFill>
                <a:latin typeface="Calibri"/>
                <a:ea typeface="Calibri"/>
                <a:cs typeface="Calibri"/>
                <a:sym typeface="Calibri"/>
              </a:rPr>
              <a:t>Questions 3 and 4—Poetry:</a:t>
            </a:r>
            <a:endParaRPr b="0" i="0" sz="2000" u="none" cap="none" strike="noStrike">
              <a:solidFill>
                <a:schemeClr val="dk1"/>
              </a:solidFill>
              <a:latin typeface="Calibri"/>
              <a:ea typeface="Calibri"/>
              <a:cs typeface="Calibri"/>
              <a:sym typeface="Calibri"/>
            </a:endParaRPr>
          </a:p>
          <a:p>
            <a:pPr indent="-158750" lvl="0" marL="285750" marR="0" rtl="0" algn="l">
              <a:lnSpc>
                <a:spcPct val="107000"/>
              </a:lnSpc>
              <a:spcBef>
                <a:spcPts val="8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48" name="Google Shape;148;p14"/>
          <p:cNvSpPr txBox="1"/>
          <p:nvPr/>
        </p:nvSpPr>
        <p:spPr>
          <a:xfrm>
            <a:off x="0" y="397050"/>
            <a:ext cx="8858400" cy="7175100"/>
          </a:xfrm>
          <a:prstGeom prst="rect">
            <a:avLst/>
          </a:prstGeom>
          <a:noFill/>
          <a:ln>
            <a:noFill/>
          </a:ln>
        </p:spPr>
        <p:txBody>
          <a:bodyPr anchorCtr="0" anchor="t" bIns="91425" lIns="91425" spcFirstLastPara="1" rIns="91425" wrap="square" tIns="91425">
            <a:spAutoFit/>
          </a:bodyPr>
          <a:lstStyle/>
          <a:p>
            <a:pPr indent="-330200" lvl="0" marL="457200" rtl="0" algn="just">
              <a:lnSpc>
                <a:spcPct val="115000"/>
              </a:lnSpc>
              <a:spcBef>
                <a:spcPts val="1200"/>
              </a:spcBef>
              <a:spcAft>
                <a:spcPts val="0"/>
              </a:spcAft>
              <a:buClr>
                <a:schemeClr val="dk1"/>
              </a:buClr>
              <a:buSzPts val="1600"/>
              <a:buChar char="●"/>
            </a:pPr>
            <a:r>
              <a:rPr lang="en-ZA" sz="1900">
                <a:solidFill>
                  <a:schemeClr val="dk1"/>
                </a:solidFill>
              </a:rPr>
              <a:t>Candidates enjoyed this section of the paper, and the feedback from teachers regarding the selection of poems was very positive, with specific reference to the unseen poem.</a:t>
            </a:r>
            <a:endParaRPr sz="1900">
              <a:solidFill>
                <a:schemeClr val="dk1"/>
              </a:solidFill>
            </a:endParaRPr>
          </a:p>
          <a:p>
            <a:pPr indent="-349250" lvl="0" marL="457200" rtl="0" algn="just">
              <a:lnSpc>
                <a:spcPct val="115000"/>
              </a:lnSpc>
              <a:spcBef>
                <a:spcPts val="0"/>
              </a:spcBef>
              <a:spcAft>
                <a:spcPts val="0"/>
              </a:spcAft>
              <a:buClr>
                <a:schemeClr val="dk1"/>
              </a:buClr>
              <a:buSzPts val="1900"/>
              <a:buChar char="●"/>
            </a:pPr>
            <a:r>
              <a:rPr lang="en-ZA" sz="1900">
                <a:solidFill>
                  <a:schemeClr val="dk1"/>
                </a:solidFill>
              </a:rPr>
              <a:t>Candidates are reminded that any viable poetry combination can be asked and that they should not try to guess the combination based on previous examination papers.</a:t>
            </a:r>
            <a:endParaRPr sz="1900">
              <a:solidFill>
                <a:schemeClr val="dk1"/>
              </a:solidFill>
            </a:endParaRPr>
          </a:p>
          <a:p>
            <a:pPr indent="-349250" lvl="0" marL="457200" rtl="0" algn="just">
              <a:lnSpc>
                <a:spcPct val="115000"/>
              </a:lnSpc>
              <a:spcBef>
                <a:spcPts val="0"/>
              </a:spcBef>
              <a:spcAft>
                <a:spcPts val="0"/>
              </a:spcAft>
              <a:buClr>
                <a:schemeClr val="dk1"/>
              </a:buClr>
              <a:buSzPts val="1900"/>
              <a:buChar char="●"/>
            </a:pPr>
            <a:r>
              <a:rPr lang="en-ZA" sz="1900">
                <a:solidFill>
                  <a:schemeClr val="dk1"/>
                </a:solidFill>
              </a:rPr>
              <a:t>Many students did not attempt Question 4 (Unseen Poetry). Candidates are encouraged to attempt every question in the examination paper. Question 4.5 asked the candidates to unpack personification and link it to mood. This question was certainly doable given the candidates understanding. </a:t>
            </a:r>
            <a:endParaRPr sz="1900">
              <a:solidFill>
                <a:schemeClr val="dk1"/>
              </a:solidFill>
            </a:endParaRPr>
          </a:p>
          <a:p>
            <a:pPr indent="-349250" lvl="0" marL="457200" rtl="0" algn="just">
              <a:lnSpc>
                <a:spcPct val="115000"/>
              </a:lnSpc>
              <a:spcBef>
                <a:spcPts val="0"/>
              </a:spcBef>
              <a:spcAft>
                <a:spcPts val="0"/>
              </a:spcAft>
              <a:buClr>
                <a:schemeClr val="dk1"/>
              </a:buClr>
              <a:buSzPts val="1900"/>
              <a:buChar char="●"/>
            </a:pPr>
            <a:r>
              <a:rPr lang="en-ZA" sz="1900">
                <a:solidFill>
                  <a:schemeClr val="dk1"/>
                </a:solidFill>
              </a:rPr>
              <a:t>When dealing with structure of poems, candidates should look for similarities and differences and how they impact meaning. Candidates responded well to Question 3.5 which asked how the poets’ use of the sonnet form explored ‘inner conflict and self-awareness’ and ultimately ‘resolves emotional struggles. Even those candidates who could not unpack the sonnet forms were able to achieve well by linking the quotations to the thematic meanings of the poems. </a:t>
            </a:r>
            <a:endParaRPr sz="1900">
              <a:solidFill>
                <a:schemeClr val="dk1"/>
              </a:solidFill>
            </a:endParaRPr>
          </a:p>
          <a:p>
            <a:pPr indent="-349250" lvl="0" marL="457200" rtl="0" algn="just">
              <a:lnSpc>
                <a:spcPct val="115000"/>
              </a:lnSpc>
              <a:spcBef>
                <a:spcPts val="0"/>
              </a:spcBef>
              <a:spcAft>
                <a:spcPts val="0"/>
              </a:spcAft>
              <a:buClr>
                <a:schemeClr val="dk1"/>
              </a:buClr>
              <a:buSzPts val="1900"/>
              <a:buChar char="●"/>
            </a:pPr>
            <a:r>
              <a:rPr lang="en-ZA" sz="1900">
                <a:solidFill>
                  <a:schemeClr val="dk1"/>
                </a:solidFill>
              </a:rPr>
              <a:t>CAT! CAT! CAT! CAT!</a:t>
            </a:r>
            <a:endParaRPr sz="1900">
              <a:solidFill>
                <a:schemeClr val="dk1"/>
              </a:solidFill>
            </a:endParaRPr>
          </a:p>
          <a:p>
            <a:pPr indent="0" lvl="0" marL="457200" marR="0" rtl="0" algn="just">
              <a:lnSpc>
                <a:spcPct val="115000"/>
              </a:lnSpc>
              <a:spcBef>
                <a:spcPts val="1200"/>
              </a:spcBef>
              <a:spcAft>
                <a:spcPts val="0"/>
              </a:spcAft>
              <a:buNone/>
            </a:pPr>
            <a:r>
              <a:t/>
            </a:r>
            <a:endParaRPr sz="1900">
              <a:solidFill>
                <a:schemeClr val="dk1"/>
              </a:solidFill>
            </a:endParaRPr>
          </a:p>
          <a:p>
            <a:pPr indent="0" lvl="0" marL="457200" marR="0" rtl="0" algn="l">
              <a:lnSpc>
                <a:spcPct val="100000"/>
              </a:lnSpc>
              <a:spcBef>
                <a:spcPts val="1200"/>
              </a:spcBef>
              <a:spcAft>
                <a:spcPts val="0"/>
              </a:spcAft>
              <a:buClr>
                <a:srgbClr val="000000"/>
              </a:buClr>
              <a:buSzPts val="1800"/>
              <a:buFont typeface="Arial"/>
              <a:buNone/>
            </a:pPr>
            <a:r>
              <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5"/>
          <p:cNvSpPr/>
          <p:nvPr/>
        </p:nvSpPr>
        <p:spPr>
          <a:xfrm>
            <a:off x="683571" y="164198"/>
            <a:ext cx="7776900" cy="3756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1" i="0" lang="en-ZA" sz="1800" u="none" cap="none" strike="noStrike">
                <a:solidFill>
                  <a:schemeClr val="dk1"/>
                </a:solidFill>
                <a:latin typeface="Calibri"/>
                <a:ea typeface="Calibri"/>
                <a:cs typeface="Calibri"/>
                <a:sym typeface="Calibri"/>
              </a:rPr>
              <a:t>Question 5—Visual and Critical Literacy:</a:t>
            </a:r>
            <a:endParaRPr b="0" i="0" sz="1800" u="none" cap="none" strike="noStrike">
              <a:solidFill>
                <a:schemeClr val="dk1"/>
              </a:solidFill>
              <a:latin typeface="Calibri"/>
              <a:ea typeface="Calibri"/>
              <a:cs typeface="Calibri"/>
              <a:sym typeface="Calibri"/>
            </a:endParaRPr>
          </a:p>
        </p:txBody>
      </p:sp>
      <p:sp>
        <p:nvSpPr>
          <p:cNvPr id="154" name="Google Shape;154;p15"/>
          <p:cNvSpPr txBox="1"/>
          <p:nvPr/>
        </p:nvSpPr>
        <p:spPr>
          <a:xfrm>
            <a:off x="119150" y="539800"/>
            <a:ext cx="8791500" cy="5522100"/>
          </a:xfrm>
          <a:prstGeom prst="rect">
            <a:avLst/>
          </a:prstGeom>
          <a:noFill/>
          <a:ln>
            <a:noFill/>
          </a:ln>
        </p:spPr>
        <p:txBody>
          <a:bodyPr anchorCtr="0" anchor="t" bIns="91425" lIns="91425" spcFirstLastPara="1" rIns="91425" wrap="square" tIns="91425">
            <a:spAutoFit/>
          </a:bodyPr>
          <a:lstStyle/>
          <a:p>
            <a:pPr indent="-349250" lvl="0" marL="457200" rtl="0" algn="just">
              <a:lnSpc>
                <a:spcPct val="115000"/>
              </a:lnSpc>
              <a:spcBef>
                <a:spcPts val="1200"/>
              </a:spcBef>
              <a:spcAft>
                <a:spcPts val="0"/>
              </a:spcAft>
              <a:buClr>
                <a:srgbClr val="202124"/>
              </a:buClr>
              <a:buSzPts val="1900"/>
              <a:buChar char="●"/>
            </a:pPr>
            <a:r>
              <a:rPr lang="en-ZA" sz="1900">
                <a:solidFill>
                  <a:schemeClr val="dk1"/>
                </a:solidFill>
              </a:rPr>
              <a:t>Candidates are encouraged to spend more time preparing for these types of questions, and perhaps engaging with a word list or glossary of sorts may be helpful in growing their examination vocabulary.   </a:t>
            </a:r>
            <a:endParaRPr sz="1900">
              <a:solidFill>
                <a:schemeClr val="dk1"/>
              </a:solidFill>
            </a:endParaRPr>
          </a:p>
          <a:p>
            <a:pPr indent="-349250" lvl="0" marL="457200" rtl="0" algn="just">
              <a:lnSpc>
                <a:spcPct val="115000"/>
              </a:lnSpc>
              <a:spcBef>
                <a:spcPts val="0"/>
              </a:spcBef>
              <a:spcAft>
                <a:spcPts val="0"/>
              </a:spcAft>
              <a:buClr>
                <a:srgbClr val="202124"/>
              </a:buClr>
              <a:buSzPts val="1900"/>
              <a:buChar char="●"/>
            </a:pPr>
            <a:r>
              <a:rPr lang="en-ZA" sz="1900">
                <a:solidFill>
                  <a:schemeClr val="dk1"/>
                </a:solidFill>
              </a:rPr>
              <a:t>Students must be reminded to check the text to which the question refers (some used the incorrect text in their responses) and to number their responses exactly as the question paper numbers them.</a:t>
            </a:r>
            <a:endParaRPr sz="1900">
              <a:solidFill>
                <a:schemeClr val="dk1"/>
              </a:solidFill>
            </a:endParaRPr>
          </a:p>
          <a:p>
            <a:pPr indent="-349250" lvl="0" marL="457200" rtl="0" algn="just">
              <a:lnSpc>
                <a:spcPct val="115000"/>
              </a:lnSpc>
              <a:spcBef>
                <a:spcPts val="0"/>
              </a:spcBef>
              <a:spcAft>
                <a:spcPts val="0"/>
              </a:spcAft>
              <a:buClr>
                <a:srgbClr val="202124"/>
              </a:buClr>
              <a:buSzPts val="1900"/>
              <a:buChar char="●"/>
            </a:pPr>
            <a:r>
              <a:rPr lang="en-ZA" sz="1900">
                <a:solidFill>
                  <a:schemeClr val="dk1"/>
                </a:solidFill>
              </a:rPr>
              <a:t>As with the comprehension, the language questions added to the Critical and Visual Literacy section were dealt with well.</a:t>
            </a:r>
            <a:endParaRPr sz="1900">
              <a:solidFill>
                <a:schemeClr val="dk1"/>
              </a:solidFill>
            </a:endParaRPr>
          </a:p>
          <a:p>
            <a:pPr indent="-349250" lvl="0" marL="457200" rtl="0" algn="just">
              <a:lnSpc>
                <a:spcPct val="115000"/>
              </a:lnSpc>
              <a:spcBef>
                <a:spcPts val="0"/>
              </a:spcBef>
              <a:spcAft>
                <a:spcPts val="0"/>
              </a:spcAft>
              <a:buClr>
                <a:srgbClr val="202124"/>
              </a:buClr>
              <a:buSzPts val="1900"/>
              <a:buChar char="●"/>
            </a:pPr>
            <a:r>
              <a:rPr lang="en-ZA" sz="1900">
                <a:solidFill>
                  <a:schemeClr val="dk1"/>
                </a:solidFill>
              </a:rPr>
              <a:t>Candidates must understand the difference between visual and verbal details and their impact on advertisements. Visual details refers to the pictures, while verbal details refer to the specific words.</a:t>
            </a:r>
            <a:endParaRPr sz="1900">
              <a:solidFill>
                <a:schemeClr val="dk1"/>
              </a:solidFill>
            </a:endParaRPr>
          </a:p>
          <a:p>
            <a:pPr indent="-349250" lvl="0" marL="457200" rtl="0" algn="just">
              <a:lnSpc>
                <a:spcPct val="115000"/>
              </a:lnSpc>
              <a:spcBef>
                <a:spcPts val="0"/>
              </a:spcBef>
              <a:spcAft>
                <a:spcPts val="0"/>
              </a:spcAft>
              <a:buClr>
                <a:srgbClr val="202124"/>
              </a:buClr>
              <a:buSzPts val="1900"/>
              <a:buChar char="●"/>
            </a:pPr>
            <a:r>
              <a:rPr lang="en-ZA" sz="1900">
                <a:solidFill>
                  <a:schemeClr val="dk1"/>
                </a:solidFill>
              </a:rPr>
              <a:t>When answering questions about ‘layout’ candidates must refer to the placement or positioning of the specific visual and verbal details. Their answers might include (centred, background, foreground, left etc.). In ‘layout’ questions, candidates are not required to the unpack the specific diction or visuals, but rather their placement.</a:t>
            </a:r>
            <a:endParaRPr sz="19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p:nvPr/>
        </p:nvSpPr>
        <p:spPr>
          <a:xfrm>
            <a:off x="395536" y="620689"/>
            <a:ext cx="7704856" cy="37555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1" i="0" lang="en-ZA" sz="1800" u="none" cap="none" strike="noStrike">
                <a:solidFill>
                  <a:schemeClr val="dk1"/>
                </a:solidFill>
                <a:latin typeface="Calibri"/>
                <a:ea typeface="Calibri"/>
                <a:cs typeface="Calibri"/>
                <a:sym typeface="Calibri"/>
              </a:rPr>
              <a:t>Question 6 – Language</a:t>
            </a:r>
            <a:endParaRPr b="0" i="0" sz="1800" u="none" cap="none" strike="noStrike">
              <a:solidFill>
                <a:schemeClr val="dk1"/>
              </a:solidFill>
              <a:latin typeface="Calibri"/>
              <a:ea typeface="Calibri"/>
              <a:cs typeface="Calibri"/>
              <a:sym typeface="Calibri"/>
            </a:endParaRPr>
          </a:p>
        </p:txBody>
      </p:sp>
      <p:sp>
        <p:nvSpPr>
          <p:cNvPr id="160" name="Google Shape;160;p16"/>
          <p:cNvSpPr txBox="1"/>
          <p:nvPr/>
        </p:nvSpPr>
        <p:spPr>
          <a:xfrm>
            <a:off x="0" y="1092200"/>
            <a:ext cx="8910000" cy="5130300"/>
          </a:xfrm>
          <a:prstGeom prst="rect">
            <a:avLst/>
          </a:prstGeom>
          <a:noFill/>
          <a:ln>
            <a:noFill/>
          </a:ln>
        </p:spPr>
        <p:txBody>
          <a:bodyPr anchorCtr="0" anchor="t" bIns="91425" lIns="91425" spcFirstLastPara="1" rIns="91425" wrap="square" tIns="91425">
            <a:spAutoFit/>
          </a:bodyPr>
          <a:lstStyle/>
          <a:p>
            <a:pPr indent="-368300" lvl="0" marL="457200" rtl="0" algn="just">
              <a:lnSpc>
                <a:spcPct val="115000"/>
              </a:lnSpc>
              <a:spcBef>
                <a:spcPts val="1200"/>
              </a:spcBef>
              <a:spcAft>
                <a:spcPts val="0"/>
              </a:spcAft>
              <a:buClr>
                <a:schemeClr val="dk1"/>
              </a:buClr>
              <a:buSzPts val="2200"/>
              <a:buChar char="●"/>
            </a:pPr>
            <a:r>
              <a:rPr lang="en-ZA" sz="2000">
                <a:solidFill>
                  <a:schemeClr val="dk1"/>
                </a:solidFill>
              </a:rPr>
              <a:t>It seems that more candidates than in previous years completed the entire question paper, as Question 6 seemed to have been completed successfully. Question 6 combined the basics of grammar with a more nuanced understanding of tautology and singular/plural words (phenomenon/phenomena).</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ZA" sz="2000">
                <a:solidFill>
                  <a:schemeClr val="dk1"/>
                </a:solidFill>
              </a:rPr>
              <a:t>It is possible to achieve high marks for this question – if the candidates prepare thoroughly. This section is linked to the learning aspect of the paper.</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ZA" sz="2000">
                <a:solidFill>
                  <a:schemeClr val="dk1"/>
                </a:solidFill>
              </a:rPr>
              <a:t>Candidates are also reminded that language-styled questions are not limited to this section of the question paper but can, in fact, be incorporated into other questions (as seen in 2025).</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ZA" sz="2000">
                <a:solidFill>
                  <a:schemeClr val="dk1"/>
                </a:solidFill>
              </a:rPr>
              <a:t>Students must be more systematic in their interrogation of the language questions. Some elements of the questions were ignored (or students did not know their theory). </a:t>
            </a:r>
            <a:endParaRPr sz="20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p:nvPr/>
        </p:nvSpPr>
        <p:spPr>
          <a:xfrm>
            <a:off x="539552" y="188640"/>
            <a:ext cx="7848872" cy="37555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1" i="0" lang="en-ZA" sz="1800" u="none" cap="none" strike="noStrike">
                <a:solidFill>
                  <a:schemeClr val="dk1"/>
                </a:solidFill>
                <a:latin typeface="Calibri"/>
                <a:ea typeface="Calibri"/>
                <a:cs typeface="Calibri"/>
                <a:sym typeface="Calibri"/>
              </a:rPr>
              <a:t>Final Remarks:</a:t>
            </a:r>
            <a:endParaRPr b="0" i="0" sz="1800" u="none" cap="none" strike="noStrike">
              <a:solidFill>
                <a:schemeClr val="dk1"/>
              </a:solidFill>
              <a:latin typeface="Calibri"/>
              <a:ea typeface="Calibri"/>
              <a:cs typeface="Calibri"/>
              <a:sym typeface="Calibri"/>
            </a:endParaRPr>
          </a:p>
        </p:txBody>
      </p:sp>
      <p:sp>
        <p:nvSpPr>
          <p:cNvPr id="166" name="Google Shape;166;p17"/>
          <p:cNvSpPr txBox="1"/>
          <p:nvPr/>
        </p:nvSpPr>
        <p:spPr>
          <a:xfrm>
            <a:off x="8988" y="564200"/>
            <a:ext cx="8910000" cy="5522100"/>
          </a:xfrm>
          <a:prstGeom prst="rect">
            <a:avLst/>
          </a:prstGeom>
          <a:noFill/>
          <a:ln>
            <a:noFill/>
          </a:ln>
        </p:spPr>
        <p:txBody>
          <a:bodyPr anchorCtr="0" anchor="t" bIns="91425" lIns="91425" spcFirstLastPara="1" rIns="91425" wrap="square" tIns="91425">
            <a:spAutoFit/>
          </a:bodyPr>
          <a:lstStyle/>
          <a:p>
            <a:pPr indent="-349250" lvl="0" marL="457200" marR="0" rtl="0" algn="just">
              <a:lnSpc>
                <a:spcPct val="115000"/>
              </a:lnSpc>
              <a:spcBef>
                <a:spcPts val="0"/>
              </a:spcBef>
              <a:spcAft>
                <a:spcPts val="0"/>
              </a:spcAft>
              <a:buClr>
                <a:srgbClr val="000000"/>
              </a:buClr>
              <a:buSzPts val="1900"/>
              <a:buFont typeface="Arial"/>
              <a:buChar char="●"/>
            </a:pPr>
            <a:r>
              <a:rPr lang="en-ZA" sz="1900">
                <a:solidFill>
                  <a:schemeClr val="dk1"/>
                </a:solidFill>
              </a:rPr>
              <a:t>Please continue to incorporate the use of the Generic Descriptors in classroom teaching.</a:t>
            </a:r>
            <a:endParaRPr sz="1900">
              <a:solidFill>
                <a:schemeClr val="dk1"/>
              </a:solidFill>
            </a:endParaRPr>
          </a:p>
          <a:p>
            <a:pPr indent="-349250" lvl="0" marL="457200" rtl="0" algn="just">
              <a:lnSpc>
                <a:spcPct val="115000"/>
              </a:lnSpc>
              <a:spcBef>
                <a:spcPts val="0"/>
              </a:spcBef>
              <a:spcAft>
                <a:spcPts val="0"/>
              </a:spcAft>
              <a:buSzPts val="1900"/>
              <a:buChar char="●"/>
            </a:pPr>
            <a:r>
              <a:rPr lang="en-ZA" sz="1900">
                <a:solidFill>
                  <a:schemeClr val="dk1"/>
                </a:solidFill>
              </a:rPr>
              <a:t>It was encouraging to see candidates deal with 3,4- and 5-mark questions successfully, but it is suggested that candidates identify a strategy for answering 2-mark questions. Many candidates overwrote answers for 2 marks.</a:t>
            </a:r>
            <a:endParaRPr sz="1900">
              <a:solidFill>
                <a:schemeClr val="dk1"/>
              </a:solidFill>
            </a:endParaRPr>
          </a:p>
          <a:p>
            <a:pPr indent="-349250" lvl="0" marL="457200" rtl="0" algn="just">
              <a:lnSpc>
                <a:spcPct val="115000"/>
              </a:lnSpc>
              <a:spcBef>
                <a:spcPts val="0"/>
              </a:spcBef>
              <a:spcAft>
                <a:spcPts val="0"/>
              </a:spcAft>
              <a:buSzPts val="1900"/>
              <a:buChar char="●"/>
            </a:pPr>
            <a:r>
              <a:rPr lang="en-ZA" sz="1900">
                <a:solidFill>
                  <a:schemeClr val="dk1"/>
                </a:solidFill>
              </a:rPr>
              <a:t>Please guide weaker candidates with regards to the layout of the paper. In some cases, candidates muddled their questions up a lot, making the sequence of their responses very difficult to follow. Schools are encouraged to mirror the final Paper 1 examination structure asap in the FET phase.</a:t>
            </a:r>
            <a:endParaRPr sz="1900">
              <a:solidFill>
                <a:schemeClr val="dk1"/>
              </a:solidFill>
            </a:endParaRPr>
          </a:p>
          <a:p>
            <a:pPr indent="-349250" lvl="0" marL="457200" rtl="0" algn="just">
              <a:lnSpc>
                <a:spcPct val="115000"/>
              </a:lnSpc>
              <a:spcBef>
                <a:spcPts val="0"/>
              </a:spcBef>
              <a:spcAft>
                <a:spcPts val="0"/>
              </a:spcAft>
              <a:buSzPts val="1900"/>
              <a:buChar char="●"/>
            </a:pPr>
            <a:r>
              <a:rPr lang="en-ZA" sz="1900">
                <a:solidFill>
                  <a:schemeClr val="dk1"/>
                </a:solidFill>
              </a:rPr>
              <a:t>As far as possible, candidates must answer questions in their own words and not lift from the question or the text. There were instances of candidates simply rewording the question in their responses, which implied a lack of understanding of the question. Please also encourage candidates to see that intertextual references can come from anywhere and can be included in any aspect of the question paper.</a:t>
            </a:r>
            <a:endParaRPr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941898466e_0_45"/>
          <p:cNvSpPr/>
          <p:nvPr/>
        </p:nvSpPr>
        <p:spPr>
          <a:xfrm>
            <a:off x="539552" y="188640"/>
            <a:ext cx="7848900" cy="37560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Clr>
                <a:srgbClr val="000000"/>
              </a:buClr>
              <a:buSzPts val="1800"/>
              <a:buFont typeface="Arial"/>
              <a:buNone/>
            </a:pPr>
            <a:r>
              <a:rPr b="1" i="0" lang="en-ZA" sz="1800" u="none" cap="none" strike="noStrike">
                <a:solidFill>
                  <a:schemeClr val="dk1"/>
                </a:solidFill>
                <a:latin typeface="Calibri"/>
                <a:ea typeface="Calibri"/>
                <a:cs typeface="Calibri"/>
                <a:sym typeface="Calibri"/>
              </a:rPr>
              <a:t>Final Remarks:</a:t>
            </a:r>
            <a:endParaRPr b="0" i="0" sz="1800" u="none" cap="none" strike="noStrike">
              <a:solidFill>
                <a:schemeClr val="dk1"/>
              </a:solidFill>
              <a:latin typeface="Calibri"/>
              <a:ea typeface="Calibri"/>
              <a:cs typeface="Calibri"/>
              <a:sym typeface="Calibri"/>
            </a:endParaRPr>
          </a:p>
        </p:txBody>
      </p:sp>
      <p:sp>
        <p:nvSpPr>
          <p:cNvPr id="172" name="Google Shape;172;g3941898466e_0_45"/>
          <p:cNvSpPr txBox="1"/>
          <p:nvPr/>
        </p:nvSpPr>
        <p:spPr>
          <a:xfrm>
            <a:off x="8988" y="564200"/>
            <a:ext cx="8910000" cy="4535400"/>
          </a:xfrm>
          <a:prstGeom prst="rect">
            <a:avLst/>
          </a:prstGeom>
          <a:noFill/>
          <a:ln>
            <a:noFill/>
          </a:ln>
        </p:spPr>
        <p:txBody>
          <a:bodyPr anchorCtr="0" anchor="t" bIns="91425" lIns="91425" spcFirstLastPara="1" rIns="91425" wrap="square" tIns="91425">
            <a:spAutoFit/>
          </a:bodyPr>
          <a:lstStyle/>
          <a:p>
            <a:pPr indent="-349250" lvl="0" marL="457200" rtl="0" algn="just">
              <a:lnSpc>
                <a:spcPct val="115000"/>
              </a:lnSpc>
              <a:spcBef>
                <a:spcPts val="1200"/>
              </a:spcBef>
              <a:spcAft>
                <a:spcPts val="0"/>
              </a:spcAft>
              <a:buSzPts val="1900"/>
              <a:buChar char="●"/>
            </a:pPr>
            <a:r>
              <a:rPr lang="en-ZA" sz="1900">
                <a:solidFill>
                  <a:schemeClr val="dk1"/>
                </a:solidFill>
              </a:rPr>
              <a:t>Encourage students to look beyond the silos and engage positively with the questions asked.</a:t>
            </a:r>
            <a:endParaRPr sz="1900">
              <a:solidFill>
                <a:schemeClr val="dk1"/>
              </a:solidFill>
            </a:endParaRPr>
          </a:p>
          <a:p>
            <a:pPr indent="-349250" lvl="0" marL="457200" rtl="0" algn="just">
              <a:lnSpc>
                <a:spcPct val="115000"/>
              </a:lnSpc>
              <a:spcBef>
                <a:spcPts val="0"/>
              </a:spcBef>
              <a:spcAft>
                <a:spcPts val="0"/>
              </a:spcAft>
              <a:buSzPts val="1900"/>
              <a:buChar char="●"/>
            </a:pPr>
            <a:r>
              <a:rPr lang="en-ZA" sz="1900">
                <a:solidFill>
                  <a:schemeClr val="dk1"/>
                </a:solidFill>
              </a:rPr>
              <a:t>Thank you very much to all teachers for the wonderful work that is being done in the classroom. It is evident that there is a deep commitment to the learners in our care and that they are in very good hands. </a:t>
            </a:r>
            <a:endParaRPr sz="1900">
              <a:solidFill>
                <a:schemeClr val="dk1"/>
              </a:solidFill>
            </a:endParaRPr>
          </a:p>
          <a:p>
            <a:pPr indent="-349250" lvl="0" marL="457200" rtl="0" algn="just">
              <a:lnSpc>
                <a:spcPct val="115000"/>
              </a:lnSpc>
              <a:spcBef>
                <a:spcPts val="0"/>
              </a:spcBef>
              <a:spcAft>
                <a:spcPts val="0"/>
              </a:spcAft>
              <a:buSzPts val="1900"/>
              <a:buChar char="●"/>
            </a:pPr>
            <a:r>
              <a:rPr lang="en-ZA" sz="1900">
                <a:solidFill>
                  <a:schemeClr val="dk1"/>
                </a:solidFill>
              </a:rPr>
              <a:t>Thank you to the markers who marked the 2025 examination. It is truly rewarding to hear the positive comments from the new markers and to welcome back those who mark year in and year out.</a:t>
            </a:r>
            <a:endParaRPr sz="1900">
              <a:solidFill>
                <a:schemeClr val="dk1"/>
              </a:solidFill>
            </a:endParaRPr>
          </a:p>
          <a:p>
            <a:pPr indent="0" lvl="0" marL="457200" rtl="0" algn="just">
              <a:lnSpc>
                <a:spcPct val="115000"/>
              </a:lnSpc>
              <a:spcBef>
                <a:spcPts val="1200"/>
              </a:spcBef>
              <a:spcAft>
                <a:spcPts val="0"/>
              </a:spcAft>
              <a:buNone/>
            </a:pPr>
            <a:r>
              <a:rPr lang="en-ZA" sz="1900">
                <a:solidFill>
                  <a:schemeClr val="dk1"/>
                </a:solidFill>
              </a:rPr>
              <a:t> </a:t>
            </a:r>
            <a:endParaRPr sz="1900">
              <a:solidFill>
                <a:schemeClr val="dk1"/>
              </a:solidFill>
            </a:endParaRPr>
          </a:p>
          <a:p>
            <a:pPr indent="0" lvl="0" marL="457200" marR="0" rtl="0" algn="just">
              <a:lnSpc>
                <a:spcPct val="115000"/>
              </a:lnSpc>
              <a:spcBef>
                <a:spcPts val="1200"/>
              </a:spcBef>
              <a:spcAft>
                <a:spcPts val="0"/>
              </a:spcAft>
              <a:buNone/>
            </a:pPr>
            <a:r>
              <a:rPr lang="en-ZA" sz="2000">
                <a:solidFill>
                  <a:schemeClr val="dk1"/>
                </a:solidFill>
              </a:rPr>
              <a:t>What to expect in 2026?</a:t>
            </a:r>
            <a:endParaRPr sz="2000">
              <a:solidFill>
                <a:schemeClr val="dk1"/>
              </a:solidFill>
            </a:endParaRPr>
          </a:p>
          <a:p>
            <a:pPr indent="-355600" lvl="0" marL="457200" marR="0" rtl="0" algn="just">
              <a:lnSpc>
                <a:spcPct val="115000"/>
              </a:lnSpc>
              <a:spcBef>
                <a:spcPts val="0"/>
              </a:spcBef>
              <a:spcAft>
                <a:spcPts val="0"/>
              </a:spcAft>
              <a:buClr>
                <a:schemeClr val="dk1"/>
              </a:buClr>
              <a:buSzPts val="2000"/>
              <a:buChar char="●"/>
            </a:pPr>
            <a:r>
              <a:rPr lang="en-ZA" sz="2000">
                <a:solidFill>
                  <a:schemeClr val="dk1"/>
                </a:solidFill>
              </a:rPr>
              <a:t>Consistency and fairness in terms of questioning style.</a:t>
            </a:r>
            <a:endParaRPr sz="2000">
              <a:solidFill>
                <a:schemeClr val="dk1"/>
              </a:solidFill>
            </a:endParaRPr>
          </a:p>
          <a:p>
            <a:pPr indent="-355600" lvl="0" marL="457200" marR="0" rtl="0" algn="just">
              <a:lnSpc>
                <a:spcPct val="115000"/>
              </a:lnSpc>
              <a:spcBef>
                <a:spcPts val="0"/>
              </a:spcBef>
              <a:spcAft>
                <a:spcPts val="0"/>
              </a:spcAft>
              <a:buClr>
                <a:schemeClr val="dk1"/>
              </a:buClr>
              <a:buSzPts val="2000"/>
              <a:buChar char="●"/>
            </a:pPr>
            <a:r>
              <a:rPr lang="en-ZA" sz="2000">
                <a:solidFill>
                  <a:schemeClr val="dk1"/>
                </a:solidFill>
              </a:rPr>
              <a:t>Asking students to think beyond silos.</a:t>
            </a:r>
            <a:endParaRPr sz="20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type="title"/>
          </p:nvPr>
        </p:nvSpPr>
        <p:spPr>
          <a:xfrm>
            <a:off x="323528" y="2492896"/>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ZA"/>
              <a:t>PAPER 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2bc7bd1c4a_0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Overview of the Paper</a:t>
            </a:r>
            <a:endParaRPr/>
          </a:p>
        </p:txBody>
      </p:sp>
      <p:sp>
        <p:nvSpPr>
          <p:cNvPr id="184" name="Google Shape;184;g32bc7bd1c4a_0_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1200"/>
              </a:spcBef>
              <a:spcAft>
                <a:spcPts val="0"/>
              </a:spcAft>
              <a:buSzPts val="1100"/>
              <a:buChar char="●"/>
            </a:pPr>
            <a:r>
              <a:rPr lang="en-ZA" sz="2200"/>
              <a:t>Structure remained </a:t>
            </a:r>
            <a:r>
              <a:rPr b="1" lang="en-ZA" sz="2200"/>
              <a:t>consistent</a:t>
            </a:r>
            <a:r>
              <a:rPr lang="en-ZA" sz="2200"/>
              <a:t> with previous years</a:t>
            </a:r>
            <a:endParaRPr sz="2200"/>
          </a:p>
          <a:p>
            <a:pPr indent="-361950" lvl="0" marL="457200" rtl="0" algn="l">
              <a:lnSpc>
                <a:spcPct val="115000"/>
              </a:lnSpc>
              <a:spcBef>
                <a:spcPts val="0"/>
              </a:spcBef>
              <a:spcAft>
                <a:spcPts val="0"/>
              </a:spcAft>
              <a:buSzPts val="2100"/>
              <a:buChar char="●"/>
            </a:pPr>
            <a:r>
              <a:rPr lang="en-ZA" sz="2200"/>
              <a:t>Emphasis on </a:t>
            </a:r>
            <a:r>
              <a:rPr b="1" lang="en-ZA" sz="2200"/>
              <a:t>broad, interpretive questions</a:t>
            </a:r>
            <a:r>
              <a:rPr lang="en-ZA" sz="2200"/>
              <a:t> to encourage critical thinking</a:t>
            </a:r>
            <a:endParaRPr sz="2200"/>
          </a:p>
          <a:p>
            <a:pPr indent="-361950" lvl="0" marL="457200" rtl="0" algn="l">
              <a:lnSpc>
                <a:spcPct val="115000"/>
              </a:lnSpc>
              <a:spcBef>
                <a:spcPts val="0"/>
              </a:spcBef>
              <a:spcAft>
                <a:spcPts val="0"/>
              </a:spcAft>
              <a:buSzPts val="2100"/>
              <a:buChar char="●"/>
            </a:pPr>
            <a:r>
              <a:rPr b="1" lang="en-ZA" sz="2200"/>
              <a:t>Othello</a:t>
            </a:r>
            <a:r>
              <a:rPr lang="en-ZA" sz="2200"/>
              <a:t> replaced </a:t>
            </a:r>
            <a:r>
              <a:rPr b="1" lang="en-ZA" sz="2200"/>
              <a:t>The Tempest</a:t>
            </a:r>
            <a:r>
              <a:rPr lang="en-ZA" sz="2200"/>
              <a:t> in the Shakespearean section</a:t>
            </a:r>
            <a:endParaRPr sz="2200"/>
          </a:p>
          <a:p>
            <a:pPr indent="-361950" lvl="0" marL="457200" rtl="0" algn="l">
              <a:lnSpc>
                <a:spcPct val="115000"/>
              </a:lnSpc>
              <a:spcBef>
                <a:spcPts val="0"/>
              </a:spcBef>
              <a:spcAft>
                <a:spcPts val="0"/>
              </a:spcAft>
              <a:buSzPts val="2100"/>
              <a:buChar char="●"/>
            </a:pPr>
            <a:r>
              <a:rPr b="1" lang="en-ZA" sz="2200"/>
              <a:t>The Handmaid’s Tale</a:t>
            </a:r>
            <a:r>
              <a:rPr lang="en-ZA" sz="2200"/>
              <a:t> was the more popular novel choice (</a:t>
            </a:r>
            <a:r>
              <a:rPr b="1" lang="en-ZA" sz="2200"/>
              <a:t>65% of centres</a:t>
            </a:r>
            <a:r>
              <a:rPr lang="en-ZA" sz="2200"/>
              <a:t>)</a:t>
            </a:r>
            <a:endParaRPr sz="2200"/>
          </a:p>
          <a:p>
            <a:pPr indent="-361950" lvl="0" marL="457200" rtl="0" algn="l">
              <a:lnSpc>
                <a:spcPct val="115000"/>
              </a:lnSpc>
              <a:spcBef>
                <a:spcPts val="0"/>
              </a:spcBef>
              <a:spcAft>
                <a:spcPts val="0"/>
              </a:spcAft>
              <a:buSzPts val="2100"/>
              <a:buChar char="●"/>
            </a:pPr>
            <a:r>
              <a:rPr b="1" lang="en-ZA" sz="2200"/>
              <a:t>Transactional Writing</a:t>
            </a:r>
            <a:r>
              <a:rPr lang="en-ZA" sz="2200"/>
              <a:t> included:</a:t>
            </a:r>
            <a:endParaRPr sz="2200"/>
          </a:p>
          <a:p>
            <a:pPr indent="-361950" lvl="1" marL="914400" rtl="0" algn="l">
              <a:lnSpc>
                <a:spcPct val="115000"/>
              </a:lnSpc>
              <a:spcBef>
                <a:spcPts val="0"/>
              </a:spcBef>
              <a:spcAft>
                <a:spcPts val="0"/>
              </a:spcAft>
              <a:buSzPts val="2100"/>
              <a:buChar char="○"/>
            </a:pPr>
            <a:r>
              <a:rPr b="1" lang="en-ZA" sz="2200"/>
              <a:t>Open Letter (Compulsory)</a:t>
            </a:r>
            <a:endParaRPr b="1" sz="2200"/>
          </a:p>
          <a:p>
            <a:pPr indent="-361950" lvl="1" marL="914400" rtl="0" algn="l">
              <a:lnSpc>
                <a:spcPct val="115000"/>
              </a:lnSpc>
              <a:spcBef>
                <a:spcPts val="0"/>
              </a:spcBef>
              <a:spcAft>
                <a:spcPts val="0"/>
              </a:spcAft>
              <a:buSzPts val="2100"/>
              <a:buChar char="○"/>
            </a:pPr>
            <a:r>
              <a:rPr b="1" lang="en-ZA" sz="2200"/>
              <a:t>Email vs. Blog</a:t>
            </a:r>
            <a:r>
              <a:rPr lang="en-ZA" sz="2200"/>
              <a:t> (Blog less popular but scored higher)</a:t>
            </a:r>
            <a:endParaRPr sz="2200"/>
          </a:p>
          <a:p>
            <a:pPr indent="0" lvl="0" marL="0" rtl="0" algn="l">
              <a:lnSpc>
                <a:spcPct val="100000"/>
              </a:lnSpc>
              <a:spcBef>
                <a:spcPts val="1200"/>
              </a:spcBef>
              <a:spcAft>
                <a:spcPts val="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2bc7bd1c4a_0_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Shakespeare: </a:t>
            </a:r>
            <a:r>
              <a:rPr i="1" lang="en-ZA"/>
              <a:t>Othello</a:t>
            </a:r>
            <a:endParaRPr i="1"/>
          </a:p>
        </p:txBody>
      </p:sp>
      <p:sp>
        <p:nvSpPr>
          <p:cNvPr id="191" name="Google Shape;191;g32bc7bd1c4a_0_7"/>
          <p:cNvSpPr txBox="1"/>
          <p:nvPr>
            <p:ph idx="1" type="body"/>
          </p:nvPr>
        </p:nvSpPr>
        <p:spPr>
          <a:xfrm>
            <a:off x="457200" y="1297150"/>
            <a:ext cx="8229600" cy="5268900"/>
          </a:xfrm>
          <a:prstGeom prst="rect">
            <a:avLst/>
          </a:prstGeom>
          <a:noFill/>
          <a:ln>
            <a:noFill/>
          </a:ln>
        </p:spPr>
        <p:txBody>
          <a:bodyPr anchorCtr="0" anchor="t" bIns="45700" lIns="91425" spcFirstLastPara="1" rIns="91425" wrap="square" tIns="45700">
            <a:noAutofit/>
          </a:bodyPr>
          <a:lstStyle/>
          <a:p>
            <a:pPr indent="-336550" lvl="0" marL="457200" rtl="0" algn="l">
              <a:lnSpc>
                <a:spcPct val="115000"/>
              </a:lnSpc>
              <a:spcBef>
                <a:spcPts val="1200"/>
              </a:spcBef>
              <a:spcAft>
                <a:spcPts val="0"/>
              </a:spcAft>
              <a:buSzPts val="1700"/>
              <a:buChar char="●"/>
            </a:pPr>
            <a:r>
              <a:rPr b="1" lang="en-ZA" sz="1800"/>
              <a:t>Question Focus:</a:t>
            </a:r>
            <a:r>
              <a:rPr lang="en-ZA" sz="1800"/>
              <a:t> Whether audiences identify more with </a:t>
            </a:r>
            <a:r>
              <a:rPr b="1" lang="en-ZA" sz="1800"/>
              <a:t>Iago</a:t>
            </a:r>
            <a:r>
              <a:rPr lang="en-ZA" sz="1800"/>
              <a:t> than </a:t>
            </a:r>
            <a:r>
              <a:rPr b="1" lang="en-ZA" sz="1800"/>
              <a:t>Othello</a:t>
            </a:r>
            <a:endParaRPr b="1" sz="1800"/>
          </a:p>
          <a:p>
            <a:pPr indent="-336550" lvl="0" marL="457200" rtl="0" algn="l">
              <a:lnSpc>
                <a:spcPct val="115000"/>
              </a:lnSpc>
              <a:spcBef>
                <a:spcPts val="0"/>
              </a:spcBef>
              <a:spcAft>
                <a:spcPts val="0"/>
              </a:spcAft>
              <a:buSzPts val="1700"/>
              <a:buChar char="●"/>
            </a:pPr>
            <a:r>
              <a:rPr b="1" lang="en-ZA" sz="1800"/>
              <a:t>Strengths:</a:t>
            </a:r>
            <a:endParaRPr b="1" sz="1800"/>
          </a:p>
          <a:p>
            <a:pPr indent="-336550" lvl="1" marL="914400" rtl="0" algn="l">
              <a:lnSpc>
                <a:spcPct val="115000"/>
              </a:lnSpc>
              <a:spcBef>
                <a:spcPts val="0"/>
              </a:spcBef>
              <a:spcAft>
                <a:spcPts val="0"/>
              </a:spcAft>
              <a:buSzPts val="1700"/>
              <a:buChar char="○"/>
            </a:pPr>
            <a:r>
              <a:rPr lang="en-ZA" sz="1800"/>
              <a:t>Nuanced, </a:t>
            </a:r>
            <a:r>
              <a:rPr b="1" lang="en-ZA" sz="1800"/>
              <a:t>insightful</a:t>
            </a:r>
            <a:r>
              <a:rPr lang="en-ZA" sz="1800"/>
              <a:t> responses</a:t>
            </a:r>
            <a:endParaRPr sz="1800"/>
          </a:p>
          <a:p>
            <a:pPr indent="-336550" lvl="1" marL="914400" rtl="0" algn="l">
              <a:lnSpc>
                <a:spcPct val="115000"/>
              </a:lnSpc>
              <a:spcBef>
                <a:spcPts val="0"/>
              </a:spcBef>
              <a:spcAft>
                <a:spcPts val="0"/>
              </a:spcAft>
              <a:buSzPts val="1700"/>
              <a:buChar char="○"/>
            </a:pPr>
            <a:r>
              <a:rPr lang="en-ZA" sz="1800"/>
              <a:t>Well-structured </a:t>
            </a:r>
            <a:r>
              <a:rPr b="1" lang="en-ZA" sz="1800"/>
              <a:t>contrasting perspectives</a:t>
            </a:r>
            <a:endParaRPr b="1" sz="1800"/>
          </a:p>
          <a:p>
            <a:pPr indent="-336550" lvl="1" marL="914400" rtl="0" algn="l">
              <a:lnSpc>
                <a:spcPct val="115000"/>
              </a:lnSpc>
              <a:spcBef>
                <a:spcPts val="0"/>
              </a:spcBef>
              <a:spcAft>
                <a:spcPts val="0"/>
              </a:spcAft>
              <a:buSzPts val="1700"/>
              <a:buChar char="○"/>
            </a:pPr>
            <a:r>
              <a:rPr lang="en-ZA" sz="1800"/>
              <a:t>Engaged critically, avoiding </a:t>
            </a:r>
            <a:r>
              <a:rPr b="1" lang="en-ZA" sz="1800"/>
              <a:t>formulaic answers</a:t>
            </a:r>
            <a:endParaRPr b="1" sz="1800"/>
          </a:p>
          <a:p>
            <a:pPr indent="-336550" lvl="0" marL="457200" rtl="0" algn="l">
              <a:lnSpc>
                <a:spcPct val="115000"/>
              </a:lnSpc>
              <a:spcBef>
                <a:spcPts val="0"/>
              </a:spcBef>
              <a:spcAft>
                <a:spcPts val="0"/>
              </a:spcAft>
              <a:buSzPts val="1700"/>
              <a:buChar char="●"/>
            </a:pPr>
            <a:r>
              <a:rPr b="1" lang="en-ZA" sz="1800"/>
              <a:t>Areas for Improvement:</a:t>
            </a:r>
            <a:endParaRPr b="1" sz="1800"/>
          </a:p>
          <a:p>
            <a:pPr indent="-336550" lvl="1" marL="914400" rtl="0" algn="l">
              <a:lnSpc>
                <a:spcPct val="115000"/>
              </a:lnSpc>
              <a:spcBef>
                <a:spcPts val="0"/>
              </a:spcBef>
              <a:spcAft>
                <a:spcPts val="0"/>
              </a:spcAft>
              <a:buSzPts val="1700"/>
              <a:buChar char="○"/>
            </a:pPr>
            <a:r>
              <a:rPr lang="en-ZA" sz="1800"/>
              <a:t>Incomplete responses, </a:t>
            </a:r>
            <a:r>
              <a:rPr b="1" lang="en-ZA" sz="1800"/>
              <a:t>neglecting broader implications</a:t>
            </a:r>
            <a:endParaRPr b="1" sz="1800"/>
          </a:p>
          <a:p>
            <a:pPr indent="-336550" lvl="1" marL="914400" rtl="0" algn="l">
              <a:lnSpc>
                <a:spcPct val="115000"/>
              </a:lnSpc>
              <a:spcBef>
                <a:spcPts val="0"/>
              </a:spcBef>
              <a:spcAft>
                <a:spcPts val="0"/>
              </a:spcAft>
              <a:buSzPts val="1700"/>
              <a:buChar char="○"/>
            </a:pPr>
            <a:r>
              <a:rPr lang="en-ZA" sz="1800"/>
              <a:t>Overuse of </a:t>
            </a:r>
            <a:r>
              <a:rPr b="1" lang="en-ZA" sz="1800"/>
              <a:t>informal phrases</a:t>
            </a:r>
            <a:endParaRPr b="1" sz="1800"/>
          </a:p>
          <a:p>
            <a:pPr indent="-336550" lvl="1" marL="914400" rtl="0" algn="l">
              <a:lnSpc>
                <a:spcPct val="115000"/>
              </a:lnSpc>
              <a:spcBef>
                <a:spcPts val="0"/>
              </a:spcBef>
              <a:spcAft>
                <a:spcPts val="0"/>
              </a:spcAft>
              <a:buSzPts val="1700"/>
              <a:buChar char="○"/>
            </a:pPr>
            <a:r>
              <a:rPr lang="en-ZA" sz="1800"/>
              <a:t>Issues with </a:t>
            </a:r>
            <a:r>
              <a:rPr b="1" lang="en-ZA" sz="1800"/>
              <a:t>quotations</a:t>
            </a:r>
            <a:r>
              <a:rPr lang="en-ZA" sz="1800"/>
              <a:t> (too long, too short, or absent)</a:t>
            </a:r>
            <a:endParaRPr sz="1800"/>
          </a:p>
          <a:p>
            <a:pPr indent="-336550" lvl="1" marL="914400" rtl="0" algn="l">
              <a:lnSpc>
                <a:spcPct val="115000"/>
              </a:lnSpc>
              <a:spcBef>
                <a:spcPts val="0"/>
              </a:spcBef>
              <a:spcAft>
                <a:spcPts val="0"/>
              </a:spcAft>
              <a:buSzPts val="1700"/>
              <a:buChar char="○"/>
            </a:pPr>
            <a:r>
              <a:rPr lang="en-ZA" sz="1800"/>
              <a:t>Weak introductions lacking </a:t>
            </a:r>
            <a:r>
              <a:rPr b="1" lang="en-ZA" sz="1800"/>
              <a:t>key topic anchoring</a:t>
            </a:r>
            <a:endParaRPr b="1" sz="1800"/>
          </a:p>
          <a:p>
            <a:pPr indent="0" lvl="0" marL="0" rtl="0" algn="l">
              <a:lnSpc>
                <a:spcPct val="115000"/>
              </a:lnSpc>
              <a:spcBef>
                <a:spcPts val="1200"/>
              </a:spcBef>
              <a:spcAft>
                <a:spcPts val="0"/>
              </a:spcAft>
              <a:buClr>
                <a:schemeClr val="dk1"/>
              </a:buClr>
              <a:buSzPts val="1100"/>
              <a:buFont typeface="Arial"/>
              <a:buNone/>
            </a:pPr>
            <a:r>
              <a:rPr b="1" lang="en-ZA" sz="1800"/>
              <a:t>Guidance for Teachers:</a:t>
            </a:r>
            <a:endParaRPr b="1" sz="1800"/>
          </a:p>
          <a:p>
            <a:pPr indent="-336550" lvl="0" marL="457200" rtl="0" algn="l">
              <a:lnSpc>
                <a:spcPct val="115000"/>
              </a:lnSpc>
              <a:spcBef>
                <a:spcPts val="1200"/>
              </a:spcBef>
              <a:spcAft>
                <a:spcPts val="0"/>
              </a:spcAft>
              <a:buSzPts val="1700"/>
              <a:buChar char="●"/>
            </a:pPr>
            <a:r>
              <a:rPr lang="en-ZA" sz="1800"/>
              <a:t>Teach </a:t>
            </a:r>
            <a:r>
              <a:rPr b="1" lang="en-ZA" sz="1800"/>
              <a:t>quote embedding</a:t>
            </a:r>
            <a:r>
              <a:rPr lang="en-ZA" sz="1800"/>
              <a:t> and present-tense analysis</a:t>
            </a:r>
            <a:endParaRPr sz="1800"/>
          </a:p>
          <a:p>
            <a:pPr indent="-336550" lvl="0" marL="457200" rtl="0" algn="l">
              <a:lnSpc>
                <a:spcPct val="115000"/>
              </a:lnSpc>
              <a:spcBef>
                <a:spcPts val="0"/>
              </a:spcBef>
              <a:spcAft>
                <a:spcPts val="0"/>
              </a:spcAft>
              <a:buSzPts val="1700"/>
              <a:buChar char="●"/>
            </a:pPr>
            <a:r>
              <a:rPr lang="en-ZA" sz="1800"/>
              <a:t>Discourage </a:t>
            </a:r>
            <a:r>
              <a:rPr b="1" lang="en-ZA" sz="1800"/>
              <a:t>rhetorical questions</a:t>
            </a:r>
            <a:r>
              <a:rPr lang="en-ZA" sz="1800"/>
              <a:t>, </a:t>
            </a:r>
            <a:r>
              <a:rPr b="1" lang="en-ZA" sz="1800"/>
              <a:t>colloquial language</a:t>
            </a:r>
            <a:r>
              <a:rPr lang="en-ZA" sz="1800"/>
              <a:t>, and </a:t>
            </a:r>
            <a:r>
              <a:rPr b="1" lang="en-ZA" sz="1800"/>
              <a:t>first-person pronouns</a:t>
            </a:r>
            <a:endParaRPr b="1" sz="1800"/>
          </a:p>
          <a:p>
            <a:pPr indent="-336550" lvl="0" marL="457200" rtl="0" algn="l">
              <a:lnSpc>
                <a:spcPct val="115000"/>
              </a:lnSpc>
              <a:spcBef>
                <a:spcPts val="0"/>
              </a:spcBef>
              <a:spcAft>
                <a:spcPts val="0"/>
              </a:spcAft>
              <a:buSzPts val="1700"/>
              <a:buChar char="●"/>
            </a:pPr>
            <a:r>
              <a:rPr lang="en-ZA" sz="1800"/>
              <a:t>Promote </a:t>
            </a:r>
            <a:r>
              <a:rPr b="1" lang="en-ZA" sz="1800"/>
              <a:t>critical engagement over memorisation</a:t>
            </a:r>
            <a:endParaRPr b="1" sz="1800"/>
          </a:p>
          <a:p>
            <a:pPr indent="0" lvl="0" marL="0" rtl="0" algn="l">
              <a:lnSpc>
                <a:spcPct val="100000"/>
              </a:lnSpc>
              <a:spcBef>
                <a:spcPts val="1200"/>
              </a:spcBef>
              <a:spcAft>
                <a:spcPts val="0"/>
              </a:spcAft>
              <a:buSzPts val="1800"/>
              <a:buNone/>
            </a:pPr>
            <a:r>
              <a:t/>
            </a:r>
            <a:endParaRPr sz="3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2bc7bd1c4a_0_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Novels: </a:t>
            </a:r>
            <a:r>
              <a:rPr i="1" lang="en-ZA"/>
              <a:t>The Handmaid’s Tale &amp; The Theory of Flight</a:t>
            </a:r>
            <a:endParaRPr i="1"/>
          </a:p>
        </p:txBody>
      </p:sp>
      <p:sp>
        <p:nvSpPr>
          <p:cNvPr id="198" name="Google Shape;198;g32bc7bd1c4a_0_22"/>
          <p:cNvSpPr txBox="1"/>
          <p:nvPr>
            <p:ph idx="1" type="body"/>
          </p:nvPr>
        </p:nvSpPr>
        <p:spPr>
          <a:xfrm>
            <a:off x="457200" y="1600200"/>
            <a:ext cx="8229600" cy="4840500"/>
          </a:xfrm>
          <a:prstGeom prst="rect">
            <a:avLst/>
          </a:prstGeom>
          <a:noFill/>
          <a:ln>
            <a:noFill/>
          </a:ln>
        </p:spPr>
        <p:txBody>
          <a:bodyPr anchorCtr="0" anchor="t" bIns="45700" lIns="91425" spcFirstLastPara="1" rIns="91425" wrap="square" tIns="45700">
            <a:noAutofit/>
          </a:bodyPr>
          <a:lstStyle/>
          <a:p>
            <a:pPr indent="-336550" lvl="0" marL="457200" rtl="0" algn="l">
              <a:lnSpc>
                <a:spcPct val="115000"/>
              </a:lnSpc>
              <a:spcBef>
                <a:spcPts val="1200"/>
              </a:spcBef>
              <a:spcAft>
                <a:spcPts val="0"/>
              </a:spcAft>
              <a:buSzPts val="1700"/>
              <a:buChar char="●"/>
            </a:pPr>
            <a:r>
              <a:rPr b="1" lang="en-ZA" sz="1800"/>
              <a:t>Strengths:</a:t>
            </a:r>
            <a:endParaRPr b="1" sz="1800"/>
          </a:p>
          <a:p>
            <a:pPr indent="-336550" lvl="1" marL="914400" rtl="0" algn="l">
              <a:lnSpc>
                <a:spcPct val="115000"/>
              </a:lnSpc>
              <a:spcBef>
                <a:spcPts val="0"/>
              </a:spcBef>
              <a:spcAft>
                <a:spcPts val="0"/>
              </a:spcAft>
              <a:buSzPts val="1700"/>
              <a:buChar char="○"/>
            </a:pPr>
            <a:r>
              <a:rPr lang="en-ZA" sz="1800"/>
              <a:t>Focused analysis on </a:t>
            </a:r>
            <a:r>
              <a:rPr b="1" lang="en-ZA" sz="1800"/>
              <a:t>fewer characters</a:t>
            </a:r>
            <a:r>
              <a:rPr lang="en-ZA" sz="1800"/>
              <a:t> led to </a:t>
            </a:r>
            <a:r>
              <a:rPr b="1" lang="en-ZA" sz="1800"/>
              <a:t>richer essays</a:t>
            </a:r>
            <a:endParaRPr b="1" sz="1800"/>
          </a:p>
          <a:p>
            <a:pPr indent="-336550" lvl="1" marL="914400" rtl="0" algn="l">
              <a:lnSpc>
                <a:spcPct val="115000"/>
              </a:lnSpc>
              <a:spcBef>
                <a:spcPts val="0"/>
              </a:spcBef>
              <a:spcAft>
                <a:spcPts val="0"/>
              </a:spcAft>
              <a:buSzPts val="1700"/>
              <a:buChar char="○"/>
            </a:pPr>
            <a:r>
              <a:rPr lang="en-ZA" sz="1800"/>
              <a:t>Improved </a:t>
            </a:r>
            <a:r>
              <a:rPr b="1" lang="en-ZA" sz="1800"/>
              <a:t>nuanced question interpretation</a:t>
            </a:r>
            <a:endParaRPr b="1" sz="1800"/>
          </a:p>
          <a:p>
            <a:pPr indent="-336550" lvl="0" marL="457200" rtl="0" algn="l">
              <a:lnSpc>
                <a:spcPct val="115000"/>
              </a:lnSpc>
              <a:spcBef>
                <a:spcPts val="0"/>
              </a:spcBef>
              <a:spcAft>
                <a:spcPts val="0"/>
              </a:spcAft>
              <a:buSzPts val="1700"/>
              <a:buChar char="●"/>
            </a:pPr>
            <a:r>
              <a:rPr b="1" lang="en-ZA" sz="1800"/>
              <a:t>Areas for Improvement:</a:t>
            </a:r>
            <a:endParaRPr b="1" sz="1800"/>
          </a:p>
          <a:p>
            <a:pPr indent="-336550" lvl="1" marL="914400" rtl="0" algn="l">
              <a:lnSpc>
                <a:spcPct val="115000"/>
              </a:lnSpc>
              <a:spcBef>
                <a:spcPts val="0"/>
              </a:spcBef>
              <a:spcAft>
                <a:spcPts val="0"/>
              </a:spcAft>
              <a:buSzPts val="1700"/>
              <a:buChar char="○"/>
            </a:pPr>
            <a:r>
              <a:rPr lang="en-ZA" sz="1800"/>
              <a:t>Over-reliance on </a:t>
            </a:r>
            <a:r>
              <a:rPr b="1" lang="en-ZA" sz="1800"/>
              <a:t>memorised essays</a:t>
            </a:r>
            <a:endParaRPr b="1" sz="1800"/>
          </a:p>
          <a:p>
            <a:pPr indent="-336550" lvl="1" marL="914400" rtl="0" algn="l">
              <a:lnSpc>
                <a:spcPct val="115000"/>
              </a:lnSpc>
              <a:spcBef>
                <a:spcPts val="0"/>
              </a:spcBef>
              <a:spcAft>
                <a:spcPts val="0"/>
              </a:spcAft>
              <a:buSzPts val="1700"/>
              <a:buChar char="○"/>
            </a:pPr>
            <a:r>
              <a:rPr b="1" lang="en-ZA" sz="1800"/>
              <a:t>Disjointed responses</a:t>
            </a:r>
            <a:r>
              <a:rPr lang="en-ZA" sz="1800"/>
              <a:t> due to weak logical progression</a:t>
            </a:r>
            <a:endParaRPr sz="1800"/>
          </a:p>
          <a:p>
            <a:pPr indent="-336550" lvl="1" marL="914400" rtl="0" algn="l">
              <a:lnSpc>
                <a:spcPct val="115000"/>
              </a:lnSpc>
              <a:spcBef>
                <a:spcPts val="0"/>
              </a:spcBef>
              <a:spcAft>
                <a:spcPts val="0"/>
              </a:spcAft>
              <a:buSzPts val="1700"/>
              <a:buChar char="○"/>
            </a:pPr>
            <a:r>
              <a:rPr lang="en-ZA" sz="1800"/>
              <a:t>Partial engagement with texts (e.g., using only </a:t>
            </a:r>
            <a:r>
              <a:rPr b="1" lang="en-ZA" sz="1800"/>
              <a:t>series adaptations</a:t>
            </a:r>
            <a:r>
              <a:rPr lang="en-ZA" sz="1800"/>
              <a:t>)</a:t>
            </a:r>
            <a:endParaRPr sz="1800"/>
          </a:p>
          <a:p>
            <a:pPr indent="-336550" lvl="1" marL="914400" rtl="0" algn="l">
              <a:lnSpc>
                <a:spcPct val="115000"/>
              </a:lnSpc>
              <a:spcBef>
                <a:spcPts val="0"/>
              </a:spcBef>
              <a:spcAft>
                <a:spcPts val="0"/>
              </a:spcAft>
              <a:buSzPts val="1700"/>
              <a:buChar char="○"/>
            </a:pPr>
            <a:r>
              <a:rPr lang="en-ZA" sz="1800"/>
              <a:t>Repetitive analysis &amp; </a:t>
            </a:r>
            <a:r>
              <a:rPr b="1" lang="en-ZA" sz="1800"/>
              <a:t>quote-pack dependency</a:t>
            </a:r>
            <a:endParaRPr b="1" sz="1800"/>
          </a:p>
          <a:p>
            <a:pPr indent="-336550" lvl="1" marL="914400" rtl="0" algn="l">
              <a:lnSpc>
                <a:spcPct val="115000"/>
              </a:lnSpc>
              <a:spcBef>
                <a:spcPts val="0"/>
              </a:spcBef>
              <a:spcAft>
                <a:spcPts val="0"/>
              </a:spcAft>
              <a:buSzPts val="1700"/>
              <a:buChar char="○"/>
            </a:pPr>
            <a:r>
              <a:rPr b="1" lang="en-ZA" sz="1800"/>
              <a:t>Character name spelling errors</a:t>
            </a:r>
            <a:endParaRPr b="1" sz="1800"/>
          </a:p>
          <a:p>
            <a:pPr indent="0" lvl="0" marL="0" rtl="0" algn="l">
              <a:lnSpc>
                <a:spcPct val="115000"/>
              </a:lnSpc>
              <a:spcBef>
                <a:spcPts val="1200"/>
              </a:spcBef>
              <a:spcAft>
                <a:spcPts val="0"/>
              </a:spcAft>
              <a:buSzPts val="1800"/>
              <a:buNone/>
            </a:pPr>
            <a:r>
              <a:rPr b="1" lang="en-ZA" sz="1800"/>
              <a:t>Guidance for Teachers:</a:t>
            </a:r>
            <a:endParaRPr b="1" sz="1800"/>
          </a:p>
          <a:p>
            <a:pPr indent="-336550" lvl="0" marL="457200" rtl="0" algn="l">
              <a:lnSpc>
                <a:spcPct val="115000"/>
              </a:lnSpc>
              <a:spcBef>
                <a:spcPts val="1200"/>
              </a:spcBef>
              <a:spcAft>
                <a:spcPts val="0"/>
              </a:spcAft>
              <a:buSzPts val="1700"/>
              <a:buChar char="●"/>
            </a:pPr>
            <a:r>
              <a:rPr lang="en-ZA" sz="1800"/>
              <a:t>Encourage a </a:t>
            </a:r>
            <a:r>
              <a:rPr b="1" lang="en-ZA" sz="1800"/>
              <a:t>holistic study</a:t>
            </a:r>
            <a:r>
              <a:rPr lang="en-ZA" sz="1800"/>
              <a:t> of texts</a:t>
            </a:r>
            <a:endParaRPr sz="1800"/>
          </a:p>
          <a:p>
            <a:pPr indent="-336550" lvl="0" marL="457200" rtl="0" algn="l">
              <a:lnSpc>
                <a:spcPct val="115000"/>
              </a:lnSpc>
              <a:spcBef>
                <a:spcPts val="0"/>
              </a:spcBef>
              <a:spcAft>
                <a:spcPts val="0"/>
              </a:spcAft>
              <a:buSzPts val="1700"/>
              <a:buChar char="●"/>
            </a:pPr>
            <a:r>
              <a:rPr lang="en-ZA" sz="1800"/>
              <a:t>Avoid </a:t>
            </a:r>
            <a:r>
              <a:rPr b="1" lang="en-ZA" sz="1800"/>
              <a:t>pre-written essays</a:t>
            </a:r>
            <a:r>
              <a:rPr lang="en-ZA" sz="1800"/>
              <a:t> and pre-selected quote packs</a:t>
            </a:r>
            <a:endParaRPr sz="1800"/>
          </a:p>
          <a:p>
            <a:pPr indent="-336550" lvl="0" marL="457200" rtl="0" algn="l">
              <a:lnSpc>
                <a:spcPct val="115000"/>
              </a:lnSpc>
              <a:spcBef>
                <a:spcPts val="0"/>
              </a:spcBef>
              <a:spcAft>
                <a:spcPts val="0"/>
              </a:spcAft>
              <a:buSzPts val="1700"/>
              <a:buChar char="●"/>
            </a:pPr>
            <a:r>
              <a:rPr lang="en-ZA" sz="1800"/>
              <a:t>Teach </a:t>
            </a:r>
            <a:r>
              <a:rPr b="1" lang="en-ZA" sz="1800"/>
              <a:t>individual character analysis</a:t>
            </a:r>
            <a:r>
              <a:rPr lang="en-ZA" sz="1800"/>
              <a:t> rather than plot recounting</a:t>
            </a:r>
            <a:endParaRPr sz="2300"/>
          </a:p>
          <a:p>
            <a:pPr indent="0" lvl="0" marL="457200" rtl="0" algn="l">
              <a:lnSpc>
                <a:spcPct val="115000"/>
              </a:lnSpc>
              <a:spcBef>
                <a:spcPts val="1200"/>
              </a:spcBef>
              <a:spcAft>
                <a:spcPts val="0"/>
              </a:spcAft>
              <a:buSzPts val="1800"/>
              <a:buNone/>
            </a:pPr>
            <a:r>
              <a:t/>
            </a:r>
            <a:endParaRPr b="1" sz="1200"/>
          </a:p>
          <a:p>
            <a:pPr indent="0" lvl="0" marL="0" rtl="0" algn="l">
              <a:lnSpc>
                <a:spcPct val="100000"/>
              </a:lnSpc>
              <a:spcBef>
                <a:spcPts val="1200"/>
              </a:spcBef>
              <a:spcAft>
                <a:spcPts val="0"/>
              </a:spcAft>
              <a:buSzPts val="1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2bc7bd1c4a_0_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Transactional Writing</a:t>
            </a:r>
            <a:endParaRPr i="1"/>
          </a:p>
        </p:txBody>
      </p:sp>
      <p:sp>
        <p:nvSpPr>
          <p:cNvPr id="205" name="Google Shape;205;g32bc7bd1c4a_0_30"/>
          <p:cNvSpPr txBox="1"/>
          <p:nvPr>
            <p:ph idx="1" type="body"/>
          </p:nvPr>
        </p:nvSpPr>
        <p:spPr>
          <a:xfrm>
            <a:off x="234175" y="1185650"/>
            <a:ext cx="8229600" cy="5533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ZA" sz="1800"/>
              <a:t>Open Letter (Compulsory)</a:t>
            </a:r>
            <a:endParaRPr b="1" sz="1800"/>
          </a:p>
          <a:p>
            <a:pPr indent="-336550" lvl="0" marL="457200" rtl="0" algn="l">
              <a:lnSpc>
                <a:spcPct val="115000"/>
              </a:lnSpc>
              <a:spcBef>
                <a:spcPts val="1200"/>
              </a:spcBef>
              <a:spcAft>
                <a:spcPts val="0"/>
              </a:spcAft>
              <a:buSzPts val="1700"/>
              <a:buChar char="●"/>
            </a:pPr>
            <a:r>
              <a:rPr b="1" lang="en-ZA" sz="1800"/>
              <a:t>Strengths:</a:t>
            </a:r>
            <a:endParaRPr b="1" sz="1800"/>
          </a:p>
          <a:p>
            <a:pPr indent="-336550" lvl="1" marL="914400" rtl="0" algn="l">
              <a:lnSpc>
                <a:spcPct val="115000"/>
              </a:lnSpc>
              <a:spcBef>
                <a:spcPts val="0"/>
              </a:spcBef>
              <a:spcAft>
                <a:spcPts val="0"/>
              </a:spcAft>
              <a:buSzPts val="1700"/>
              <a:buChar char="○"/>
            </a:pPr>
            <a:r>
              <a:rPr b="1" lang="en-ZA" sz="1800"/>
              <a:t>Strong personal anecdotes</a:t>
            </a:r>
            <a:r>
              <a:rPr lang="en-ZA" sz="1800"/>
              <a:t> and persuasive techniques</a:t>
            </a:r>
            <a:endParaRPr sz="1800"/>
          </a:p>
          <a:p>
            <a:pPr indent="-336550" lvl="1" marL="914400" rtl="0" algn="l">
              <a:lnSpc>
                <a:spcPct val="115000"/>
              </a:lnSpc>
              <a:spcBef>
                <a:spcPts val="0"/>
              </a:spcBef>
              <a:spcAft>
                <a:spcPts val="0"/>
              </a:spcAft>
              <a:buSzPts val="1700"/>
              <a:buChar char="○"/>
            </a:pPr>
            <a:r>
              <a:rPr lang="en-ZA" sz="1800"/>
              <a:t>Effective </a:t>
            </a:r>
            <a:r>
              <a:rPr b="1" lang="en-ZA" sz="1800"/>
              <a:t>introductions</a:t>
            </a:r>
            <a:r>
              <a:rPr lang="en-ZA" sz="1800"/>
              <a:t> and </a:t>
            </a:r>
            <a:r>
              <a:rPr b="1" lang="en-ZA" sz="1800"/>
              <a:t>conclusions</a:t>
            </a:r>
            <a:endParaRPr b="1" sz="1800"/>
          </a:p>
          <a:p>
            <a:pPr indent="-336550" lvl="0" marL="457200" rtl="0" algn="l">
              <a:lnSpc>
                <a:spcPct val="115000"/>
              </a:lnSpc>
              <a:spcBef>
                <a:spcPts val="0"/>
              </a:spcBef>
              <a:spcAft>
                <a:spcPts val="0"/>
              </a:spcAft>
              <a:buSzPts val="1700"/>
              <a:buChar char="●"/>
            </a:pPr>
            <a:r>
              <a:rPr b="1" lang="en-ZA" sz="1800"/>
              <a:t>Areas for Improvement:</a:t>
            </a:r>
            <a:endParaRPr b="1" sz="1800"/>
          </a:p>
          <a:p>
            <a:pPr indent="-336550" lvl="1" marL="914400" rtl="0" algn="l">
              <a:lnSpc>
                <a:spcPct val="115000"/>
              </a:lnSpc>
              <a:spcBef>
                <a:spcPts val="0"/>
              </a:spcBef>
              <a:spcAft>
                <a:spcPts val="0"/>
              </a:spcAft>
              <a:buSzPts val="1700"/>
              <a:buChar char="○"/>
            </a:pPr>
            <a:r>
              <a:rPr b="1" lang="en-ZA" sz="1800"/>
              <a:t>Overly casual</a:t>
            </a:r>
            <a:r>
              <a:rPr lang="en-ZA" sz="1800"/>
              <a:t> language detracted from impact</a:t>
            </a:r>
            <a:endParaRPr sz="1800"/>
          </a:p>
          <a:p>
            <a:pPr indent="-336550" lvl="1" marL="914400" rtl="0" algn="l">
              <a:lnSpc>
                <a:spcPct val="115000"/>
              </a:lnSpc>
              <a:spcBef>
                <a:spcPts val="0"/>
              </a:spcBef>
              <a:spcAft>
                <a:spcPts val="0"/>
              </a:spcAft>
              <a:buSzPts val="1700"/>
              <a:buChar char="○"/>
            </a:pPr>
            <a:r>
              <a:rPr b="1" lang="en-ZA" sz="1800"/>
              <a:t>Exceeding word limit</a:t>
            </a:r>
            <a:r>
              <a:rPr lang="en-ZA" sz="1800"/>
              <a:t> led to unfocused arguments</a:t>
            </a:r>
            <a:endParaRPr sz="1800"/>
          </a:p>
          <a:p>
            <a:pPr indent="-342900" lvl="1" marL="914400" rtl="0" algn="l">
              <a:lnSpc>
                <a:spcPct val="115000"/>
              </a:lnSpc>
              <a:spcBef>
                <a:spcPts val="0"/>
              </a:spcBef>
              <a:spcAft>
                <a:spcPts val="0"/>
              </a:spcAft>
              <a:buSzPts val="1800"/>
              <a:buChar char="○"/>
            </a:pPr>
            <a:r>
              <a:rPr b="1" lang="en-ZA" sz="1800"/>
              <a:t>Sincerity </a:t>
            </a:r>
            <a:r>
              <a:rPr lang="en-ZA" sz="1800"/>
              <a:t>and </a:t>
            </a:r>
            <a:r>
              <a:rPr b="1" lang="en-ZA" sz="1800"/>
              <a:t>maturity </a:t>
            </a:r>
            <a:r>
              <a:rPr lang="en-ZA" sz="1800"/>
              <a:t>need to be evident</a:t>
            </a:r>
            <a:endParaRPr sz="1800"/>
          </a:p>
          <a:p>
            <a:pPr indent="0" lvl="0" marL="0" rtl="0" algn="l">
              <a:lnSpc>
                <a:spcPct val="115000"/>
              </a:lnSpc>
              <a:spcBef>
                <a:spcPts val="1200"/>
              </a:spcBef>
              <a:spcAft>
                <a:spcPts val="0"/>
              </a:spcAft>
              <a:buClr>
                <a:schemeClr val="dk1"/>
              </a:buClr>
              <a:buSzPts val="1100"/>
              <a:buFont typeface="Arial"/>
              <a:buNone/>
            </a:pPr>
            <a:r>
              <a:rPr b="1" lang="en-ZA" sz="1800"/>
              <a:t>Email vs. Blog (Choice Question)</a:t>
            </a:r>
            <a:endParaRPr b="1" sz="1800"/>
          </a:p>
          <a:p>
            <a:pPr indent="-336550" lvl="0" marL="457200" rtl="0" algn="l">
              <a:lnSpc>
                <a:spcPct val="115000"/>
              </a:lnSpc>
              <a:spcBef>
                <a:spcPts val="1200"/>
              </a:spcBef>
              <a:spcAft>
                <a:spcPts val="0"/>
              </a:spcAft>
              <a:buSzPts val="1700"/>
              <a:buChar char="●"/>
            </a:pPr>
            <a:r>
              <a:rPr b="1" lang="en-ZA" sz="1800"/>
              <a:t>Strengths:</a:t>
            </a:r>
            <a:endParaRPr b="1" sz="1800"/>
          </a:p>
          <a:p>
            <a:pPr indent="-336550" lvl="1" marL="914400" rtl="0" algn="l">
              <a:lnSpc>
                <a:spcPct val="115000"/>
              </a:lnSpc>
              <a:spcBef>
                <a:spcPts val="0"/>
              </a:spcBef>
              <a:spcAft>
                <a:spcPts val="0"/>
              </a:spcAft>
              <a:buSzPts val="1700"/>
              <a:buChar char="○"/>
            </a:pPr>
            <a:r>
              <a:rPr b="1" lang="en-ZA" sz="1800"/>
              <a:t>Creativity, personal insights, and current affairs</a:t>
            </a:r>
            <a:r>
              <a:rPr lang="en-ZA" sz="1800"/>
              <a:t> integration</a:t>
            </a:r>
            <a:endParaRPr sz="1800"/>
          </a:p>
          <a:p>
            <a:pPr indent="-336550" lvl="1" marL="914400" rtl="0" algn="l">
              <a:lnSpc>
                <a:spcPct val="115000"/>
              </a:lnSpc>
              <a:spcBef>
                <a:spcPts val="0"/>
              </a:spcBef>
              <a:spcAft>
                <a:spcPts val="0"/>
              </a:spcAft>
              <a:buSzPts val="1700"/>
              <a:buChar char="○"/>
            </a:pPr>
            <a:r>
              <a:rPr lang="en-ZA" sz="1800"/>
              <a:t>Blogs: </a:t>
            </a:r>
            <a:r>
              <a:rPr b="1" lang="en-ZA" sz="1800"/>
              <a:t>Imagery, humour, and mature voice</a:t>
            </a:r>
            <a:r>
              <a:rPr lang="en-ZA" sz="1800"/>
              <a:t> enhanced responses</a:t>
            </a:r>
            <a:endParaRPr sz="1800"/>
          </a:p>
          <a:p>
            <a:pPr indent="-336550" lvl="0" marL="457200" rtl="0" algn="l">
              <a:lnSpc>
                <a:spcPct val="115000"/>
              </a:lnSpc>
              <a:spcBef>
                <a:spcPts val="0"/>
              </a:spcBef>
              <a:spcAft>
                <a:spcPts val="0"/>
              </a:spcAft>
              <a:buSzPts val="1700"/>
              <a:buChar char="●"/>
            </a:pPr>
            <a:r>
              <a:rPr b="1" lang="en-ZA" sz="1800"/>
              <a:t>Areas for Improvement:</a:t>
            </a:r>
            <a:endParaRPr b="1" sz="1800"/>
          </a:p>
          <a:p>
            <a:pPr indent="-336550" lvl="1" marL="914400" rtl="0" algn="l">
              <a:lnSpc>
                <a:spcPct val="115000"/>
              </a:lnSpc>
              <a:spcBef>
                <a:spcPts val="0"/>
              </a:spcBef>
              <a:spcAft>
                <a:spcPts val="0"/>
              </a:spcAft>
              <a:buSzPts val="1700"/>
              <a:buChar char="○"/>
            </a:pPr>
            <a:r>
              <a:rPr b="1" lang="en-ZA" sz="1800"/>
              <a:t>Intertextuality sometimes distracted</a:t>
            </a:r>
            <a:r>
              <a:rPr lang="en-ZA" sz="1800"/>
              <a:t> from task focus</a:t>
            </a:r>
            <a:endParaRPr sz="1800"/>
          </a:p>
          <a:p>
            <a:pPr indent="-336550" lvl="1" marL="914400" rtl="0" algn="l">
              <a:lnSpc>
                <a:spcPct val="115000"/>
              </a:lnSpc>
              <a:spcBef>
                <a:spcPts val="0"/>
              </a:spcBef>
              <a:spcAft>
                <a:spcPts val="0"/>
              </a:spcAft>
              <a:buSzPts val="1700"/>
              <a:buChar char="○"/>
            </a:pPr>
            <a:r>
              <a:rPr lang="en-ZA" sz="1800"/>
              <a:t>Blogs: </a:t>
            </a:r>
            <a:r>
              <a:rPr b="1" lang="en-ZA" sz="1800"/>
              <a:t>Informal tone</a:t>
            </a:r>
            <a:r>
              <a:rPr lang="en-ZA" sz="1800"/>
              <a:t> should maintain </a:t>
            </a:r>
            <a:r>
              <a:rPr b="1" lang="en-ZA" sz="1800"/>
              <a:t>sophistication of ideas/diction</a:t>
            </a:r>
            <a:endParaRPr b="1" sz="1800"/>
          </a:p>
          <a:p>
            <a:pPr indent="0" lvl="0" marL="0" rtl="0" algn="l">
              <a:lnSpc>
                <a:spcPct val="100000"/>
              </a:lnSpc>
              <a:spcBef>
                <a:spcPts val="1200"/>
              </a:spcBef>
              <a:spcAft>
                <a:spcPts val="0"/>
              </a:spcAft>
              <a:buSzPts val="1800"/>
              <a:buNone/>
            </a:pPr>
            <a:r>
              <a:t/>
            </a:r>
            <a:endParaRPr sz="3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2bc7bd1c4a_0_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Recommendations for Teachers</a:t>
            </a:r>
            <a:endParaRPr i="1"/>
          </a:p>
        </p:txBody>
      </p:sp>
      <p:sp>
        <p:nvSpPr>
          <p:cNvPr id="212" name="Google Shape;212;g32bc7bd1c4a_0_3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400050" lvl="1" marL="914400" rtl="0" algn="l">
              <a:lnSpc>
                <a:spcPct val="115000"/>
              </a:lnSpc>
              <a:spcBef>
                <a:spcPts val="1200"/>
              </a:spcBef>
              <a:spcAft>
                <a:spcPts val="0"/>
              </a:spcAft>
              <a:buSzPts val="2700"/>
              <a:buChar char="○"/>
            </a:pPr>
            <a:r>
              <a:rPr lang="en-ZA"/>
              <a:t>Reinforce </a:t>
            </a:r>
            <a:r>
              <a:rPr b="1" lang="en-ZA"/>
              <a:t>critical engagement</a:t>
            </a:r>
            <a:r>
              <a:rPr lang="en-ZA"/>
              <a:t> over memorisation</a:t>
            </a:r>
            <a:endParaRPr/>
          </a:p>
          <a:p>
            <a:pPr indent="-400050" lvl="1" marL="914400" rtl="0" algn="l">
              <a:lnSpc>
                <a:spcPct val="115000"/>
              </a:lnSpc>
              <a:spcBef>
                <a:spcPts val="0"/>
              </a:spcBef>
              <a:spcAft>
                <a:spcPts val="0"/>
              </a:spcAft>
              <a:buSzPts val="2700"/>
              <a:buChar char="○"/>
            </a:pPr>
            <a:r>
              <a:rPr lang="en-ZA"/>
              <a:t>Teach </a:t>
            </a:r>
            <a:r>
              <a:rPr b="1" lang="en-ZA"/>
              <a:t>structured, evidence-based arguments</a:t>
            </a:r>
            <a:endParaRPr b="1"/>
          </a:p>
          <a:p>
            <a:pPr indent="-400050" lvl="1" marL="914400" rtl="0" algn="l">
              <a:lnSpc>
                <a:spcPct val="115000"/>
              </a:lnSpc>
              <a:spcBef>
                <a:spcPts val="0"/>
              </a:spcBef>
              <a:spcAft>
                <a:spcPts val="0"/>
              </a:spcAft>
              <a:buSzPts val="2700"/>
              <a:buChar char="○"/>
            </a:pPr>
            <a:r>
              <a:rPr lang="en-ZA"/>
              <a:t>Guide students on </a:t>
            </a:r>
            <a:r>
              <a:rPr b="1" lang="en-ZA"/>
              <a:t>transactional writing nuance and voice</a:t>
            </a:r>
            <a:endParaRPr b="1"/>
          </a:p>
          <a:p>
            <a:pPr indent="-400050" lvl="1" marL="914400" rtl="0" algn="l">
              <a:lnSpc>
                <a:spcPct val="115000"/>
              </a:lnSpc>
              <a:spcBef>
                <a:spcPts val="0"/>
              </a:spcBef>
              <a:spcAft>
                <a:spcPts val="0"/>
              </a:spcAft>
              <a:buSzPts val="2700"/>
              <a:buChar char="○"/>
            </a:pPr>
            <a:r>
              <a:rPr lang="en-ZA"/>
              <a:t>Encourage </a:t>
            </a:r>
            <a:r>
              <a:rPr b="1" lang="en-ZA"/>
              <a:t>attempts at every question</a:t>
            </a:r>
            <a:endParaRPr b="1"/>
          </a:p>
          <a:p>
            <a:pPr indent="0" lvl="0" marL="914400" rtl="0" algn="l">
              <a:lnSpc>
                <a:spcPct val="115000"/>
              </a:lnSpc>
              <a:spcBef>
                <a:spcPts val="1200"/>
              </a:spcBef>
              <a:spcAft>
                <a:spcPts val="1200"/>
              </a:spcAft>
              <a:buSzPts val="1800"/>
              <a:buNone/>
            </a:pPr>
            <a:r>
              <a:t/>
            </a:r>
            <a:endParaRPr b="1" sz="1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2bc7bd1c4a_0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In Conclusion :)</a:t>
            </a:r>
            <a:endParaRPr i="1"/>
          </a:p>
        </p:txBody>
      </p:sp>
      <p:sp>
        <p:nvSpPr>
          <p:cNvPr id="219" name="Google Shape;219;g32bc7bd1c4a_0_4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298450" lvl="1" marL="914400" rtl="0" algn="l">
              <a:lnSpc>
                <a:spcPct val="115000"/>
              </a:lnSpc>
              <a:spcBef>
                <a:spcPts val="1200"/>
              </a:spcBef>
              <a:spcAft>
                <a:spcPts val="0"/>
              </a:spcAft>
              <a:buSzPts val="1100"/>
              <a:buChar char="○"/>
            </a:pPr>
            <a:r>
              <a:t/>
            </a:r>
            <a:endParaRPr b="1" sz="1200"/>
          </a:p>
          <a:p>
            <a:pPr indent="-361950" lvl="0" marL="457200" rtl="0" algn="l">
              <a:lnSpc>
                <a:spcPct val="115000"/>
              </a:lnSpc>
              <a:spcBef>
                <a:spcPts val="0"/>
              </a:spcBef>
              <a:spcAft>
                <a:spcPts val="0"/>
              </a:spcAft>
              <a:buSzPts val="2100"/>
              <a:buChar char="●"/>
            </a:pPr>
            <a:r>
              <a:rPr b="1" lang="en-ZA" sz="2200"/>
              <a:t>2024 Paper challenged candidates</a:t>
            </a:r>
            <a:r>
              <a:rPr lang="en-ZA" sz="2200"/>
              <a:t> to think critically and creatively</a:t>
            </a:r>
            <a:endParaRPr sz="2200"/>
          </a:p>
          <a:p>
            <a:pPr indent="-361950" lvl="0" marL="457200" rtl="0" algn="l">
              <a:lnSpc>
                <a:spcPct val="115000"/>
              </a:lnSpc>
              <a:spcBef>
                <a:spcPts val="0"/>
              </a:spcBef>
              <a:spcAft>
                <a:spcPts val="0"/>
              </a:spcAft>
              <a:buSzPts val="2100"/>
              <a:buChar char="●"/>
            </a:pPr>
            <a:r>
              <a:rPr b="1" lang="en-ZA" sz="2200"/>
              <a:t>Responses ranged from 100% to 0%</a:t>
            </a:r>
            <a:r>
              <a:rPr lang="en-ZA" sz="2200"/>
              <a:t>, highlighting disparities</a:t>
            </a:r>
            <a:endParaRPr sz="2200"/>
          </a:p>
          <a:p>
            <a:pPr indent="-361950" lvl="0" marL="457200" rtl="0" algn="l">
              <a:lnSpc>
                <a:spcPct val="115000"/>
              </a:lnSpc>
              <a:spcBef>
                <a:spcPts val="0"/>
              </a:spcBef>
              <a:spcAft>
                <a:spcPts val="0"/>
              </a:spcAft>
              <a:buSzPts val="2100"/>
              <a:buChar char="●"/>
            </a:pPr>
            <a:r>
              <a:rPr lang="en-ZA" sz="2200"/>
              <a:t>Some areas require improvement, but </a:t>
            </a:r>
            <a:r>
              <a:rPr b="1" lang="en-ZA" sz="2200"/>
              <a:t>overall quality reflects dedication</a:t>
            </a:r>
            <a:endParaRPr b="1" sz="2200"/>
          </a:p>
          <a:p>
            <a:pPr indent="-361950" lvl="0" marL="457200" rtl="0" algn="l">
              <a:lnSpc>
                <a:spcPct val="115000"/>
              </a:lnSpc>
              <a:spcBef>
                <a:spcPts val="0"/>
              </a:spcBef>
              <a:spcAft>
                <a:spcPts val="0"/>
              </a:spcAft>
              <a:buSzPts val="2100"/>
              <a:buChar char="●"/>
            </a:pPr>
            <a:r>
              <a:rPr lang="en-ZA" sz="2200"/>
              <a:t>Continued </a:t>
            </a:r>
            <a:r>
              <a:rPr b="1" lang="en-ZA" sz="2200"/>
              <a:t>collaboration &amp; refined teaching practices</a:t>
            </a:r>
            <a:r>
              <a:rPr lang="en-ZA" sz="2200"/>
              <a:t> will lead to future success</a:t>
            </a:r>
            <a:endParaRPr sz="2200"/>
          </a:p>
          <a:p>
            <a:pPr indent="-361950" lvl="0" marL="457200" rtl="0" algn="l">
              <a:lnSpc>
                <a:spcPct val="115000"/>
              </a:lnSpc>
              <a:spcBef>
                <a:spcPts val="0"/>
              </a:spcBef>
              <a:spcAft>
                <a:spcPts val="0"/>
              </a:spcAft>
              <a:buSzPts val="2100"/>
              <a:buChar char="●"/>
            </a:pPr>
            <a:r>
              <a:rPr b="1" lang="en-ZA" sz="2200"/>
              <a:t>Focus on character development and major themes</a:t>
            </a:r>
            <a:r>
              <a:rPr lang="en-ZA" sz="2200"/>
              <a:t> will remain central to Paper 2</a:t>
            </a:r>
            <a:endParaRPr sz="2200"/>
          </a:p>
          <a:p>
            <a:pPr indent="0" lvl="0" marL="914400" rtl="0" algn="l">
              <a:lnSpc>
                <a:spcPct val="115000"/>
              </a:lnSpc>
              <a:spcBef>
                <a:spcPts val="1200"/>
              </a:spcBef>
              <a:spcAft>
                <a:spcPts val="1200"/>
              </a:spcAft>
              <a:buSzPts val="1800"/>
              <a:buNone/>
            </a:pPr>
            <a:r>
              <a:t/>
            </a:r>
            <a:endParaRPr b="1" sz="1200"/>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2011-01-10T08:36:20Z</dcterms:created>
  <dc:creator>Anne Oberholzer</dc:creator>
</cp:coreProperties>
</file>